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780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и объект работы. Сайт проверен 25.09.2026.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46" cy="6858000"/>
          </a:xfrm>
          <a:prstGeom prst="rect">
            <a:avLst/>
          </a:prstGeom>
          <a:solidFill>
            <a:srgbClr val="E8893A"/>
          </a:solidFill>
          <a:ln/>
        </p:spPr>
      </p:sp>
      <p:sp>
        <p:nvSpPr>
          <p:cNvPr id="3" name="Text 1"/>
          <p:cNvSpPr/>
          <p:nvPr/>
        </p:nvSpPr>
        <p:spPr>
          <a:xfrm>
            <a:off x="2008554" y="941026"/>
            <a:ext cx="8648210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782" y="2150160"/>
            <a:ext cx="10883429" cy="1785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2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Требования российского законодательства к </a:t>
            </a:r>
            <a:r>
              <a:rPr lang="en-US" sz="4200" b="1" dirty="0" err="1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веб</a:t>
            </a:r>
            <a:r>
              <a:rPr lang="en-US" sz="42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</a:t>
            </a:r>
            <a:r>
              <a:rPr lang="ru-RU" sz="42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ресурсам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12782" y="4138955"/>
            <a:ext cx="8784509" cy="1542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ru-RU" sz="2800" dirty="0">
                <a:solidFill>
                  <a:srgbClr val="C9C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Эков И.А.  Рамазанов Т.Р. Иванов В.В.</a:t>
            </a:r>
          </a:p>
          <a:p>
            <a:pPr marL="0" indent="0" algn="l">
              <a:lnSpc>
                <a:spcPts val="1820"/>
              </a:lnSpc>
              <a:buNone/>
            </a:pPr>
            <a:endParaRPr lang="ru-RU" sz="2800" dirty="0">
              <a:solidFill>
                <a:srgbClr val="C9CFD6"/>
              </a:solidFill>
              <a:latin typeface="IBM Plex Sans" pitchFamily="34" charset="0"/>
              <a:ea typeface="IBM Plex Sans" pitchFamily="34" charset="-122"/>
              <a:cs typeface="IBM Plex Sans" pitchFamily="34" charset="-120"/>
            </a:endParaRPr>
          </a:p>
          <a:p>
            <a:pPr marL="0" indent="0" algn="l">
              <a:lnSpc>
                <a:spcPts val="1820"/>
              </a:lnSpc>
              <a:buNone/>
            </a:pPr>
            <a:endParaRPr lang="ru-RU" sz="2800" dirty="0">
              <a:solidFill>
                <a:srgbClr val="C9CFD6"/>
              </a:solidFill>
              <a:latin typeface="IBM Plex Sans" pitchFamily="34" charset="0"/>
              <a:ea typeface="IBM Plex Sans" pitchFamily="34" charset="-122"/>
              <a:cs typeface="IBM Plex Sans" pitchFamily="34" charset="-120"/>
            </a:endParaRPr>
          </a:p>
          <a:p>
            <a:pPr marL="0" indent="0" algn="l">
              <a:lnSpc>
                <a:spcPts val="1820"/>
              </a:lnSpc>
              <a:buNone/>
            </a:pPr>
            <a:br>
              <a:rPr lang="ru-RU" sz="2800" dirty="0">
                <a:solidFill>
                  <a:srgbClr val="C9C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</a:b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12782" y="5814128"/>
            <a:ext cx="10883429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I. ОПИСАНИЕ ВЕБ-РЕСУРСА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5790" y="1137226"/>
            <a:ext cx="10883429" cy="44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Объект: сайт АО «Силовые машины»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782" y="1826166"/>
            <a:ext cx="6135063" cy="853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Корпоративный сайт АО «Силовые машины – ЗТЛ, ЛМЗ, Электросила, Энергомашэкспорт», Санкт-Петербург, ул. Ватутина, д. 3.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782" y="2832515"/>
            <a:ext cx="6135063" cy="577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Аудитория — заказчики, поставщики, соискатели и СМИ. Интернет-магазина и онлайн-оплаты нет.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782" y="3562674"/>
            <a:ext cx="6135063" cy="577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Экосистема поддоменов: vash., client., career., museum.power-m.ru — у каждого свои формы и данные.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037268" y="1829341"/>
            <a:ext cx="4248150" cy="947503"/>
          </a:xfrm>
          <a:prstGeom prst="roundRect">
            <a:avLst>
              <a:gd name="adj" fmla="val 7707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23041" y="2155528"/>
            <a:ext cx="3951800" cy="360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B2B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33618" y="2383054"/>
            <a:ext cx="3951800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27893" y="2910194"/>
            <a:ext cx="4248150" cy="1160913"/>
          </a:xfrm>
          <a:prstGeom prst="roundRect">
            <a:avLst>
              <a:gd name="adj" fmla="val 6290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33618" y="3090573"/>
            <a:ext cx="3951800" cy="360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ОПК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33618" y="3463906"/>
            <a:ext cx="3951800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компания в реестре организаций оборонно-промышленного комплекса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27893" y="4204457"/>
            <a:ext cx="4248150" cy="947503"/>
          </a:xfrm>
          <a:prstGeom prst="roundRect">
            <a:avLst>
              <a:gd name="adj" fmla="val 7707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3618" y="4384837"/>
            <a:ext cx="3951800" cy="360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1С-Битрикс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33618" y="4758170"/>
            <a:ext cx="3951800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 err="1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встроенная</a:t>
            </a: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капча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pic>
        <p:nvPicPr>
          <p:cNvPr id="1026" name="Picture 2" descr="Силовые машины — Википедия">
            <a:extLst>
              <a:ext uri="{FF2B5EF4-FFF2-40B4-BE49-F238E27FC236}">
                <a16:creationId xmlns:a16="http://schemas.microsoft.com/office/drawing/2014/main" id="{EB082692-DB1B-99C4-C985-8956D44B1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398" y="122862"/>
            <a:ext cx="1499222" cy="158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I.А ФУНКЦИОНАЛ И ТИПЫ ДАННЫХ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2" y="1102320"/>
            <a:ext cx="10883429" cy="44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Какие данные собирает сайт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327" y="1786929"/>
          <a:ext cx="10554890" cy="2984139"/>
        </p:xfrm>
        <a:graphic>
          <a:graphicData uri="http://schemas.openxmlformats.org/drawingml/2006/table">
            <a:tbl>
              <a:tblPr/>
              <a:tblGrid>
                <a:gridCol w="379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5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Где собираются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Какие данные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Форма «Обратная связь»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ФИО, e-mail, телефон, текст обращения, IP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Cookie-баннер, Яндекс.Метрика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cookie-идентификаторы, IP, User-Agent, действия на сайте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Портал «Ваш СилМаш», кабинет клиента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логин, пароль, ФИО и должность представителя, контакты, документы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client.power-m.ru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загружаемые файлы: документы, архивы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career.power-m.ru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резюме: ФИО, дата рождения, контакты, образование, опыт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Учебный центр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данные слушателей и заказчиков платных образовательных услуг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Заказ архивных справок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бывшие работники: ФИО, годы работы, паспортные данные, адрес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Поставщикам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регистрация на внешних ЭТП «ТЭК-Торг» и «Фабрикант» (отдельные операторы)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I.Б ФУНКЦИОНАЛЬНЫЕ БЛОКИ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2" y="1102319"/>
            <a:ext cx="10883429" cy="44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Блоки, требующие отдельного рассмотрения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57" y="1778558"/>
            <a:ext cx="2520932" cy="1064311"/>
          </a:xfrm>
          <a:prstGeom prst="roundRect">
            <a:avLst>
              <a:gd name="adj" fmla="val 6861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337" y="1958938"/>
            <a:ext cx="2224978" cy="25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Регистрация и ЛК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6337" y="2251002"/>
            <a:ext cx="2224978" cy="436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Портал «Ваш СилМаш», кабинет клиента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5585" y="1778558"/>
            <a:ext cx="2521022" cy="1064311"/>
          </a:xfrm>
          <a:prstGeom prst="roundRect">
            <a:avLst>
              <a:gd name="adj" fmla="val 6861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5964" y="1958938"/>
            <a:ext cx="2225071" cy="25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Обратная связь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75964" y="2251002"/>
            <a:ext cx="2225071" cy="436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 каждой странице, капча Битрикса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5303" y="1778558"/>
            <a:ext cx="2521022" cy="1064311"/>
          </a:xfrm>
          <a:prstGeom prst="roundRect">
            <a:avLst>
              <a:gd name="adj" fmla="val 6861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682" y="1958938"/>
            <a:ext cx="2225071" cy="25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Подписка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5682" y="2251002"/>
            <a:ext cx="2225071" cy="436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Закрытые каналы в Telegram и MAX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55021" y="1778558"/>
            <a:ext cx="2521022" cy="1064311"/>
          </a:xfrm>
          <a:prstGeom prst="roundRect">
            <a:avLst>
              <a:gd name="adj" fmla="val 6861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35400" y="1958938"/>
            <a:ext cx="2225071" cy="25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Соцсети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35400" y="2251002"/>
            <a:ext cx="2225071" cy="436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Ссылки на VK, MAX, Telegram, Rutube, без виджетов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957" y="3001564"/>
            <a:ext cx="2520932" cy="1292874"/>
          </a:xfrm>
          <a:prstGeom prst="roundRect">
            <a:avLst>
              <a:gd name="adj" fmla="val 5648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337" y="3181944"/>
            <a:ext cx="2224978" cy="25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Скрипты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96337" y="3474008"/>
            <a:ext cx="2224978" cy="436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Яндекс.Метрика, встроенные видео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95585" y="3001564"/>
            <a:ext cx="2521022" cy="1292874"/>
          </a:xfrm>
          <a:prstGeom prst="roundRect">
            <a:avLst>
              <a:gd name="adj" fmla="val 5648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75964" y="3181944"/>
            <a:ext cx="2225071" cy="25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Загрузка файлов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75964" y="3474008"/>
            <a:ext cx="2225071" cy="436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client.power-m.ru — пользовательский контент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5303" y="3001564"/>
            <a:ext cx="2521022" cy="1292874"/>
          </a:xfrm>
          <a:prstGeom prst="roundRect">
            <a:avLst>
              <a:gd name="adj" fmla="val 5648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682" y="3181944"/>
            <a:ext cx="2225071" cy="482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Чат, комментарии, оплата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55682" y="3702572"/>
            <a:ext cx="2225071" cy="436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 err="1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Отсутствуют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55021" y="3001564"/>
            <a:ext cx="2521022" cy="1292874"/>
          </a:xfrm>
          <a:prstGeom prst="roundRect">
            <a:avLst>
              <a:gd name="adj" fmla="val 5648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35400" y="3181944"/>
            <a:ext cx="2225071" cy="25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Детский раздел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35400" y="3474008"/>
            <a:ext cx="2225071" cy="436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«Детям об энергетике» — 436-ФЗ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883A1B1A-7E03-DBDF-D97D-86837888B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45" y="4444640"/>
            <a:ext cx="5592137" cy="1870143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17F447C2-2C30-B019-87AE-CFE9ED50F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919" y="4444639"/>
            <a:ext cx="1288239" cy="2228045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B99499FC-1157-4353-5265-CE85E5649A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3225" y="4444639"/>
            <a:ext cx="1726199" cy="23528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II. ПРИМЕНИМЫЕ НПА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2" y="1102320"/>
            <a:ext cx="10883429" cy="44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Общие обязанности </a:t>
            </a:r>
            <a:r>
              <a:rPr lang="en-US" sz="3000" b="1" dirty="0" err="1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оператора</a:t>
            </a:r>
            <a:r>
              <a:rPr lang="en-US" sz="30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ru-RU" sz="3000" b="1" dirty="0" err="1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перс.данных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57" y="1778558"/>
            <a:ext cx="3414171" cy="1192213"/>
          </a:xfrm>
          <a:prstGeom prst="roundRect">
            <a:avLst>
              <a:gd name="adj" fmla="val 6125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683" y="1984285"/>
            <a:ext cx="3092802" cy="28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ст. 18.1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1683" y="2319462"/>
            <a:ext cx="3092802" cy="470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Опубликовать Политику обработки ПДн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824" y="1778558"/>
            <a:ext cx="3414261" cy="1192213"/>
          </a:xfrm>
          <a:prstGeom prst="roundRect">
            <a:avLst>
              <a:gd name="adj" fmla="val 6125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4549" y="1984285"/>
            <a:ext cx="3092895" cy="28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ст. 22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94549" y="2319462"/>
            <a:ext cx="3092895" cy="470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Уведомить РКН об обработке ПДн и об изменениях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1781" y="1778558"/>
            <a:ext cx="3414261" cy="1192213"/>
          </a:xfrm>
          <a:prstGeom prst="roundRect">
            <a:avLst>
              <a:gd name="adj" fmla="val 6125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7507" y="1984285"/>
            <a:ext cx="3092895" cy="28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ст. 19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67507" y="2319462"/>
            <a:ext cx="3092895" cy="470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Меры защиты: ПП РФ № 1119, Приказ ФСТЭК № 21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57" y="3129468"/>
            <a:ext cx="3414171" cy="1192213"/>
          </a:xfrm>
          <a:prstGeom prst="roundRect">
            <a:avLst>
              <a:gd name="adj" fmla="val 6125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1683" y="3335192"/>
            <a:ext cx="3092802" cy="28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ст. 21 ч. 3.1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21683" y="3670371"/>
            <a:ext cx="3092802" cy="470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Утечка: уведомить РКН за 24 часа, итоги расследования за 72 часа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8824" y="3129468"/>
            <a:ext cx="3414261" cy="1192213"/>
          </a:xfrm>
          <a:prstGeom prst="roundRect">
            <a:avLst>
              <a:gd name="adj" fmla="val 6125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4549" y="3335192"/>
            <a:ext cx="3092895" cy="28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ст. 14, 20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94549" y="3670371"/>
            <a:ext cx="3092895" cy="470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Ответ субъекту — 10 рабочих дней, продление на 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61781" y="3129468"/>
            <a:ext cx="3414261" cy="1192213"/>
          </a:xfrm>
          <a:prstGeom prst="roundRect">
            <a:avLst>
              <a:gd name="adj" fmla="val 6125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67507" y="3335192"/>
            <a:ext cx="3092895" cy="28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D6A9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149-ФЗ, ст. 10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67507" y="3670371"/>
            <a:ext cx="3092895" cy="470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Сведения о владельце сайта — на сайте есть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II. ПРИМЕНИМЫЕ НПА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2" y="1102320"/>
            <a:ext cx="10883429" cy="44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Нормы для каждого блока сайта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327" y="1761491"/>
          <a:ext cx="10554890" cy="2652568"/>
        </p:xfrm>
        <a:graphic>
          <a:graphicData uri="http://schemas.openxmlformats.org/drawingml/2006/table">
            <a:tbl>
              <a:tblPr/>
              <a:tblGrid>
                <a:gridCol w="2110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6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7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Блок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Основание (ст. 6 152-ФЗ)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Ключевые требования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Обратная связь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согласие, п. 1 ч. 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 01.09.2025 — отдельный документ (156-ФЗ), пустой чекбокс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Клиентский портал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договор, п. 5 ч. 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соглашение, согласие на иные цели, защита учётных данных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Карьера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согласие соискателя, гл. 14 ТК РФ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резюме после отказа — удалить за 30 дней или согласие на резерв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Учебный центр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договор, 273-ФЗ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раздел «Сведения об ОО»: ст. 29 273-ФЗ, ПП № 1802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Архивные справки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закон (125-ФЗ)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паспортные данные — только по защищённому каналу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Метрика, cookie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согласие; Яндекс — по поручению, ч. 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запуск счётчика только после согласия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Видео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иностранный плеер = трансграничная передача IP (ст. 12)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0A0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II. ХРАНЕНИЕ ПЕРСОНАЛЬНЫХ ДАННЫХ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2" y="1102320"/>
            <a:ext cx="10883429" cy="44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Базы данных — только на территории РФ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782" y="1826165"/>
            <a:ext cx="5232400" cy="878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Ч. 5 ст. 18 152-ФЗ: с 1 июля 2025 г. при сборе ПДн граждан РФ запрещено использовать иностранные базы данных для записи и хранения.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782" y="2831973"/>
            <a:ext cx="5232400" cy="71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C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Ответственность — ст. 13.11 КоАП в редакции с 30.05.2025, включая оборотные штрафы 1–3% выручки за повторную утечку.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99128" y="1826165"/>
            <a:ext cx="5232493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0A0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Проверить:</a:t>
            </a:r>
            <a:r>
              <a:rPr lang="en-US" sz="13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сервер сайта и СУБД форм в РФ (IP, whois)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99128" y="2184254"/>
            <a:ext cx="5232493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8FC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Соответствует:</a:t>
            </a:r>
            <a:r>
              <a:rPr lang="en-US" sz="13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Метрика и капча Битрикса — российские сервисы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99128" y="2773434"/>
            <a:ext cx="5232493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8FC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Соответствует:</a:t>
            </a:r>
            <a:r>
              <a:rPr lang="en-US" sz="13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Google Analytics и reCAPTCHA не используются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99128" y="3131524"/>
            <a:ext cx="5232493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0A0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Сделать:</a:t>
            </a:r>
            <a:r>
              <a:rPr lang="en-US" sz="13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определить УЗ ИСПДн (обычно УЗ-3/УЗ-4, ПП № 1119) и взаимодействие с ГосСОПКА (ч. 12 ст. 19)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4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III. COOKIE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2" y="1102320"/>
            <a:ext cx="10883429" cy="44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Cookie: что требует закон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782" y="1775386"/>
            <a:ext cx="10883429" cy="52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Отдельного закона о cookie нет. РКН считает идентификаторы, IP-адреса и поведенческие данные персональными данными, поэтому действуют ст. 3, 5, 6, 9 и 18.1 152-ФЗ.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57" y="2530277"/>
            <a:ext cx="3414171" cy="1721950"/>
          </a:xfrm>
          <a:prstGeom prst="roundRect">
            <a:avLst>
              <a:gd name="adj" fmla="val 4241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1683" y="2736004"/>
            <a:ext cx="3092802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Строго необходимые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1683" y="3068656"/>
            <a:ext cx="3092802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Сессия, капча, выбор в баннере, версия для слабовидящих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1683" y="3584324"/>
            <a:ext cx="3092802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D6A9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Без согласия, достаточно информирования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8824" y="2530277"/>
            <a:ext cx="3414261" cy="1721950"/>
          </a:xfrm>
          <a:prstGeom prst="roundRect">
            <a:avLst>
              <a:gd name="adj" fmla="val 4241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4549" y="2736004"/>
            <a:ext cx="3092895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Аналитические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4549" y="3068656"/>
            <a:ext cx="3092895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Яндекс.Метрика, Вебвизор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94549" y="3370914"/>
            <a:ext cx="3092895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Явное согласие; до него скрипт не запускается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61781" y="2530277"/>
            <a:ext cx="3414261" cy="1721950"/>
          </a:xfrm>
          <a:prstGeom prst="roundRect">
            <a:avLst>
              <a:gd name="adj" fmla="val 4241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7507" y="2736004"/>
            <a:ext cx="3092895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Маркетинговые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67507" y="3068656"/>
            <a:ext cx="3092895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Ретаргетинг, рекламные пиксели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67507" y="3370914"/>
            <a:ext cx="3092895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F6A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 сайте не выявлены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782" y="6238246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III. COOKIE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2" y="1102320"/>
            <a:ext cx="10883429" cy="44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Текущий cookie-баннер: что не так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782" y="1775383"/>
            <a:ext cx="5384782" cy="2300522"/>
          </a:xfrm>
          <a:prstGeom prst="roundRect">
            <a:avLst>
              <a:gd name="adj" fmla="val 3312"/>
            </a:avLst>
          </a:prstGeom>
          <a:solidFill>
            <a:srgbClr val="16222E"/>
          </a:solidFill>
          <a:ln/>
        </p:spPr>
      </p:sp>
      <p:sp>
        <p:nvSpPr>
          <p:cNvPr id="5" name="Text 3"/>
          <p:cNvSpPr/>
          <p:nvPr/>
        </p:nvSpPr>
        <p:spPr>
          <a:xfrm>
            <a:off x="1066782" y="2029383"/>
            <a:ext cx="5023085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0A0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СЕЙЧАС НА POWER-M.RU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782" y="2344359"/>
            <a:ext cx="5023085" cy="1313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02346" y="1775383"/>
            <a:ext cx="5023178" cy="52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</a:t>
            </a:r>
            <a:r>
              <a:rPr lang="en-US" sz="14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Согласие выводится из самого факта пользования сайтом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02346" y="2412727"/>
            <a:ext cx="5023178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</a:t>
            </a:r>
            <a:r>
              <a:rPr lang="en-US" sz="14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Отказ означает «покиньте сайт» — выбора нет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02346" y="2801212"/>
            <a:ext cx="5023178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</a:t>
            </a:r>
            <a:r>
              <a:rPr lang="en-US" sz="14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Нет разделения cookie по категориям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02346" y="3189703"/>
            <a:ext cx="5023178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</a:t>
            </a:r>
            <a:r>
              <a:rPr lang="en-US" sz="14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В тексте кнопка «Принимаю», на сайте — «Принять»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02346" y="3578188"/>
            <a:ext cx="5023178" cy="52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</a:t>
            </a:r>
            <a:r>
              <a:rPr lang="en-US" sz="14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Счётчик Метрики есть в коде страницы — проверить, не грузится ли он до согласия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9B055F-A842-3400-9879-6ACDCEB93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75" y="2496792"/>
            <a:ext cx="4778996" cy="13271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III. ПРИМЕР СОГЛАСИЯ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2" y="1102320"/>
            <a:ext cx="10883429" cy="44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Пример корректного cookie-баннера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782" y="1749946"/>
            <a:ext cx="6611486" cy="2655454"/>
          </a:xfrm>
          <a:prstGeom prst="roundRect">
            <a:avLst>
              <a:gd name="adj" fmla="val 3826"/>
            </a:avLst>
          </a:prstGeom>
          <a:solidFill>
            <a:srgbClr val="D5DADE"/>
          </a:solidFill>
          <a:ln/>
        </p:spPr>
      </p:sp>
      <p:sp>
        <p:nvSpPr>
          <p:cNvPr id="5" name="Shape 3"/>
          <p:cNvSpPr/>
          <p:nvPr/>
        </p:nvSpPr>
        <p:spPr>
          <a:xfrm>
            <a:off x="1019085" y="1956246"/>
            <a:ext cx="6198881" cy="2242849"/>
          </a:xfrm>
          <a:prstGeom prst="roundRect">
            <a:avLst>
              <a:gd name="adj" fmla="val 3822"/>
            </a:avLst>
          </a:prstGeom>
          <a:solidFill>
            <a:srgbClr val="FBFAF6"/>
          </a:solidFill>
          <a:ln w="6350">
            <a:solidFill>
              <a:srgbClr val="C9C3B5"/>
            </a:solidFill>
            <a:prstDash val="solid"/>
          </a:ln>
          <a:effectLst>
            <a:outerShdw blurRad="254000" dist="76200" dir="5400000" algn="bl" rotWithShape="0">
              <a:srgbClr val="16222E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24810" y="2161977"/>
            <a:ext cx="5961052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Мы используем файлы cookie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24810" y="2520063"/>
            <a:ext cx="5961052" cy="6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АО «Силовые машины» использует обязательные cookie для работы сайта. С вашего согласия — аналитические (Яндекс.Метрика). </a:t>
            </a:r>
            <a:r>
              <a:rPr lang="en-US" sz="1200" u="sng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Политика использования cookie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24810" y="3286032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16222E"/>
          </a:solidFill>
          <a:ln/>
        </p:spPr>
      </p:sp>
      <p:pic>
        <p:nvPicPr>
          <p:cNvPr id="9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50246" y="3311469"/>
            <a:ext cx="139628" cy="1396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1438" y="3274578"/>
            <a:ext cx="1699094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Обязательные (всегда)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00082" y="3292382"/>
            <a:ext cx="177800" cy="177800"/>
          </a:xfrm>
          <a:prstGeom prst="roundRect">
            <a:avLst>
              <a:gd name="adj" fmla="val 17857"/>
            </a:avLst>
          </a:prstGeom>
          <a:noFill/>
          <a:ln w="12700">
            <a:solidFill>
              <a:srgbClr val="1622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60360" y="3274578"/>
            <a:ext cx="1157720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Аналитические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224810" y="3602267"/>
            <a:ext cx="1268737" cy="391102"/>
          </a:xfrm>
          <a:prstGeom prst="roundRect">
            <a:avLst>
              <a:gd name="adj" fmla="val 16236"/>
            </a:avLst>
          </a:prstGeom>
          <a:solidFill>
            <a:srgbClr val="16222E"/>
          </a:solidFill>
          <a:ln/>
        </p:spPr>
      </p:sp>
      <p:sp>
        <p:nvSpPr>
          <p:cNvPr id="14" name="Text 11"/>
          <p:cNvSpPr/>
          <p:nvPr/>
        </p:nvSpPr>
        <p:spPr>
          <a:xfrm>
            <a:off x="1402610" y="3691167"/>
            <a:ext cx="963937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Принять все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601461" y="3608617"/>
            <a:ext cx="1935595" cy="378402"/>
          </a:xfrm>
          <a:prstGeom prst="roundRect">
            <a:avLst>
              <a:gd name="adj" fmla="val 15103"/>
            </a:avLst>
          </a:prstGeom>
          <a:noFill/>
          <a:ln w="12700">
            <a:solidFill>
              <a:srgbClr val="1622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71757" y="3690012"/>
            <a:ext cx="1645805" cy="241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Только обязательные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51321" y="3608617"/>
            <a:ext cx="1115237" cy="378402"/>
          </a:xfrm>
          <a:prstGeom prst="roundRect">
            <a:avLst>
              <a:gd name="adj" fmla="val 15103"/>
            </a:avLst>
          </a:prstGeom>
          <a:noFill/>
          <a:ln w="12700">
            <a:solidFill>
              <a:srgbClr val="1622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21616" y="3690012"/>
            <a:ext cx="825446" cy="241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Настроить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748100" y="2326134"/>
            <a:ext cx="0" cy="299550"/>
          </a:xfrm>
          <a:prstGeom prst="line">
            <a:avLst/>
          </a:prstGeom>
          <a:noFill/>
          <a:ln w="38100">
            <a:solidFill>
              <a:srgbClr val="B3551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16086" y="2351534"/>
            <a:ext cx="3567025" cy="27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748100" y="2803469"/>
            <a:ext cx="0" cy="299550"/>
          </a:xfrm>
          <a:prstGeom prst="line">
            <a:avLst/>
          </a:prstGeom>
          <a:noFill/>
          <a:ln w="38100">
            <a:solidFill>
              <a:srgbClr val="B3551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16086" y="2828869"/>
            <a:ext cx="3567025" cy="27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Аналитика выключена по умолчанию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748100" y="3280798"/>
            <a:ext cx="0" cy="548409"/>
          </a:xfrm>
          <a:prstGeom prst="line">
            <a:avLst/>
          </a:prstGeom>
          <a:noFill/>
          <a:ln w="38100">
            <a:solidFill>
              <a:srgbClr val="B3551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16086" y="3306198"/>
            <a:ext cx="3567025" cy="523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Ссылка «Настройки cookie» в подвале для отзыва согласия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III. ПРИМЕР СОГЛАСИЯ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2" y="1102320"/>
            <a:ext cx="10883429" cy="44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Текст согласия на обработку cookie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57" y="1778558"/>
            <a:ext cx="10560086" cy="2303463"/>
          </a:xfrm>
          <a:prstGeom prst="roundRect">
            <a:avLst>
              <a:gd name="adj" fmla="val 3170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337" y="2060501"/>
            <a:ext cx="10243686" cy="7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Я, пользователь сайта power-m.ru, свободно, своей волей и в своём интересе даю АО «Силовые машины» (ИНН [____], 195009, г. Санкт-Петербург, ул. Ватутина, д. 3, лит. А) согласие на обработку файлов cookie и технических данных: IP-адреса, сведений о браузере и устройстве, данных о действиях на сайте.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3337" y="2930289"/>
            <a:ext cx="10243686" cy="52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Цель — статистика посещаемости и улучшение сайта с помощью Яндекс.Метрики (ООО «Яндекс», обработка по поручению). Действия: сбор, запись, хранение, обезличивание, использование, удаление. Данные хранятся на серверах в РФ.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23337" y="3552478"/>
            <a:ext cx="10243686" cy="272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Срок действия — 1 год. Отзыв — через «Настройки cookie» в подвале сайта или письмом на [____]@power-m.ru.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885C061-1305-25E9-8216-56255F1DE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77" y="1843058"/>
            <a:ext cx="10917675" cy="33170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IV. ВЗАИМОДЕЙСТВИЕ С РОСКОМНАДЗОРОМ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2" y="1102320"/>
            <a:ext cx="10883429" cy="44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Запрещённая информация: сроки удаления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57" y="1778558"/>
            <a:ext cx="2520932" cy="1778144"/>
          </a:xfrm>
          <a:prstGeom prst="roundRect">
            <a:avLst>
              <a:gd name="adj" fmla="val 4107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9055" y="1971656"/>
            <a:ext cx="2198778" cy="28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ст. 15.1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9055" y="2319548"/>
            <a:ext cx="2198778" cy="6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Единый реестр: наркотики, суицид, детская порнография, казино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9055" y="3048626"/>
            <a:ext cx="2134736" cy="314974"/>
          </a:xfrm>
          <a:prstGeom prst="roundRect">
            <a:avLst>
              <a:gd name="adj" fmla="val 16128"/>
            </a:avLst>
          </a:prstGeom>
          <a:solidFill>
            <a:srgbClr val="16222E"/>
          </a:solidFill>
          <a:ln/>
        </p:spPr>
      </p:sp>
      <p:sp>
        <p:nvSpPr>
          <p:cNvPr id="8" name="Text 6"/>
          <p:cNvSpPr/>
          <p:nvPr/>
        </p:nvSpPr>
        <p:spPr>
          <a:xfrm>
            <a:off x="1110655" y="3099426"/>
            <a:ext cx="1989482" cy="238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 течение суток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95585" y="1778558"/>
            <a:ext cx="2521022" cy="1778144"/>
          </a:xfrm>
          <a:prstGeom prst="roundRect">
            <a:avLst>
              <a:gd name="adj" fmla="val 4107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8682" y="1971656"/>
            <a:ext cx="2198871" cy="28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ст. 15.3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88682" y="2319548"/>
            <a:ext cx="2198871" cy="6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Экстремизм, призывы к беспорядкам, фейки — по требованию Генпрокуратуры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88682" y="3048626"/>
            <a:ext cx="2134827" cy="314974"/>
          </a:xfrm>
          <a:prstGeom prst="roundRect">
            <a:avLst>
              <a:gd name="adj" fmla="val 16128"/>
            </a:avLst>
          </a:prstGeom>
          <a:solidFill>
            <a:srgbClr val="16222E"/>
          </a:solidFill>
          <a:ln/>
        </p:spPr>
      </p:sp>
      <p:sp>
        <p:nvSpPr>
          <p:cNvPr id="13" name="Text 11"/>
          <p:cNvSpPr/>
          <p:nvPr/>
        </p:nvSpPr>
        <p:spPr>
          <a:xfrm>
            <a:off x="3790282" y="3099426"/>
            <a:ext cx="1989575" cy="238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незамедлительно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5303" y="1778558"/>
            <a:ext cx="2521022" cy="1778144"/>
          </a:xfrm>
          <a:prstGeom prst="roundRect">
            <a:avLst>
              <a:gd name="adj" fmla="val 4107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8400" y="1971656"/>
            <a:ext cx="2198871" cy="28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ст. 15.1-1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68400" y="2319548"/>
            <a:ext cx="2198871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Явное неуважение к обществу и государству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68400" y="2835219"/>
            <a:ext cx="2134827" cy="314974"/>
          </a:xfrm>
          <a:prstGeom prst="roundRect">
            <a:avLst>
              <a:gd name="adj" fmla="val 16128"/>
            </a:avLst>
          </a:prstGeom>
          <a:solidFill>
            <a:srgbClr val="16222E"/>
          </a:solidFill>
          <a:ln/>
        </p:spPr>
      </p:sp>
      <p:sp>
        <p:nvSpPr>
          <p:cNvPr id="18" name="Text 16"/>
          <p:cNvSpPr/>
          <p:nvPr/>
        </p:nvSpPr>
        <p:spPr>
          <a:xfrm>
            <a:off x="6470000" y="2886019"/>
            <a:ext cx="1989575" cy="238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незамедлительно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55021" y="1778558"/>
            <a:ext cx="2521022" cy="1778144"/>
          </a:xfrm>
          <a:prstGeom prst="roundRect">
            <a:avLst>
              <a:gd name="adj" fmla="val 4107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48118" y="1971656"/>
            <a:ext cx="2198871" cy="28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ст. 15.2, 15.7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048118" y="2319548"/>
            <a:ext cx="2198871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Нарушение авторских прав на фото и видео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48118" y="2835219"/>
            <a:ext cx="2134827" cy="314974"/>
          </a:xfrm>
          <a:prstGeom prst="roundRect">
            <a:avLst>
              <a:gd name="adj" fmla="val 16128"/>
            </a:avLst>
          </a:prstGeom>
          <a:solidFill>
            <a:srgbClr val="16222E"/>
          </a:solidFill>
          <a:ln/>
        </p:spPr>
      </p:sp>
      <p:sp>
        <p:nvSpPr>
          <p:cNvPr id="23" name="Text 21"/>
          <p:cNvSpPr/>
          <p:nvPr/>
        </p:nvSpPr>
        <p:spPr>
          <a:xfrm>
            <a:off x="9149718" y="2886019"/>
            <a:ext cx="1989575" cy="238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 уведомлению хостинга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782" y="3813876"/>
            <a:ext cx="10883429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Статьи 149-ФЗ. Не удалили — хостинг ограничивает доступ, затем блокируется весь домен power-m.ru. Ответственность — ст. 13.41 КоАП. Для детского раздела — 436-ФЗ.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IV. ВЗАИМОДЕЙСТВИЕ С РОСКОМНАДЗОРОМ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2" y="1102320"/>
            <a:ext cx="10883429" cy="44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Обязанности и пример ситуации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782" y="1775383"/>
            <a:ext cx="5479805" cy="2146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98120" algn="l">
              <a:lnSpc>
                <a:spcPts val="182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Назначить ответственного, указать e-mail в договоре с хостингом</a:t>
            </a:r>
            <a:endParaRPr lang="en-US" sz="1300" dirty="0"/>
          </a:p>
          <a:p>
            <a:pPr marL="198120" indent="-198120" algn="l">
              <a:lnSpc>
                <a:spcPts val="182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Отслеживать уведомления хостинга и РКН</a:t>
            </a:r>
            <a:endParaRPr lang="en-US" sz="1300" dirty="0"/>
          </a:p>
          <a:p>
            <a:pPr marL="198120" indent="-198120" algn="l">
              <a:lnSpc>
                <a:spcPts val="182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Удалить материал в установленный срок</a:t>
            </a:r>
            <a:endParaRPr lang="en-US" sz="1300" dirty="0"/>
          </a:p>
          <a:p>
            <a:pPr marL="198120" indent="-198120" algn="l">
              <a:lnSpc>
                <a:spcPts val="182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Сообщить в РКН об устранении, приложить скриншоты</a:t>
            </a:r>
            <a:endParaRPr lang="en-US" sz="1300" dirty="0"/>
          </a:p>
          <a:p>
            <a:pPr marL="198120" indent="-198120" algn="l">
              <a:lnSpc>
                <a:spcPts val="182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Провести внутреннюю проверку, сохранить логи</a:t>
            </a:r>
            <a:endParaRPr lang="en-US" sz="1300" dirty="0"/>
          </a:p>
          <a:p>
            <a:pPr marL="198120" indent="-198120" algn="l">
              <a:lnSpc>
                <a:spcPts val="182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 взломе с утечкой ПДн — уведомить РКН за 24 и 72 часа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37763" y="1775383"/>
            <a:ext cx="4941454" cy="2121026"/>
          </a:xfrm>
          <a:prstGeom prst="roundRect">
            <a:avLst>
              <a:gd name="adj" fmla="val 3593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/>
          <p:nvPr/>
        </p:nvSpPr>
        <p:spPr>
          <a:xfrm>
            <a:off x="6691764" y="2029383"/>
            <a:ext cx="4566458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0A0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ПРИМЕР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91764" y="2344353"/>
            <a:ext cx="4566458" cy="743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Через уязвимость модуля Битрикса в «Новостях» размещены скрытые страницы с рекламой магазина наркотиков.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91764" y="3163813"/>
            <a:ext cx="4566458" cy="50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C9C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МВД → URL в Единый реестр → уведомление хостинга → удалить в течение суток, иначе блокировка домена.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8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V. РИСКИ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2" y="1102320"/>
            <a:ext cx="10883429" cy="44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 запрещённое может попасть на сайт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57" y="1778564"/>
            <a:ext cx="3414171" cy="1105080"/>
          </a:xfrm>
          <a:prstGeom prst="roundRect">
            <a:avLst>
              <a:gd name="adj" fmla="val 6608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9055" y="1971663"/>
            <a:ext cx="3118815" cy="25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Статья на сайте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9055" y="2263725"/>
            <a:ext cx="3118815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Недостоверные сведения об авариях, чужие фото, сведения, связанные с ОПК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8824" y="1778564"/>
            <a:ext cx="3414261" cy="1105080"/>
          </a:xfrm>
          <a:prstGeom prst="roundRect">
            <a:avLst>
              <a:gd name="adj" fmla="val 6608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1922" y="1971663"/>
            <a:ext cx="3118908" cy="25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Пользовательский контент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81922" y="2263725"/>
            <a:ext cx="3118908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Файлы в client. и портале, доступные по прямой ссылке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61781" y="1778564"/>
            <a:ext cx="3414261" cy="1105080"/>
          </a:xfrm>
          <a:prstGeom prst="roundRect">
            <a:avLst>
              <a:gd name="adj" fmla="val 6608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4879" y="1971663"/>
            <a:ext cx="3118908" cy="25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Взлом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54879" y="2263725"/>
            <a:ext cx="3118908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Уязвимости CMS, дефейс, SEO-спам, фишинг на поддоменах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957" y="3042338"/>
            <a:ext cx="3414171" cy="1105080"/>
          </a:xfrm>
          <a:prstGeom prst="roundRect">
            <a:avLst>
              <a:gd name="adj" fmla="val 6608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9055" y="3235437"/>
            <a:ext cx="3118815" cy="25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Внешние ссылки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9055" y="3527499"/>
            <a:ext cx="3118815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Ресурс по ссылке позже признан запрещённым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8824" y="3042338"/>
            <a:ext cx="3414261" cy="1105080"/>
          </a:xfrm>
          <a:prstGeom prst="roundRect">
            <a:avLst>
              <a:gd name="adj" fmla="val 6608"/>
            </a:avLst>
          </a:prstGeom>
          <a:solidFill>
            <a:srgbClr val="FBFAF6"/>
          </a:solidFill>
          <a:ln w="6350">
            <a:solidFill>
              <a:srgbClr val="D9D3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1922" y="3235437"/>
            <a:ext cx="3118908" cy="25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Вакансии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81922" y="3527499"/>
            <a:ext cx="3118908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Дискриминационные требования по возрасту или полу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8606" y="3039163"/>
            <a:ext cx="3420611" cy="1111430"/>
          </a:xfrm>
          <a:prstGeom prst="roundRect">
            <a:avLst>
              <a:gd name="adj" fmla="val 6856"/>
            </a:avLst>
          </a:prstGeom>
          <a:solidFill>
            <a:srgbClr val="1622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9106" y="3229663"/>
            <a:ext cx="3130800" cy="25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0A0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Главный риск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49106" y="3521726"/>
            <a:ext cx="3130800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Взлом CMS: комментариев нет, но есть много поддоменов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782" y="6238249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8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V. ПОРЯДОК ДЕЙСТВИЙ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2" y="1102320"/>
            <a:ext cx="10883429" cy="44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Порядок действий при запросе РКН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782" y="1814085"/>
            <a:ext cx="368372" cy="368192"/>
          </a:xfrm>
          <a:prstGeom prst="roundRect">
            <a:avLst>
              <a:gd name="adj" fmla="val 17246"/>
            </a:avLst>
          </a:prstGeom>
          <a:solidFill>
            <a:srgbClr val="B35512"/>
          </a:solidFill>
          <a:ln/>
        </p:spPr>
      </p:sp>
      <p:sp>
        <p:nvSpPr>
          <p:cNvPr id="5" name="Text 3"/>
          <p:cNvSpPr/>
          <p:nvPr/>
        </p:nvSpPr>
        <p:spPr>
          <a:xfrm>
            <a:off x="939782" y="1864885"/>
            <a:ext cx="165172" cy="29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08154" y="1886781"/>
            <a:ext cx="4072112" cy="248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Зарегистрировать запрос: дата и время получения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6000" y="1814085"/>
            <a:ext cx="353038" cy="368192"/>
          </a:xfrm>
          <a:prstGeom prst="roundRect">
            <a:avLst>
              <a:gd name="adj" fmla="val 17987"/>
            </a:avLst>
          </a:prstGeom>
          <a:solidFill>
            <a:srgbClr val="B35512"/>
          </a:solidFill>
          <a:ln/>
        </p:spPr>
      </p:sp>
      <p:sp>
        <p:nvSpPr>
          <p:cNvPr id="8" name="Text 6"/>
          <p:cNvSpPr/>
          <p:nvPr/>
        </p:nvSpPr>
        <p:spPr>
          <a:xfrm>
            <a:off x="6223000" y="1864885"/>
            <a:ext cx="149838" cy="29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76038" y="1775389"/>
            <a:ext cx="4947275" cy="470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 взломе: закрыть уязвимость, сменить пароли, оценить утечку ПДн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782" y="2220968"/>
            <a:ext cx="368372" cy="368192"/>
          </a:xfrm>
          <a:prstGeom prst="roundRect">
            <a:avLst>
              <a:gd name="adj" fmla="val 17246"/>
            </a:avLst>
          </a:prstGeom>
          <a:solidFill>
            <a:srgbClr val="B35512"/>
          </a:solidFill>
          <a:ln/>
        </p:spPr>
      </p:sp>
      <p:sp>
        <p:nvSpPr>
          <p:cNvPr id="11" name="Text 9"/>
          <p:cNvSpPr/>
          <p:nvPr/>
        </p:nvSpPr>
        <p:spPr>
          <a:xfrm>
            <a:off x="939782" y="2271768"/>
            <a:ext cx="165172" cy="29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08154" y="2293671"/>
            <a:ext cx="3768963" cy="248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Определить статью 149-ФЗ и срок исполнения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6000" y="2220968"/>
            <a:ext cx="368372" cy="368192"/>
          </a:xfrm>
          <a:prstGeom prst="roundRect">
            <a:avLst>
              <a:gd name="adj" fmla="val 17246"/>
            </a:avLst>
          </a:prstGeom>
          <a:solidFill>
            <a:srgbClr val="B35512"/>
          </a:solidFill>
          <a:ln/>
        </p:spPr>
      </p:sp>
      <p:sp>
        <p:nvSpPr>
          <p:cNvPr id="14" name="Text 12"/>
          <p:cNvSpPr/>
          <p:nvPr/>
        </p:nvSpPr>
        <p:spPr>
          <a:xfrm>
            <a:off x="6223000" y="2271768"/>
            <a:ext cx="165172" cy="29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91372" y="2293671"/>
            <a:ext cx="2676495" cy="248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Направить ответ в Роскомнадзор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782" y="2589163"/>
            <a:ext cx="368372" cy="368192"/>
          </a:xfrm>
          <a:prstGeom prst="roundRect">
            <a:avLst>
              <a:gd name="adj" fmla="val 17246"/>
            </a:avLst>
          </a:prstGeom>
          <a:solidFill>
            <a:srgbClr val="B35512"/>
          </a:solidFill>
          <a:ln/>
        </p:spPr>
      </p:sp>
      <p:sp>
        <p:nvSpPr>
          <p:cNvPr id="17" name="Text 15"/>
          <p:cNvSpPr/>
          <p:nvPr/>
        </p:nvSpPr>
        <p:spPr>
          <a:xfrm>
            <a:off x="939782" y="2639963"/>
            <a:ext cx="165172" cy="29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08154" y="2661859"/>
            <a:ext cx="4344044" cy="248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Сохранить копию материала и снять его с публикации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96000" y="2589163"/>
            <a:ext cx="368372" cy="368192"/>
          </a:xfrm>
          <a:prstGeom prst="roundRect">
            <a:avLst>
              <a:gd name="adj" fmla="val 17246"/>
            </a:avLst>
          </a:prstGeom>
          <a:solidFill>
            <a:srgbClr val="B35512"/>
          </a:solidFill>
          <a:ln/>
        </p:spPr>
      </p:sp>
      <p:sp>
        <p:nvSpPr>
          <p:cNvPr id="20" name="Text 18"/>
          <p:cNvSpPr/>
          <p:nvPr/>
        </p:nvSpPr>
        <p:spPr>
          <a:xfrm>
            <a:off x="6223000" y="2639963"/>
            <a:ext cx="165172" cy="29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91372" y="2661859"/>
            <a:ext cx="3149752" cy="248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Проверить исключение URL из реестра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2782" y="2957351"/>
            <a:ext cx="368372" cy="368192"/>
          </a:xfrm>
          <a:prstGeom prst="roundRect">
            <a:avLst>
              <a:gd name="adj" fmla="val 17246"/>
            </a:avLst>
          </a:prstGeom>
          <a:solidFill>
            <a:srgbClr val="B35512"/>
          </a:solidFill>
          <a:ln/>
        </p:spPr>
      </p:sp>
      <p:sp>
        <p:nvSpPr>
          <p:cNvPr id="23" name="Text 21"/>
          <p:cNvSpPr/>
          <p:nvPr/>
        </p:nvSpPr>
        <p:spPr>
          <a:xfrm>
            <a:off x="939782" y="3008151"/>
            <a:ext cx="165172" cy="29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08154" y="3030054"/>
            <a:ext cx="3870136" cy="248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Найти копии на других страницах и поддоменах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96000" y="2957351"/>
            <a:ext cx="368372" cy="368192"/>
          </a:xfrm>
          <a:prstGeom prst="roundRect">
            <a:avLst>
              <a:gd name="adj" fmla="val 17246"/>
            </a:avLst>
          </a:prstGeom>
          <a:solidFill>
            <a:srgbClr val="B35512"/>
          </a:solidFill>
          <a:ln/>
        </p:spPr>
      </p:sp>
      <p:sp>
        <p:nvSpPr>
          <p:cNvPr id="26" name="Text 24"/>
          <p:cNvSpPr/>
          <p:nvPr/>
        </p:nvSpPr>
        <p:spPr>
          <a:xfrm>
            <a:off x="6223000" y="3008151"/>
            <a:ext cx="165172" cy="29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91372" y="3030054"/>
            <a:ext cx="2841308" cy="248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Составить акт, обновить регламент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782" y="6238249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609569"/>
            <a:ext cx="10883429" cy="38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Пример ответа в Роскомнадзор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12782" y="1150578"/>
            <a:ext cx="10566436" cy="3347550"/>
          </a:xfrm>
          <a:prstGeom prst="roundRect">
            <a:avLst>
              <a:gd name="adj" fmla="val 1518"/>
            </a:avLst>
          </a:prstGeom>
          <a:solidFill>
            <a:srgbClr val="FBFAF6"/>
          </a:solidFill>
          <a:ln/>
        </p:spPr>
      </p:sp>
      <p:sp>
        <p:nvSpPr>
          <p:cNvPr id="4" name="Text 2"/>
          <p:cNvSpPr/>
          <p:nvPr/>
        </p:nvSpPr>
        <p:spPr>
          <a:xfrm>
            <a:off x="872687" y="1404584"/>
            <a:ext cx="10150967" cy="436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 Управление Роскомнадзора по СЗФО</a:t>
            </a:r>
            <a:endParaRPr lang="en-US" sz="1200" dirty="0"/>
          </a:p>
          <a:p>
            <a:pPr marL="0" indent="0" algn="r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 АО «Силовые машины» (ИНН [____]), 195009, СПб, ул. Ватутина, д. 3, лит. 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68346" y="1904907"/>
            <a:ext cx="10150967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Исх. № [___] от [__.__].2026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68346" y="2207165"/>
            <a:ext cx="10150967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 принятии мер по удалению информации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68346" y="2527108"/>
            <a:ext cx="10150967" cy="909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 ответ на уведомление № [___] о включении в Единый реестр страницы https://power-m.ru/press-center/news/[____] сообщаем: информация размещена неустановленными лицами в результате несанкционированного доступа к системе управления сайтом. [__.__].2026 в [__:__] МСК, в течение суток с момента уведомления, страница удалена (ответ сервера 404). Аналогичных материалов не обнаружено.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8346" y="3499898"/>
            <a:ext cx="10150967" cy="467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Устранена уязвимость, изменены учётные данные администраторов, проведена проверка целостности сайта. Утечка ПДн не выявлена. Просим исключить URL из Единого реестра.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8346" y="4030718"/>
            <a:ext cx="10150967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2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Приложения: скриншот (404), акт проверки. Ответственный: [ФИО, тел., e-mail]. Генеральный директор [____]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75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VI. ИСПРАВЛЕНИЕ ОШИБОК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2" y="1102320"/>
            <a:ext cx="10883429" cy="44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Ошибки сайта и решения (1/2)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327" y="1761491"/>
          <a:ext cx="10554890" cy="2416248"/>
        </p:xfrm>
        <a:graphic>
          <a:graphicData uri="http://schemas.openxmlformats.org/drawingml/2006/table">
            <a:tbl>
              <a:tblPr/>
              <a:tblGrid>
                <a:gridCol w="527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0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6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№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Ошибка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Решение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98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Cookie-баннер: согласие по факту пользования, отказ = уйти с сайта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Баннер с категориями, равнозначный отказ, «Настройки cookie» в подвале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Метрика в коде страницы, вероятно грузится до согласия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Загружать счётчик только после согласия на аналитику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Форма: согласие даётся нажатием «Отправить»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Пустой чекбокс и отдельный текст согласия, логирование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98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Политика от июня 2023 г.: только кадровые цели и пропускной режим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Новая Политика: цели, данные, сроки по каждому блоку сайта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П. 6.2.4 Политики: у контрагентов «степень родства»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Указать реальный перечень: ФИО, должность, контакты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75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355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VI. ИСПРАВЛЕНИЕ ОШИБОК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2" y="1102320"/>
            <a:ext cx="10883429" cy="44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622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Ошибки сайта и решения (2/2)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327" y="1761491"/>
          <a:ext cx="10554890" cy="2202837"/>
        </p:xfrm>
        <a:graphic>
          <a:graphicData uri="http://schemas.openxmlformats.org/drawingml/2006/table">
            <a:tbl>
              <a:tblPr/>
              <a:tblGrid>
                <a:gridCol w="527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0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6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№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Ошибка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Решение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Для запросов по ПДн указан только телефон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Добавить e-mail, почтовый адрес и ИНН оператора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F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Документы по ПДн не согласованы между поддоменами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Единая Политика со всеми доменами или документы на каждом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Архивные справки могут требовать паспортные данные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Защищённый канал, минимальный состав данных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98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Уведомление в РКН, вероятно, без обработки через сайт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Проверить реестр операторов, подать изменения (Приказ РКН № 180)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5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Раздел «Детям об энергетике» без маркировки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2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Возрастная маркировка по 436-ФЗ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1758</Words>
  <Application>Microsoft Office PowerPoint</Application>
  <PresentationFormat>Широкоэкранный</PresentationFormat>
  <Paragraphs>262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Arial</vt:lpstr>
      <vt:lpstr>IBM Plex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Требования РФ к веб-сайтам: анализ power-m.ru</dc:title>
  <dc:subject>PptxGenJS Presentation</dc:subject>
  <dc:creator>PptxGenJS</dc:creator>
  <cp:lastModifiedBy>Илья Эков</cp:lastModifiedBy>
  <cp:revision>4</cp:revision>
  <dcterms:created xsi:type="dcterms:W3CDTF">2026-09-24T23:07:02Z</dcterms:created>
  <dcterms:modified xsi:type="dcterms:W3CDTF">2026-09-25T10:28:38Z</dcterms:modified>
</cp:coreProperties>
</file>