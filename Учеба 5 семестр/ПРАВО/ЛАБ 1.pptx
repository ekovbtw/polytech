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3" r:id="rId7"/>
    <p:sldId id="260" r:id="rId8"/>
    <p:sldId id="261" r:id="rId9"/>
    <p:sldId id="262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A2A12B-4DC5-4F22-BFC3-EE0B83CEDACB}" v="488" dt="2026-09-10T21:09:45.5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Как выглядит идеальная презентация - Образовательные технологии">
            <a:extLst>
              <a:ext uri="{FF2B5EF4-FFF2-40B4-BE49-F238E27FC236}">
                <a16:creationId xmlns:a16="http://schemas.microsoft.com/office/drawing/2014/main" id="{017787B7-1821-A84C-656A-024945D8E79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10714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FFFFFF"/>
                </a:solidFill>
              </a:rPr>
              <a:t>Государственные реестры Роскомнадзора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415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solidFill>
                  <a:srgbClr val="FFFFFF"/>
                </a:solidFill>
              </a:rPr>
              <a:t>Студенты группы 5151001/40202</a:t>
            </a:r>
            <a:br>
              <a:rPr lang="ru-RU" dirty="0">
                <a:solidFill>
                  <a:srgbClr val="FFFFFF"/>
                </a:solidFill>
              </a:rPr>
            </a:br>
            <a:r>
              <a:rPr lang="ru-RU" dirty="0" err="1">
                <a:solidFill>
                  <a:srgbClr val="FFFFFF"/>
                </a:solidFill>
              </a:rPr>
              <a:t>Эков</a:t>
            </a:r>
            <a:r>
              <a:rPr lang="ru-RU" dirty="0">
                <a:solidFill>
                  <a:srgbClr val="FFFFFF"/>
                </a:solidFill>
              </a:rPr>
              <a:t> И.А., Иванов В.В., Рамазанов Т.Р.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E2528F-2C38-7BA5-C0E8-94DB6E9DD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Цель работы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9DE0B16F-7EFB-D0D4-B899-3A7C27F38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325" y="1629508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Получение</a:t>
            </a:r>
            <a:r>
              <a:rPr lang="en-US" dirty="0"/>
              <a:t> </a:t>
            </a:r>
            <a:r>
              <a:rPr lang="en-US" dirty="0" err="1"/>
              <a:t>навыков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реестром</a:t>
            </a:r>
            <a:r>
              <a:rPr lang="en-US" dirty="0"/>
              <a:t> </a:t>
            </a:r>
            <a:r>
              <a:rPr lang="en-US" dirty="0" err="1"/>
              <a:t>операторов</a:t>
            </a:r>
            <a:r>
              <a:rPr lang="en-US" dirty="0"/>
              <a:t> </a:t>
            </a:r>
            <a:r>
              <a:rPr lang="en-US" dirty="0" err="1"/>
              <a:t>персональных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endParaRPr lang="en-US"/>
          </a:p>
        </p:txBody>
      </p:sp>
      <p:pic>
        <p:nvPicPr>
          <p:cNvPr id="7" name="Рисунок 6" descr="Как найти цель исследования научной работы? | Обучение | ШколаЖизни.ру">
            <a:extLst>
              <a:ext uri="{FF2B5EF4-FFF2-40B4-BE49-F238E27FC236}">
                <a16:creationId xmlns:a16="http://schemas.microsoft.com/office/drawing/2014/main" id="{9060EA74-0AAF-F83A-082A-DB2786535A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023" r="1192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388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40AB5A90-EBAC-E9A4-60FF-72436DA108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8634" y="-1303"/>
            <a:ext cx="7498792" cy="680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971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8">
            <a:extLst>
              <a:ext uri="{FF2B5EF4-FFF2-40B4-BE49-F238E27FC236}">
                <a16:creationId xmlns:a16="http://schemas.microsoft.com/office/drawing/2014/main" id="{6B5E2835-4E47-45B3-9CFE-732FF7B0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Positive Technologies объявила о планах выйти на рынок антивирусов — РБК">
            <a:extLst>
              <a:ext uri="{FF2B5EF4-FFF2-40B4-BE49-F238E27FC236}">
                <a16:creationId xmlns:a16="http://schemas.microsoft.com/office/drawing/2014/main" id="{31CF4DA5-55AC-ABB4-4D25-835BCCA3E5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20" r="-1" b="-1"/>
          <a:stretch>
            <a:fillRect/>
          </a:stretch>
        </p:blipFill>
        <p:spPr>
          <a:xfrm>
            <a:off x="3242695" y="10"/>
            <a:ext cx="8949307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34" name="Freeform: Shape 10">
            <a:extLst>
              <a:ext uri="{FF2B5EF4-FFF2-40B4-BE49-F238E27FC236}">
                <a16:creationId xmlns:a16="http://schemas.microsoft.com/office/drawing/2014/main" id="{5B45AD5D-AA52-4F7B-9362-576A39AD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D5D5D5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Freeform: Shape 12">
            <a:extLst>
              <a:ext uri="{FF2B5EF4-FFF2-40B4-BE49-F238E27FC236}">
                <a16:creationId xmlns:a16="http://schemas.microsoft.com/office/drawing/2014/main" id="{AEDD7960-4866-4399-BEF6-DD1431AB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413C3D-6A67-6572-7071-F5EAD1AF8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02" y="586857"/>
            <a:ext cx="3438144" cy="1125728"/>
          </a:xfrm>
        </p:spPr>
        <p:txBody>
          <a:bodyPr anchor="b">
            <a:normAutofit/>
          </a:bodyPr>
          <a:lstStyle/>
          <a:p>
            <a:r>
              <a:rPr lang="ru-RU" sz="2800"/>
              <a:t>Рассматриваемые организации</a:t>
            </a:r>
          </a:p>
        </p:txBody>
      </p:sp>
      <p:sp>
        <p:nvSpPr>
          <p:cNvPr id="36" name="Rectangle 1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A52321-FF77-1F14-09A8-59B049C58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045" y="1920885"/>
            <a:ext cx="5396660" cy="45319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1600" b="1" dirty="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Государственное бюджетное общеобразовательное учреждение города Москвы "Школа №1222 имени Маршала Советского Союза </a:t>
            </a:r>
            <a:r>
              <a:rPr lang="ru-RU" sz="1600" b="1" dirty="0" err="1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И.Х.Баграмяна</a:t>
            </a:r>
            <a:r>
              <a:rPr lang="ru-RU" sz="1600" b="1" dirty="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"</a:t>
            </a:r>
          </a:p>
          <a:p>
            <a:r>
              <a:rPr lang="ru-RU" sz="1600" b="1" dirty="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Государственное бюджетное общеобразовательное учреждение города Москвы "Школа № 2054"</a:t>
            </a:r>
          </a:p>
          <a:p>
            <a:r>
              <a:rPr lang="ru-RU" sz="1600" b="1" dirty="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АКЦИОНЕРНОЕ ОБЩЕСТВО "ПОЗИТИВ ТЕКНОЛОДЖИЗ"</a:t>
            </a:r>
          </a:p>
          <a:p>
            <a:r>
              <a:rPr lang="ru-RU" sz="1600" b="1" dirty="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АКЦИОНЕРНОЕ ОБЩЕСТВО "ГАЗПРОМНЕФТЬ - МОСКОВСКИЙ НПЗ"</a:t>
            </a:r>
          </a:p>
        </p:txBody>
      </p:sp>
    </p:spTree>
    <p:extLst>
      <p:ext uri="{BB962C8B-B14F-4D97-AF65-F5344CB8AC3E}">
        <p14:creationId xmlns:p14="http://schemas.microsoft.com/office/powerpoint/2010/main" val="2884252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Куда попадают &quot;слитые&quot; персональные данные - Российская газета">
            <a:extLst>
              <a:ext uri="{FF2B5EF4-FFF2-40B4-BE49-F238E27FC236}">
                <a16:creationId xmlns:a16="http://schemas.microsoft.com/office/drawing/2014/main" id="{AF867DD8-3BEA-C99D-22C0-96F4D62C46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3" t="6484" r="20195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4EE36D-CFC6-C391-D6C8-2C994501C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688610"/>
            <a:ext cx="4761914" cy="219594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Операторы персональных данных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AA45B1C-07B1-D59F-8275-A8E9A74A1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534" y="3430984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/>
              <a:t>Каждая</a:t>
            </a:r>
            <a:r>
              <a:rPr lang="en-US" sz="2000" dirty="0"/>
              <a:t> </a:t>
            </a:r>
            <a:r>
              <a:rPr lang="en-US" sz="2000"/>
              <a:t>организация</a:t>
            </a:r>
            <a:r>
              <a:rPr lang="en-US" sz="2000" dirty="0"/>
              <a:t> </a:t>
            </a:r>
            <a:r>
              <a:rPr lang="en-US" sz="2000"/>
              <a:t>из</a:t>
            </a:r>
            <a:r>
              <a:rPr lang="en-US" sz="2000" dirty="0"/>
              <a:t> </a:t>
            </a:r>
            <a:r>
              <a:rPr lang="en-US" sz="2000"/>
              <a:t>исследуемого</a:t>
            </a:r>
            <a:r>
              <a:rPr lang="en-US" sz="2000" dirty="0"/>
              <a:t> </a:t>
            </a:r>
            <a:r>
              <a:rPr lang="en-US" sz="2000"/>
              <a:t>списка</a:t>
            </a:r>
            <a:r>
              <a:rPr lang="en-US" sz="2000" dirty="0"/>
              <a:t> </a:t>
            </a:r>
            <a:r>
              <a:rPr lang="en-US" sz="2000"/>
              <a:t>является</a:t>
            </a:r>
            <a:r>
              <a:rPr lang="en-US" sz="2000" dirty="0"/>
              <a:t> </a:t>
            </a:r>
            <a:r>
              <a:rPr lang="en-US" sz="2000"/>
              <a:t>оператором</a:t>
            </a:r>
            <a:r>
              <a:rPr lang="en-US" sz="2000" dirty="0"/>
              <a:t> </a:t>
            </a:r>
            <a:r>
              <a:rPr lang="en-US" sz="2000"/>
              <a:t>персональных</a:t>
            </a:r>
            <a:r>
              <a:rPr lang="en-US" sz="2000" dirty="0"/>
              <a:t> </a:t>
            </a:r>
            <a:r>
              <a:rPr lang="en-US" sz="2000"/>
              <a:t>данных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8154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Запад пытается потопить «Газпром»">
            <a:extLst>
              <a:ext uri="{FF2B5EF4-FFF2-40B4-BE49-F238E27FC236}">
                <a16:creationId xmlns:a16="http://schemas.microsoft.com/office/drawing/2014/main" id="{AF6E4365-C750-73E4-02DA-E2AA579813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613" r="4269" b="-1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84054A-660F-5724-0DFE-CADC80408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228" y="743447"/>
            <a:ext cx="397338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/>
              <a:t>Цель обработки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1198010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EC944649-7C03-671A-DD9E-2C29DEAB5C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2" b="2649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794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CDEF84-449F-B770-D1F4-A42546C8C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Шифровальные средства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C1D205-398E-E333-8A4A-19776897D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Позитив и Газпром используют шифровальные средства. Школы такую информацию не предоставили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О запуске мобильного приложения &quot;РКН&quot; - Официальный сайт ВятГУ">
            <a:extLst>
              <a:ext uri="{FF2B5EF4-FFF2-40B4-BE49-F238E27FC236}">
                <a16:creationId xmlns:a16="http://schemas.microsoft.com/office/drawing/2014/main" id="{08E70CC8-C72D-6BEE-60B2-1B6706F42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998388"/>
            <a:ext cx="7214616" cy="483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781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1291C-7ECD-4C23-E441-659282769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/>
              <a:t>Трансграничная передача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1A2AEB-9A03-EC1B-1C35-05D382739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/>
              <a:t>Используется только в Позитив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4782B3-CFB7-60E8-5400-910F4532A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011" y="640080"/>
            <a:ext cx="6720289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394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6D5AA0A9-AD03-0BA2-D825-5017504207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717183"/>
            <a:ext cx="10905066" cy="45256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EC0DAB-ADD7-DB26-0FF3-9462C9EA2A7A}"/>
              </a:ext>
            </a:extLst>
          </p:cNvPr>
          <p:cNvSpPr txBox="1"/>
          <p:nvPr/>
        </p:nvSpPr>
        <p:spPr>
          <a:xfrm>
            <a:off x="984738" y="844061"/>
            <a:ext cx="980049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3600" dirty="0"/>
              <a:t>Персональные данные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1043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D1A1CD-6590-AD5F-DC11-843EB1CD3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Сравнение мер безопасности</a:t>
            </a:r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A97921B0-2EE6-C28F-58CF-4765CAC9C6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708" y="1896734"/>
            <a:ext cx="11828585" cy="433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254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B26B2-10BC-FCCB-DA7A-79CD9BE47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ru-RU" sz="5400" dirty="0"/>
              <a:t>Вывод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32E6ED-A06B-0958-AA46-C381B29F7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190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Чем крупнее организация — тем больше технических (не только организационных) мер она заявляет. У школ мер минимум и они организационные; у Газпромнефти — база + общее упоминание технических мер; у Позитив Текнолоджиз (что логично для ИБ-компании) — единственной из четырёх есть явные технические пункты: сертифицированные СЗИ, реагирование на инциденты, учёт угроз и оценка вреда. </a:t>
            </a:r>
            <a:endParaRPr lang="ru-RU" sz="190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6DDCB6-81D5-2754-BF94-6389CCF7A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374704"/>
            <a:ext cx="5458968" cy="410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7372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Государственные реестры Роскомнадзора</vt:lpstr>
      <vt:lpstr>Цель работы</vt:lpstr>
      <vt:lpstr>Презентация PowerPoint</vt:lpstr>
      <vt:lpstr>Рассматриваемые организации</vt:lpstr>
      <vt:lpstr>Операторы персональных данных</vt:lpstr>
      <vt:lpstr>Цель обработки информации</vt:lpstr>
      <vt:lpstr>Презентация PowerPoint</vt:lpstr>
      <vt:lpstr>Шифровальные средства</vt:lpstr>
      <vt:lpstr>Трансграничная передача</vt:lpstr>
      <vt:lpstr>Презентация PowerPoint</vt:lpstr>
      <vt:lpstr>Сравнение мер безопасности</vt:lpstr>
      <vt:lpstr>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134</cp:revision>
  <dcterms:created xsi:type="dcterms:W3CDTF">2026-09-10T20:21:41Z</dcterms:created>
  <dcterms:modified xsi:type="dcterms:W3CDTF">2026-09-10T21:09:54Z</dcterms:modified>
</cp:coreProperties>
</file>