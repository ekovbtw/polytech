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9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600" dirty="0"/>
              <a:t>Реализация и анализ системных вызовов в архитектуре x86-64</a:t>
            </a:r>
          </a:p>
        </p:txBody>
      </p:sp>
      <p:sp>
        <p:nvSpPr>
          <p:cNvPr id="3" name="Sub"/>
          <p:cNvSpPr>
            <a:spLocks noGrp="1"/>
          </p:cNvSpPr>
          <p:nvPr>
            <p:ph type="subTitle" idx="1"/>
          </p:nvPr>
        </p:nvSpPr>
        <p:spPr>
          <a:xfrm>
            <a:off x="1154955" y="4600000"/>
            <a:ext cx="8825658" cy="130000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Курсовая работа по дисциплине «Операционные системы»</a:t>
            </a:r>
          </a:p>
          <a:p>
            <a:r>
              <a:rPr lang="ru-RU" dirty="0"/>
              <a:t>Выполнили: И.А. Эков, Р.А. Ажермачев, Т.Р. Рамазанов, В.В. Иванов</a:t>
            </a:r>
          </a:p>
          <a:p>
            <a:r>
              <a:rPr lang="ru-RU" dirty="0"/>
              <a:t>Группа: 5151001/40001 · Руководитель: Г.Д. Гавва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работы</a:t>
            </a:r>
          </a:p>
        </p:txBody>
      </p:sp>
      <p:sp>
        <p:nvSpPr>
          <p:cNvPr id="4" name="Content"/>
          <p:cNvSpPr>
            <a:spLocks noGrp="1" noChangeArrowheads="1"/>
          </p:cNvSpPr>
          <p:nvPr>
            <p:ph idx="1"/>
          </p:nvPr>
        </p:nvSpPr>
        <p:spPr bwMode="auto">
          <a:xfrm>
            <a:off x="304800" y="2200000"/>
            <a:ext cx="11481254" cy="415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2000" b="1" dirty="0"/>
              <a:t>Цель работы: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1700" dirty="0"/>
              <a:t>Исследовать механизм системных вызовов в архитектуре x86-64, реализовать собственный системный вызов в ядре Linux и проанализировать связанные уязвимости.</a:t>
            </a:r>
          </a:p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2000" b="1" dirty="0"/>
              <a:t>Задачи: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Изучить механизм перехода в режим ядра (syscall, MSR_LSTAR, sys_call_table)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Разработать собственный системный вызов и тестовую программу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Проанализировать уязвимости, продемонстрировать CVE-2022-0847 (Dirty Pipe)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1.1. Кольца защиты и разделение привилегий</a:t>
            </a:r>
          </a:p>
        </p:txBody>
      </p:sp>
      <p:sp>
        <p:nvSpPr>
          <p:cNvPr id="4" name="Content"/>
          <p:cNvSpPr>
            <a:spLocks noGrp="1" noChangeArrowheads="1"/>
          </p:cNvSpPr>
          <p:nvPr>
            <p:ph idx="1"/>
          </p:nvPr>
        </p:nvSpPr>
        <p:spPr bwMode="auto">
          <a:xfrm>
            <a:off x="304800" y="2200000"/>
            <a:ext cx="11481254" cy="415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2000" b="1" dirty="0"/>
              <a:t>Кольца защиты (Protection Rings):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Ring 0 — режим ядра: полный доступ к железу и памяти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Ring 3 — пользовательский режим: ограниченный доступ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Linux использует только Ring 0 (kernel space) и Ring 3 (user space)</a:t>
            </a:r>
          </a:p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2000" b="1" dirty="0"/>
              <a:t>Зачем это нужно: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Ошибка программы в Ring 3 не может напрямую сломать ядро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Единственный легальный путь в Ring 0 — системный вызов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Изоляция обеспечивается аппаратно самим процессором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1.2. Понятие системного вызова</a:t>
            </a:r>
          </a:p>
        </p:txBody>
      </p:sp>
      <p:sp>
        <p:nvSpPr>
          <p:cNvPr id="4" name="Content"/>
          <p:cNvSpPr>
            <a:spLocks noGrp="1" noChangeArrowheads="1"/>
          </p:cNvSpPr>
          <p:nvPr>
            <p:ph sz="half" idx="1"/>
          </p:nvPr>
        </p:nvSpPr>
        <p:spPr bwMode="auto">
          <a:xfrm>
            <a:off x="304800" y="2200000"/>
            <a:ext cx="5450000" cy="415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1800" b="1" dirty="0"/>
              <a:t>Системный вызов: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1550" dirty="0"/>
              <a:t>Программный интерфейс ядра для выполнения привилегированных операций из user space.</a:t>
            </a:r>
          </a:p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1800" b="1" dirty="0"/>
              <a:t>Пример — команда cat: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bash запускает процесс cat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cat вызывает open → read → write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Каждый вызов = переход в Ring 0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Ядро работает с ФС и устройствами</a:t>
            </a:r>
          </a:p>
        </p:txBody>
      </p:sp>
      <p:pic>
        <p:nvPicPr>
          <p:cNvPr id="5" name="P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305" y="2681880"/>
            <a:ext cx="4242742" cy="34100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1.3. Соглашение о передаче параметров</a:t>
            </a:r>
          </a:p>
        </p:txBody>
      </p:sp>
      <p:sp>
        <p:nvSpPr>
          <p:cNvPr id="4" name="Content"/>
          <p:cNvSpPr>
            <a:spLocks noGrp="1" noChangeArrowheads="1"/>
          </p:cNvSpPr>
          <p:nvPr>
            <p:ph idx="1"/>
          </p:nvPr>
        </p:nvSpPr>
        <p:spPr bwMode="auto">
          <a:xfrm>
            <a:off x="304800" y="2200000"/>
            <a:ext cx="11481254" cy="415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2000" b="1" dirty="0"/>
              <a:t>Регистры процессора x86-64: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RAX — номер вызова (0=read, 1=write, 2=open...)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RDI, RSI, RDX — 1-й, 2-й, 3-й аргументы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R10, R8, R9 — 4-й, 5-й, 6-й аргументы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RAX — возвращает результат после вызова</a:t>
            </a:r>
          </a:p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2000" b="1" dirty="0"/>
              <a:t>Почему R10 вместо RCX для 4-го аргумента?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1700" dirty="0"/>
              <a:t>Инструкция syscall сама записывает адрес возврата в RCX — он занят, поэтому 4-й аргумент перенесён в R10.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1.4–1.5. Инструкция syscall и обработка в ядре</a:t>
            </a:r>
          </a:p>
        </p:txBody>
      </p:sp>
      <p:sp>
        <p:nvSpPr>
          <p:cNvPr id="4" name="Content"/>
          <p:cNvSpPr>
            <a:spLocks noGrp="1" noChangeArrowheads="1"/>
          </p:cNvSpPr>
          <p:nvPr>
            <p:ph sz="half" idx="1"/>
          </p:nvPr>
        </p:nvSpPr>
        <p:spPr bwMode="auto">
          <a:xfrm>
            <a:off x="304800" y="2200000"/>
            <a:ext cx="5450000" cy="415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1700" b="1" dirty="0"/>
              <a:t>Инструкция syscall: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Адрес возврата → RCX, флаги → R11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Адрес обработчика — из MSR_LSTAR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Переключение Ring 3 → Ring 0</a:t>
            </a:r>
          </a:p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1700" b="1" dirty="0"/>
              <a:t>Путь в ядре (entry_SYSCALL_64):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Сохранить контекст, переключить стек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Найти обработчик в sys_call_table по RAX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Выполнить → результат в RAX → sysret</a:t>
            </a:r>
          </a:p>
        </p:txBody>
      </p:sp>
      <p:pic>
        <p:nvPicPr>
          <p:cNvPr id="5" name="P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273" y="2460566"/>
            <a:ext cx="3403156" cy="38228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1.6. Сравнение механизмов перехода</a:t>
            </a:r>
          </a:p>
        </p:txBody>
      </p:sp>
      <p:sp>
        <p:nvSpPr>
          <p:cNvPr id="4" name="Content"/>
          <p:cNvSpPr>
            <a:spLocks noGrp="1" noChangeArrowheads="1"/>
          </p:cNvSpPr>
          <p:nvPr>
            <p:ph idx="1"/>
          </p:nvPr>
        </p:nvSpPr>
        <p:spPr bwMode="auto">
          <a:xfrm>
            <a:off x="304800" y="2200000"/>
            <a:ext cx="11481254" cy="415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2000" b="1" dirty="0"/>
              <a:t>int 0x80 (32-бит):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Программное прерывание, поиск обработчика в IDT — медленно</a:t>
            </a:r>
          </a:p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2000" b="1" dirty="0"/>
              <a:t>sysenter (Intel):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Быстрее, но различия у Intel/AMD и ограничения в 64-бит</a:t>
            </a:r>
          </a:p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2000" b="1" dirty="0"/>
              <a:t>syscall (x86-64, стандарт):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Разработан AMD, адрес обработчика из MSR_LSTAR — быстро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Основной механизм в 64-бит Linux; int 0x80 — для совместимости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1.7. Практическая демонстрация: вызов из C</a:t>
            </a:r>
          </a:p>
        </p:txBody>
      </p:sp>
      <p:sp>
        <p:nvSpPr>
          <p:cNvPr id="4" name="Cap"/>
          <p:cNvSpPr/>
          <p:nvPr/>
        </p:nvSpPr>
        <p:spPr>
          <a:xfrm>
            <a:off x="229986" y="2556964"/>
            <a:ext cx="5791200" cy="157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0" rIns="91440" bIns="0" anchor="ctr">
            <a:normAutofit/>
          </a:bodyPr>
          <a:lstStyle/>
          <a:p>
            <a:r>
              <a:rPr lang="ru-RU" sz="1500" dirty="0"/>
              <a:t>Вызов write через syscall() напрямую с указанием номера SYS_write</a:t>
            </a:r>
          </a:p>
        </p:txBody>
      </p:sp>
      <p:pic>
        <p:nvPicPr>
          <p:cNvPr id="5" name="P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868" y="2701636"/>
            <a:ext cx="4108131" cy="32483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1.7. Трассировка вызовов (strace)</a:t>
            </a:r>
          </a:p>
        </p:txBody>
      </p:sp>
      <p:sp>
        <p:nvSpPr>
          <p:cNvPr id="4" name="Cap"/>
          <p:cNvSpPr/>
          <p:nvPr/>
        </p:nvSpPr>
        <p:spPr>
          <a:xfrm>
            <a:off x="570807" y="2972217"/>
            <a:ext cx="4217324" cy="140858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0" rIns="91440" bIns="0" anchor="ctr">
            <a:normAutofit/>
          </a:bodyPr>
          <a:lstStyle/>
          <a:p>
            <a:r>
              <a:rPr lang="ru-RU" sz="1500" dirty="0"/>
              <a:t>strace перехватывает все вызовы; write(1,...) — наш вызов, execve/mmap — загрузка программы</a:t>
            </a:r>
          </a:p>
        </p:txBody>
      </p:sp>
      <p:pic>
        <p:nvPicPr>
          <p:cNvPr id="5" name="P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50000"/>
            <a:ext cx="5404000" cy="365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1.7. Системный вызов write на ассемблере</a:t>
            </a:r>
          </a:p>
        </p:txBody>
      </p:sp>
      <p:sp>
        <p:nvSpPr>
          <p:cNvPr id="4" name="Cap"/>
          <p:cNvSpPr/>
          <p:nvPr/>
        </p:nvSpPr>
        <p:spPr>
          <a:xfrm>
            <a:off x="304800" y="1850000"/>
            <a:ext cx="28336240" cy="12340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0" rIns="91440" bIns="0" anchor="ctr">
            <a:normAutofit/>
          </a:bodyPr>
          <a:lstStyle/>
          <a:p>
            <a:r>
              <a:rPr lang="ru-RU" sz="1500" dirty="0"/>
              <a:t>RAX=1 (write), RDI=1 (stdout), RSI=адрес, RDX=длина → syscall</a:t>
            </a:r>
          </a:p>
        </p:txBody>
      </p:sp>
      <p:pic>
        <p:nvPicPr>
          <p:cNvPr id="5" name="P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627408"/>
            <a:ext cx="4913476" cy="32569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2.1. Механизм регистрации системного вызова</a:t>
            </a:r>
          </a:p>
        </p:txBody>
      </p:sp>
      <p:sp>
        <p:nvSpPr>
          <p:cNvPr id="4" name="Content"/>
          <p:cNvSpPr>
            <a:spLocks noGrp="1" noChangeArrowheads="1"/>
          </p:cNvSpPr>
          <p:nvPr>
            <p:ph idx="1"/>
          </p:nvPr>
        </p:nvSpPr>
        <p:spPr bwMode="auto">
          <a:xfrm>
            <a:off x="355373" y="2466007"/>
            <a:ext cx="11481254" cy="415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1700" dirty="0"/>
              <a:t>Таблица sys_call_table формируется статически при компиляции ядра. Добавление нового вызова требует правки исходников и пересборки ядра.</a:t>
            </a:r>
          </a:p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2000" b="1" dirty="0"/>
              <a:t>Три места в дереве исходников ядра: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syscall_64.tbl — строка с номером, именем и функцией-обработчиком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syscalls.h — прототип новой функции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kernel/sys.c — реализация через макрос SYSCALL_DEFINEn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1550" dirty="0"/>
              <a:t>Макрос SYSCALL_DEFINEn разворачивается в функцию sys_&lt;name&gt; и сам извлекает аргументы из регистров.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2.2. Проектирование sys_task_stats</a:t>
            </a:r>
          </a:p>
        </p:txBody>
      </p:sp>
      <p:sp>
        <p:nvSpPr>
          <p:cNvPr id="4" name="Content"/>
          <p:cNvSpPr>
            <a:spLocks noGrp="1" noChangeArrowheads="1"/>
          </p:cNvSpPr>
          <p:nvPr>
            <p:ph sz="half" idx="1"/>
          </p:nvPr>
        </p:nvSpPr>
        <p:spPr bwMode="auto">
          <a:xfrm>
            <a:off x="304800" y="2200000"/>
            <a:ext cx="5450000" cy="415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1700" b="1" dirty="0"/>
              <a:t>Назначение: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1500" dirty="0"/>
              <a:t>Возвращает информацию ядра о процессе по PID: состояние, приоритет, число потоков.</a:t>
            </a:r>
          </a:p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1700" b="1" dirty="0"/>
              <a:t>Сигнатура: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50" dirty="0">
                <a:latin typeface="Consolas"/>
              </a:rPr>
              <a:t>sys_task_stats(pid,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250" dirty="0">
                <a:latin typeface="Consolas"/>
              </a:rPr>
              <a:t>  buf, size)</a:t>
            </a:r>
          </a:p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1700" b="1" dirty="0"/>
              <a:t>Намеренно без 2 проверок: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размер size не ограничен сверху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права доступа не проверяются</a:t>
            </a:r>
          </a:p>
        </p:txBody>
      </p:sp>
      <p:pic>
        <p:nvPicPr>
          <p:cNvPr id="5" name="P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012" y="2617055"/>
            <a:ext cx="3644224" cy="37329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2.3. Реализация sys_task_stats</a:t>
            </a:r>
          </a:p>
        </p:txBody>
      </p:sp>
      <p:sp>
        <p:nvSpPr>
          <p:cNvPr id="4" name="Content"/>
          <p:cNvSpPr>
            <a:spLocks noGrp="1" noChangeArrowheads="1"/>
          </p:cNvSpPr>
          <p:nvPr>
            <p:ph idx="1"/>
          </p:nvPr>
        </p:nvSpPr>
        <p:spPr bwMode="auto">
          <a:xfrm>
            <a:off x="304800" y="2250000"/>
            <a:ext cx="11481254" cy="410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1600" b="1" dirty="0"/>
              <a:t>Регистрация номера (syscall_64.tbl):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350" dirty="0">
                <a:latin typeface="Consolas"/>
              </a:rPr>
              <a:t>449  common  task_stats  sys_task_stats</a:t>
            </a:r>
          </a:p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1600" b="1" dirty="0"/>
              <a:t>Обработчик (kernel/sys.c):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300" dirty="0">
                <a:latin typeface="Consolas"/>
              </a:rPr>
              <a:t>SYSCALL_DEFINE3(task_stats, pid_t, pid,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300" dirty="0">
                <a:latin typeface="Consolas"/>
              </a:rPr>
              <a:t>    void __user *, buf, size_t, size) {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300" dirty="0">
                <a:latin typeface="Consolas"/>
              </a:rPr>
              <a:t>  task = pid ? find_task_by_vpid(pid) : current;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300" dirty="0">
                <a:latin typeface="Consolas"/>
              </a:rPr>
              <a:t>  /* заполнение info из task_struct */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300" dirty="0">
                <a:latin typeface="Consolas"/>
              </a:rPr>
              <a:t>  /* size НЕ сравнивается с sizeof(info) */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300" dirty="0">
                <a:latin typeface="Consolas"/>
              </a:rPr>
              <a:t>  copy_to_user(ubuf, &amp;info, size);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3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2.4. Сборка и тестирование</a:t>
            </a:r>
          </a:p>
        </p:txBody>
      </p:sp>
      <p:sp>
        <p:nvSpPr>
          <p:cNvPr id="4" name="Content"/>
          <p:cNvSpPr>
            <a:spLocks noGrp="1" noChangeArrowheads="1"/>
          </p:cNvSpPr>
          <p:nvPr>
            <p:ph sz="half" idx="1"/>
          </p:nvPr>
        </p:nvSpPr>
        <p:spPr bwMode="auto">
          <a:xfrm>
            <a:off x="304800" y="2200000"/>
            <a:ext cx="5450000" cy="415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1700" b="1" dirty="0"/>
              <a:t>Сборка ядра: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make -j$(nproc)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make modules_install, make install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update-grub, перезагрузка</a:t>
            </a:r>
          </a:p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1700" b="1" dirty="0"/>
              <a:t>Результат теста (внизу):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Возвращены state, prio, потоки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Совпадает с /proc/[pid]/stat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Несуществующий PID → -ESRCH</a:t>
            </a:r>
          </a:p>
        </p:txBody>
      </p:sp>
      <p:pic>
        <p:nvPicPr>
          <p:cNvPr id="5" name="P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000" y="3100000"/>
            <a:ext cx="5450000" cy="293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3.1. Классификация уязвимостей</a:t>
            </a:r>
          </a:p>
        </p:txBody>
      </p:sp>
      <p:sp>
        <p:nvSpPr>
          <p:cNvPr id="4" name="Content"/>
          <p:cNvSpPr>
            <a:spLocks noGrp="1" noChangeArrowheads="1"/>
          </p:cNvSpPr>
          <p:nvPr>
            <p:ph idx="1"/>
          </p:nvPr>
        </p:nvSpPr>
        <p:spPr bwMode="auto">
          <a:xfrm>
            <a:off x="304800" y="2200000"/>
            <a:ext cx="11481254" cy="415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1600" dirty="0"/>
              <a:t>Системные вызовы — граница между user space и kernel space. Данные из user space недостоверны, любая недостаточная проверка в ядре — угроза.</a:t>
            </a:r>
          </a:p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2000" b="1" dirty="0"/>
              <a:t>Основные типы ошибок: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Некорректная проверка указателей и размера данных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Отсутствие проверки аргументов (fd, флаги, id)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Ошибки управления памятью (use-after-free, double free)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Ошибки инициализации структур ядра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Состояние гонки (race condition)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Ошибки проверки прав доступа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3.2. CVE-2022-0847 — Dirty Pipe</a:t>
            </a:r>
          </a:p>
        </p:txBody>
      </p:sp>
      <p:sp>
        <p:nvSpPr>
          <p:cNvPr id="4" name="Content"/>
          <p:cNvSpPr>
            <a:spLocks noGrp="1" noChangeArrowheads="1"/>
          </p:cNvSpPr>
          <p:nvPr>
            <p:ph idx="1"/>
          </p:nvPr>
        </p:nvSpPr>
        <p:spPr bwMode="auto">
          <a:xfrm>
            <a:off x="304800" y="2200000"/>
            <a:ext cx="11481254" cy="415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2000" b="1" dirty="0"/>
              <a:t>Уязвимость (ядро Linux ≥ 5.8):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push_pipe и copy_page_to_iter_pipe не обнуляли flags в структуре pipe_buffer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Флаг PIPE_BUF_FLAG_CAN_MERGE «наследовался» от прошлого использования слота</a:t>
            </a:r>
          </a:p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2000" b="1" dirty="0"/>
              <a:t>Механизм атаки (pipe → splice → write):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pipe()+write() — установить флаг CAN_MERGE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splice() — подставить страницу read-only файла</a:t>
            </a:r>
          </a:p>
          <a:p>
            <a:pPr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650" dirty="0"/>
              <a:t>write() — ядро пишет в page cache файла в обход прав</a:t>
            </a:r>
          </a:p>
          <a:p>
            <a:pPr>
              <a:lnSpc>
                <a:spcPct val="100000"/>
              </a:lnSpc>
              <a:spcBef>
                <a:spcPts val="500"/>
              </a:spcBef>
              <a:buNone/>
            </a:pPr>
            <a:r>
              <a:rPr lang="ru-RU" sz="1700" b="1" dirty="0"/>
              <a:t>Итог: запись в read-only файлы → повышение до root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3.3. Демонстрация эксплуатации</a:t>
            </a:r>
          </a:p>
        </p:txBody>
      </p:sp>
      <p:sp>
        <p:nvSpPr>
          <p:cNvPr id="4" name="Content"/>
          <p:cNvSpPr>
            <a:spLocks noGrp="1" noChangeArrowheads="1"/>
          </p:cNvSpPr>
          <p:nvPr>
            <p:ph sz="half" idx="1"/>
          </p:nvPr>
        </p:nvSpPr>
        <p:spPr bwMode="auto">
          <a:xfrm>
            <a:off x="304800" y="2200000"/>
            <a:ext cx="5450000" cy="415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>
              <a:spcBef>
                <a:spcPts val="500"/>
              </a:spcBef>
              <a:buNone/>
            </a:pPr>
            <a:r>
              <a:rPr lang="ru-RU" sz="1750" b="1" dirty="0"/>
              <a:t>Условия:</a:t>
            </a:r>
          </a:p>
          <a:p>
            <a:pPr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Файл read_only_file.txt с правами только на чтение (r--r--r--)</a:t>
            </a:r>
          </a:p>
          <a:p>
            <a:pPr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Владелец — root, запуск от обычного пользователя vavka</a:t>
            </a:r>
          </a:p>
          <a:p>
            <a:pPr>
              <a:spcBef>
                <a:spcPts val="500"/>
              </a:spcBef>
              <a:buNone/>
            </a:pPr>
            <a:r>
              <a:rPr lang="ru-RU" sz="1750" b="1" dirty="0"/>
              <a:t>Результат:</a:t>
            </a:r>
          </a:p>
          <a:p>
            <a:pPr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Эксплойт запускается без прав root</a:t>
            </a:r>
          </a:p>
          <a:p>
            <a:pPr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Содержимое файла изменено</a:t>
            </a:r>
          </a:p>
          <a:p>
            <a:pPr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500" dirty="0"/>
              <a:t>«This is a read only exploit» — запись прошла в обход прав</a:t>
            </a:r>
          </a:p>
        </p:txBody>
      </p:sp>
      <p:pic>
        <p:nvPicPr>
          <p:cNvPr id="5" name="P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2200000"/>
            <a:ext cx="5400000" cy="354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3.3. Исправление уязвимости</a:t>
            </a:r>
          </a:p>
        </p:txBody>
      </p:sp>
      <p:sp>
        <p:nvSpPr>
          <p:cNvPr id="4" name="Cap"/>
          <p:cNvSpPr/>
          <p:nvPr/>
        </p:nvSpPr>
        <p:spPr>
          <a:xfrm>
            <a:off x="355373" y="2150000"/>
            <a:ext cx="11481254" cy="50000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ru-RU" sz="1500" dirty="0"/>
              <a:t>Патч добавляет одну строку buf-&gt;flags = 0 в обе функции — флаг всегда обнуляется</a:t>
            </a:r>
          </a:p>
        </p:txBody>
      </p:sp>
      <p:pic>
        <p:nvPicPr>
          <p:cNvPr id="5" name="P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2650000"/>
            <a:ext cx="10000000" cy="338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3.4. Уязвимости в sys_task_stats</a:t>
            </a:r>
          </a:p>
        </p:txBody>
      </p:sp>
      <p:sp>
        <p:nvSpPr>
          <p:cNvPr id="4" name="Content"/>
          <p:cNvSpPr>
            <a:spLocks noGrp="1" noChangeArrowheads="1"/>
          </p:cNvSpPr>
          <p:nvPr>
            <p:ph sz="half" idx="1"/>
          </p:nvPr>
        </p:nvSpPr>
        <p:spPr bwMode="auto">
          <a:xfrm>
            <a:off x="304800" y="2200000"/>
            <a:ext cx="5450000" cy="415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>
              <a:spcBef>
                <a:spcPts val="500"/>
              </a:spcBef>
              <a:buNone/>
            </a:pPr>
            <a:r>
              <a:rPr lang="ru-RU" sz="1650" b="1" dirty="0"/>
              <a:t>Отсутствие проверки прав:</a:t>
            </a:r>
          </a:p>
          <a:p>
            <a:pPr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450" dirty="0"/>
              <a:t>Вызов с PID 1 (процесс root) от обычного пользователя возвращает данные root</a:t>
            </a:r>
          </a:p>
          <a:p>
            <a:pPr>
              <a:spcBef>
                <a:spcPts val="500"/>
              </a:spcBef>
              <a:buNone/>
            </a:pPr>
            <a:r>
              <a:rPr lang="ru-RU" sz="1650" b="1" dirty="0"/>
              <a:t>Отсутствие проверки size:</a:t>
            </a:r>
          </a:p>
          <a:p>
            <a:pPr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450" dirty="0"/>
              <a:t>size не ограничен sizeof(info) = 48 байт</a:t>
            </a:r>
          </a:p>
          <a:p>
            <a:pPr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450" dirty="0"/>
              <a:t>Запрос &gt; 48 байт → Bad address</a:t>
            </a:r>
          </a:p>
          <a:p>
            <a:pPr>
              <a:spcBef>
                <a:spcPts val="300"/>
              </a:spcBef>
              <a:buClrTx/>
              <a:buSzTx/>
              <a:buFontTx/>
              <a:buChar char="•"/>
            </a:pPr>
            <a:r>
              <a:rPr lang="ru-RU" sz="1450" dirty="0"/>
              <a:t>Спасает только защита памяти ядра, а не код вызова</a:t>
            </a:r>
          </a:p>
        </p:txBody>
      </p:sp>
      <p:pic>
        <p:nvPicPr>
          <p:cNvPr id="5" name="P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2550000"/>
            <a:ext cx="5450000" cy="290000"/>
          </a:xfrm>
          <a:prstGeom prst="rect">
            <a:avLst/>
          </a:prstGeom>
        </p:spPr>
      </p:pic>
      <p:pic>
        <p:nvPicPr>
          <p:cNvPr id="6" name="Pic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0" y="3150000"/>
            <a:ext cx="5450000" cy="240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half" idx="2"/>
          </p:nvPr>
        </p:nvSpPr>
        <p:spPr>
          <a:xfrm>
            <a:off x="496390" y="1900000"/>
            <a:ext cx="11129554" cy="4700000"/>
          </a:xfrm>
        </p:spPr>
        <p:txBody>
          <a:bodyPr>
            <a:normAutofit/>
          </a:bodyPr>
          <a:lstStyle/>
          <a:p>
            <a:pPr>
              <a:spcBef>
                <a:spcPts val="500"/>
              </a:spcBef>
              <a:buNone/>
            </a:pPr>
            <a:r>
              <a:rPr lang="ru-RU" sz="1600" dirty="0"/>
              <a:t>— Изучен механизм перехода Ring 3 → Ring 0 через syscall, роль MSR_LSTAR и sys_call_table</a:t>
            </a:r>
          </a:p>
          <a:p>
            <a:pPr>
              <a:spcBef>
                <a:spcPts val="500"/>
              </a:spcBef>
              <a:buNone/>
            </a:pPr>
            <a:r>
              <a:rPr lang="ru-RU" sz="1600" dirty="0"/>
              <a:t>— Проведено сравнение механизмов int 0x80, sysenter и syscall</a:t>
            </a:r>
          </a:p>
          <a:p>
            <a:pPr>
              <a:spcBef>
                <a:spcPts val="500"/>
              </a:spcBef>
              <a:buNone/>
            </a:pPr>
            <a:r>
              <a:rPr lang="ru-RU" sz="1600" dirty="0"/>
              <a:t>— Практически продемонстрированы системные вызовы: strace, C, ассемблер</a:t>
            </a:r>
          </a:p>
          <a:p>
            <a:pPr>
              <a:spcBef>
                <a:spcPts val="500"/>
              </a:spcBef>
              <a:buNone/>
            </a:pPr>
            <a:r>
              <a:rPr lang="ru-RU" sz="1600" dirty="0"/>
              <a:t>— Разработан и внедрён в ядро Linux собственный вызов sys_task_stats, работа подтверждена тестами</a:t>
            </a:r>
          </a:p>
          <a:p>
            <a:pPr>
              <a:spcBef>
                <a:spcPts val="500"/>
              </a:spcBef>
              <a:buNone/>
            </a:pPr>
            <a:r>
              <a:rPr lang="ru-RU" sz="1600" dirty="0"/>
              <a:t>— Проанализирована CVE-2022-0847 (Dirty Pipe) и продемонстрирована эксплуатация</a:t>
            </a:r>
          </a:p>
          <a:p>
            <a:pPr>
              <a:spcBef>
                <a:spcPts val="500"/>
              </a:spcBef>
              <a:buNone/>
            </a:pPr>
            <a:r>
              <a:rPr lang="ru-RU" sz="1600" dirty="0"/>
              <a:t>— На своём вызове показаны уязвимости: отсутствие проверки прав и размера буфера</a:t>
            </a:r>
          </a:p>
          <a:p>
            <a:pPr>
              <a:spcBef>
                <a:spcPts val="500"/>
              </a:spcBef>
              <a:buNone/>
            </a:pPr>
            <a:r>
              <a:rPr lang="ru-RU" sz="1600" dirty="0"/>
              <a:t>— Вывод: системные вызовы — критическая граница доверия, требующая строгого контроля в ядре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{F42EA886-C50F-4608-B76E-6B302EB506FB}TF229edf6a-8a49-49ee-a0a6-503705294748d498127c-ea44353b4d54</Template>
  <TotalTime>5548</TotalTime>
  <Words>1237</Words>
  <Application>Microsoft Office PowerPoint</Application>
  <PresentationFormat>Широкоэкранный</PresentationFormat>
  <Paragraphs>138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Century Gothic</vt:lpstr>
      <vt:lpstr>Consolas</vt:lpstr>
      <vt:lpstr>Wingdings 3</vt:lpstr>
      <vt:lpstr>Совет директоров</vt:lpstr>
      <vt:lpstr>Реализация и анализ системных вызовов в архитектуре x86-64</vt:lpstr>
      <vt:lpstr>Цель и задачи работы</vt:lpstr>
      <vt:lpstr>1.1. Кольца защиты и разделение привилегий</vt:lpstr>
      <vt:lpstr>1.2. Понятие системного вызова</vt:lpstr>
      <vt:lpstr>1.3. Соглашение о передаче параметров</vt:lpstr>
      <vt:lpstr>1.4–1.5. Инструкция syscall и обработка в ядре</vt:lpstr>
      <vt:lpstr>1.6. Сравнение механизмов перехода</vt:lpstr>
      <vt:lpstr>1.7. Практическая демонстрация: вызов из C</vt:lpstr>
      <vt:lpstr>1.7. Трассировка вызовов (strace)</vt:lpstr>
      <vt:lpstr>1.7. Системный вызов write на ассемблере</vt:lpstr>
      <vt:lpstr>2.1. Механизм регистрации системного вызова</vt:lpstr>
      <vt:lpstr>2.2. Проектирование sys_task_stats</vt:lpstr>
      <vt:lpstr>2.3. Реализация sys_task_stats</vt:lpstr>
      <vt:lpstr>2.4. Сборка и тестирование</vt:lpstr>
      <vt:lpstr>3.1. Классификация уязвимостей</vt:lpstr>
      <vt:lpstr>3.2. CVE-2022-0847 — Dirty Pipe</vt:lpstr>
      <vt:lpstr>3.3. Демонстрация эксплуатации</vt:lpstr>
      <vt:lpstr>3.3. Исправление уязвимости</vt:lpstr>
      <vt:lpstr>3.4. Уязвимости в sys_task_stats</vt:lpstr>
      <vt:lpstr>Заключение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Софья Вылегжанина</dc:creator>
  <cp:lastModifiedBy>Илья Эков</cp:lastModifiedBy>
  <cp:revision>6</cp:revision>
  <dcterms:created xsi:type="dcterms:W3CDTF">2026-09-10T12:16:12Z</dcterms:created>
  <dcterms:modified xsi:type="dcterms:W3CDTF">2026-09-24T13:57:59Z</dcterms:modified>
</cp:coreProperties>
</file>