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9" r:id="rId3"/>
    <p:sldId id="260" r:id="rId4"/>
    <p:sldId id="261" r:id="rId5"/>
    <p:sldId id="257" r:id="rId6"/>
    <p:sldId id="258"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0" d="100"/>
          <a:sy n="130" d="100"/>
        </p:scale>
        <p:origin x="82" y="31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5740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F05"/>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A7A1A"/>
          </a:solidFill>
          <a:ln/>
        </p:spPr>
      </p:sp>
      <p:sp>
        <p:nvSpPr>
          <p:cNvPr id="3" name="Shape 1"/>
          <p:cNvSpPr/>
          <p:nvPr/>
        </p:nvSpPr>
        <p:spPr>
          <a:xfrm>
            <a:off x="0" y="0"/>
            <a:ext cx="9144000" cy="54864"/>
          </a:xfrm>
          <a:prstGeom prst="rect">
            <a:avLst/>
          </a:prstGeom>
          <a:solidFill>
            <a:srgbClr val="00FF41"/>
          </a:solidFill>
          <a:ln/>
        </p:spPr>
      </p:sp>
      <p:sp>
        <p:nvSpPr>
          <p:cNvPr id="4" name="Shape 2"/>
          <p:cNvSpPr/>
          <p:nvPr/>
        </p:nvSpPr>
        <p:spPr>
          <a:xfrm>
            <a:off x="0" y="5088636"/>
            <a:ext cx="9144000" cy="54864"/>
          </a:xfrm>
          <a:prstGeom prst="rect">
            <a:avLst/>
          </a:prstGeom>
          <a:solidFill>
            <a:srgbClr val="00FF41"/>
          </a:solidFill>
          <a:ln/>
        </p:spPr>
      </p:sp>
      <p:pic>
        <p:nvPicPr>
          <p:cNvPr id="5" name="Image 0" descr="/home/claude/img1.png"/>
          <p:cNvPicPr>
            <a:picLocks noChangeAspect="1"/>
          </p:cNvPicPr>
          <p:nvPr/>
        </p:nvPicPr>
        <p:blipFill>
          <a:blip r:embed="rId3"/>
          <a:srcRect/>
          <a:stretch/>
        </p:blipFill>
        <p:spPr>
          <a:xfrm>
            <a:off x="5029200" y="0"/>
            <a:ext cx="4114800" cy="5143500"/>
          </a:xfrm>
          <a:prstGeom prst="rect">
            <a:avLst/>
          </a:prstGeom>
        </p:spPr>
      </p:pic>
      <p:sp>
        <p:nvSpPr>
          <p:cNvPr id="6" name="Shape 3"/>
          <p:cNvSpPr/>
          <p:nvPr/>
        </p:nvSpPr>
        <p:spPr>
          <a:xfrm>
            <a:off x="5029200" y="0"/>
            <a:ext cx="4114800" cy="5143500"/>
          </a:xfrm>
          <a:prstGeom prst="rect">
            <a:avLst/>
          </a:prstGeom>
          <a:solidFill>
            <a:srgbClr val="000000">
              <a:alpha val="60000"/>
            </a:srgbClr>
          </a:solidFill>
          <a:ln/>
        </p:spPr>
      </p:sp>
      <p:sp>
        <p:nvSpPr>
          <p:cNvPr id="7" name="Shape 4"/>
          <p:cNvSpPr/>
          <p:nvPr/>
        </p:nvSpPr>
        <p:spPr>
          <a:xfrm>
            <a:off x="4572000" y="0"/>
            <a:ext cx="1097280" cy="5143500"/>
          </a:xfrm>
          <a:prstGeom prst="rect">
            <a:avLst/>
          </a:prstGeom>
          <a:solidFill>
            <a:srgbClr val="050F05"/>
          </a:solidFill>
          <a:ln/>
        </p:spPr>
      </p:sp>
      <p:sp>
        <p:nvSpPr>
          <p:cNvPr id="8" name="Shape 5"/>
          <p:cNvSpPr/>
          <p:nvPr/>
        </p:nvSpPr>
        <p:spPr>
          <a:xfrm>
            <a:off x="411480" y="731520"/>
            <a:ext cx="2194560" cy="384048"/>
          </a:xfrm>
          <a:prstGeom prst="rect">
            <a:avLst/>
          </a:prstGeom>
          <a:solidFill>
            <a:srgbClr val="1A7A1A"/>
          </a:solidFill>
          <a:ln/>
        </p:spPr>
      </p:sp>
      <p:sp>
        <p:nvSpPr>
          <p:cNvPr id="9" name="Text 6"/>
          <p:cNvSpPr/>
          <p:nvPr/>
        </p:nvSpPr>
        <p:spPr>
          <a:xfrm>
            <a:off x="411480" y="731520"/>
            <a:ext cx="2194560" cy="384048"/>
          </a:xfrm>
          <a:prstGeom prst="rect">
            <a:avLst/>
          </a:prstGeom>
          <a:noFill/>
          <a:ln/>
        </p:spPr>
        <p:txBody>
          <a:bodyPr wrap="square" lIns="0" tIns="0" rIns="0" bIns="0" rtlCol="0" anchor="ctr"/>
          <a:lstStyle/>
          <a:p>
            <a:pPr marL="0" indent="0" algn="ctr">
              <a:buNone/>
            </a:pPr>
            <a:r>
              <a:rPr lang="en-US" sz="900" b="1" dirty="0">
                <a:solidFill>
                  <a:srgbClr val="00FF41"/>
                </a:solidFill>
              </a:rPr>
              <a:t>PUBLIC SPEECH</a:t>
            </a:r>
            <a:endParaRPr lang="en-US" sz="900" dirty="0"/>
          </a:p>
        </p:txBody>
      </p:sp>
      <p:sp>
        <p:nvSpPr>
          <p:cNvPr id="10" name="Text 7"/>
          <p:cNvSpPr/>
          <p:nvPr/>
        </p:nvSpPr>
        <p:spPr>
          <a:xfrm>
            <a:off x="411480" y="1325880"/>
            <a:ext cx="4389120" cy="2377440"/>
          </a:xfrm>
          <a:prstGeom prst="rect">
            <a:avLst/>
          </a:prstGeom>
          <a:noFill/>
          <a:ln/>
        </p:spPr>
        <p:txBody>
          <a:bodyPr wrap="square" rtlCol="0" anchor="t"/>
          <a:lstStyle/>
          <a:p>
            <a:pPr marL="0" indent="0" algn="l">
              <a:lnSpc>
                <a:spcPct val="90000"/>
              </a:lnSpc>
              <a:buNone/>
            </a:pPr>
            <a:r>
              <a:rPr lang="en-US" sz="7200" b="1" dirty="0">
                <a:solidFill>
                  <a:srgbClr val="FFFFFF"/>
                </a:solidFill>
                <a:latin typeface="Arial Black" pitchFamily="34" charset="0"/>
                <a:ea typeface="Arial Black" pitchFamily="34" charset="-122"/>
                <a:cs typeface="Arial Black" pitchFamily="34" charset="-120"/>
              </a:rPr>
              <a:t>CYBER-</a:t>
            </a:r>
            <a:endParaRPr lang="en-US" sz="7200" dirty="0"/>
          </a:p>
          <a:p>
            <a:pPr marL="0" indent="0" algn="l">
              <a:lnSpc>
                <a:spcPct val="90000"/>
              </a:lnSpc>
              <a:buNone/>
            </a:pPr>
            <a:r>
              <a:rPr lang="en-US" sz="7200" b="1" dirty="0">
                <a:solidFill>
                  <a:srgbClr val="FFFFFF"/>
                </a:solidFill>
                <a:latin typeface="Arial Black" pitchFamily="34" charset="0"/>
                <a:ea typeface="Arial Black" pitchFamily="34" charset="-122"/>
                <a:cs typeface="Arial Black" pitchFamily="34" charset="-120"/>
              </a:rPr>
              <a:t>SPORT</a:t>
            </a:r>
            <a:endParaRPr lang="en-US" sz="7200" dirty="0"/>
          </a:p>
        </p:txBody>
      </p:sp>
      <p:sp>
        <p:nvSpPr>
          <p:cNvPr id="11" name="Text 8"/>
          <p:cNvSpPr/>
          <p:nvPr/>
        </p:nvSpPr>
        <p:spPr>
          <a:xfrm>
            <a:off x="411480" y="3749040"/>
            <a:ext cx="4389120" cy="914400"/>
          </a:xfrm>
          <a:prstGeom prst="rect">
            <a:avLst/>
          </a:prstGeom>
          <a:noFill/>
          <a:ln/>
        </p:spPr>
        <p:txBody>
          <a:bodyPr wrap="square" rtlCol="0" anchor="ctr"/>
          <a:lstStyle/>
          <a:p>
            <a:pPr marL="0" indent="0" algn="l">
              <a:buNone/>
            </a:pPr>
            <a:r>
              <a:rPr lang="en-US" sz="1500" dirty="0">
                <a:solidFill>
                  <a:srgbClr val="00FF41"/>
                </a:solidFill>
                <a:latin typeface="Calibri" pitchFamily="34" charset="0"/>
                <a:ea typeface="Calibri" pitchFamily="34" charset="-122"/>
                <a:cs typeface="Calibri" pitchFamily="34" charset="-120"/>
              </a:rPr>
              <a:t>Professional gaming:</a:t>
            </a:r>
            <a:endParaRPr lang="en-US" sz="1500" dirty="0"/>
          </a:p>
          <a:p>
            <a:pPr marL="0" indent="0" algn="l">
              <a:buNone/>
            </a:pPr>
            <a:r>
              <a:rPr lang="en-US" sz="1500" dirty="0">
                <a:solidFill>
                  <a:srgbClr val="00FF41"/>
                </a:solidFill>
                <a:latin typeface="Calibri" pitchFamily="34" charset="0"/>
                <a:ea typeface="Calibri" pitchFamily="34" charset="-122"/>
                <a:cs typeface="Calibri" pitchFamily="34" charset="-120"/>
              </a:rPr>
              <a:t>from hobby to world-class level</a:t>
            </a:r>
            <a:endParaRPr lang="en-US" sz="1500" dirty="0"/>
          </a:p>
        </p:txBody>
      </p:sp>
      <p:sp>
        <p:nvSpPr>
          <p:cNvPr id="12" name="Text 9"/>
          <p:cNvSpPr/>
          <p:nvPr/>
        </p:nvSpPr>
        <p:spPr>
          <a:xfrm>
            <a:off x="411480" y="4663440"/>
            <a:ext cx="4389120" cy="320040"/>
          </a:xfrm>
          <a:prstGeom prst="rect">
            <a:avLst/>
          </a:prstGeom>
          <a:noFill/>
          <a:ln/>
        </p:spPr>
        <p:txBody>
          <a:bodyPr wrap="square" rtlCol="0" anchor="ctr"/>
          <a:lstStyle/>
          <a:p>
            <a:pPr marL="0" indent="0">
              <a:buNone/>
            </a:pPr>
            <a:r>
              <a:rPr lang="en-US" sz="1100" i="1" dirty="0">
                <a:solidFill>
                  <a:srgbClr val="B0C8B0"/>
                </a:solidFill>
                <a:latin typeface="Calibri" pitchFamily="34" charset="0"/>
                <a:ea typeface="Calibri" pitchFamily="34" charset="-122"/>
                <a:cs typeface="Calibri" pitchFamily="34" charset="-120"/>
              </a:rPr>
              <a:t>Presentation based on a research essay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bg>
      <p:bgPr>
        <a:solidFill>
          <a:srgbClr val="050F0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FF41"/>
          </a:solidFill>
          <a:ln/>
        </p:spPr>
      </p:sp>
      <p:sp>
        <p:nvSpPr>
          <p:cNvPr id="3" name="Text 1"/>
          <p:cNvSpPr/>
          <p:nvPr/>
        </p:nvSpPr>
        <p:spPr>
          <a:xfrm>
            <a:off x="365760" y="164592"/>
            <a:ext cx="6858000" cy="502920"/>
          </a:xfrm>
          <a:prstGeom prst="rect">
            <a:avLst/>
          </a:prstGeom>
          <a:noFill/>
          <a:ln/>
        </p:spPr>
        <p:txBody>
          <a:bodyPr wrap="square" lIns="0" tIns="0" rIns="0" bIns="0" rtlCol="0" anchor="ctr"/>
          <a:lstStyle/>
          <a:p>
            <a:pPr marL="0" indent="0" algn="l">
              <a:buNone/>
            </a:pPr>
            <a:r>
              <a:rPr lang="en-US" sz="3000" b="1" dirty="0">
                <a:solidFill>
                  <a:srgbClr val="FFFFFF"/>
                </a:solidFill>
                <a:latin typeface="Arial Black" pitchFamily="34" charset="0"/>
                <a:ea typeface="Arial Black" pitchFamily="34" charset="-122"/>
                <a:cs typeface="Arial Black" pitchFamily="34" charset="-120"/>
              </a:rPr>
              <a:t>WHO ARE GAMERS?</a:t>
            </a:r>
            <a:endParaRPr lang="en-US" sz="3000" dirty="0"/>
          </a:p>
        </p:txBody>
      </p:sp>
      <p:sp>
        <p:nvSpPr>
          <p:cNvPr id="4" name="Text 2"/>
          <p:cNvSpPr/>
          <p:nvPr/>
        </p:nvSpPr>
        <p:spPr>
          <a:xfrm>
            <a:off x="7223760" y="201168"/>
            <a:ext cx="1645920" cy="411480"/>
          </a:xfrm>
          <a:prstGeom prst="rect">
            <a:avLst/>
          </a:prstGeom>
          <a:noFill/>
          <a:ln/>
        </p:spPr>
        <p:txBody>
          <a:bodyPr wrap="square" lIns="0" tIns="0" rIns="0" bIns="0" rtlCol="0" anchor="ctr"/>
          <a:lstStyle/>
          <a:p>
            <a:pPr marL="0" indent="0" algn="r">
              <a:buNone/>
            </a:pPr>
            <a:r>
              <a:rPr lang="en-US" sz="1300" b="1" dirty="0">
                <a:solidFill>
                  <a:srgbClr val="39D353"/>
                </a:solidFill>
                <a:latin typeface="Calibri" pitchFamily="34" charset="0"/>
                <a:ea typeface="Calibri" pitchFamily="34" charset="-122"/>
                <a:cs typeface="Calibri" pitchFamily="34" charset="-120"/>
              </a:rPr>
              <a:t>1 / 3</a:t>
            </a:r>
            <a:endParaRPr lang="en-US" sz="1300" dirty="0"/>
          </a:p>
        </p:txBody>
      </p:sp>
      <p:sp>
        <p:nvSpPr>
          <p:cNvPr id="5" name="Text 3"/>
          <p:cNvSpPr/>
          <p:nvPr/>
        </p:nvSpPr>
        <p:spPr>
          <a:xfrm>
            <a:off x="365760" y="694944"/>
            <a:ext cx="8412480" cy="292608"/>
          </a:xfrm>
          <a:prstGeom prst="rect">
            <a:avLst/>
          </a:prstGeom>
          <a:noFill/>
          <a:ln/>
        </p:spPr>
        <p:txBody>
          <a:bodyPr wrap="square" rtlCol="0" anchor="ctr"/>
          <a:lstStyle/>
          <a:p>
            <a:pPr marL="0" indent="0" algn="l">
              <a:buNone/>
            </a:pPr>
            <a:r>
              <a:rPr lang="en-US" sz="1300" i="1" dirty="0">
                <a:solidFill>
                  <a:srgbClr val="39D353"/>
                </a:solidFill>
                <a:latin typeface="Calibri" pitchFamily="34" charset="0"/>
                <a:ea typeface="Calibri" pitchFamily="34" charset="-122"/>
                <a:cs typeface="Calibri" pitchFamily="34" charset="-120"/>
              </a:rPr>
              <a:t>Gaming is for everyone — from casual players to future champions</a:t>
            </a:r>
            <a:endParaRPr lang="en-US" sz="1300" dirty="0"/>
          </a:p>
        </p:txBody>
      </p:sp>
      <p:sp>
        <p:nvSpPr>
          <p:cNvPr id="6" name="Shape 4"/>
          <p:cNvSpPr/>
          <p:nvPr/>
        </p:nvSpPr>
        <p:spPr>
          <a:xfrm>
            <a:off x="228600" y="1042416"/>
            <a:ext cx="4206240" cy="3931920"/>
          </a:xfrm>
          <a:prstGeom prst="rect">
            <a:avLst/>
          </a:prstGeom>
          <a:solidFill>
            <a:srgbClr val="152015"/>
          </a:solidFill>
          <a:ln/>
        </p:spPr>
      </p:sp>
      <p:sp>
        <p:nvSpPr>
          <p:cNvPr id="7" name="Shape 5"/>
          <p:cNvSpPr/>
          <p:nvPr/>
        </p:nvSpPr>
        <p:spPr>
          <a:xfrm>
            <a:off x="228600" y="1042416"/>
            <a:ext cx="4206240" cy="54864"/>
          </a:xfrm>
          <a:prstGeom prst="rect">
            <a:avLst/>
          </a:prstGeom>
          <a:solidFill>
            <a:srgbClr val="00FF41"/>
          </a:solidFill>
          <a:ln/>
        </p:spPr>
      </p:sp>
      <p:pic>
        <p:nvPicPr>
          <p:cNvPr id="8" name="Image 0"/>
          <p:cNvPicPr>
            <a:picLocks noChangeAspect="1"/>
          </p:cNvPicPr>
          <p:nvPr/>
        </p:nvPicPr>
        <p:blipFill>
          <a:blip r:embed="rId3"/>
          <a:srcRect/>
          <a:stretch/>
        </p:blipFill>
        <p:spPr>
          <a:xfrm>
            <a:off x="228601" y="1097280"/>
            <a:ext cx="4114800" cy="3893624"/>
          </a:xfrm>
          <a:prstGeom prst="rect">
            <a:avLst/>
          </a:prstGeom>
        </p:spPr>
      </p:pic>
      <p:sp>
        <p:nvSpPr>
          <p:cNvPr id="9" name="Shape 6"/>
          <p:cNvSpPr/>
          <p:nvPr/>
        </p:nvSpPr>
        <p:spPr>
          <a:xfrm>
            <a:off x="228600" y="4471416"/>
            <a:ext cx="4206240" cy="502920"/>
          </a:xfrm>
          <a:prstGeom prst="rect">
            <a:avLst/>
          </a:prstGeom>
          <a:solidFill>
            <a:srgbClr val="1A7A1A"/>
          </a:solidFill>
          <a:ln/>
        </p:spPr>
      </p:sp>
      <p:sp>
        <p:nvSpPr>
          <p:cNvPr id="10" name="Text 7"/>
          <p:cNvSpPr/>
          <p:nvPr/>
        </p:nvSpPr>
        <p:spPr>
          <a:xfrm>
            <a:off x="338328" y="4498848"/>
            <a:ext cx="3986784" cy="256032"/>
          </a:xfrm>
          <a:prstGeom prst="rect">
            <a:avLst/>
          </a:prstGeom>
          <a:noFill/>
          <a:ln/>
        </p:spPr>
        <p:txBody>
          <a:bodyPr wrap="square" lIns="0" tIns="0" rIns="0" bIns="0" rtlCol="0" anchor="ctr"/>
          <a:lstStyle/>
          <a:p>
            <a:pPr marL="0" indent="0">
              <a:buNone/>
            </a:pPr>
            <a:r>
              <a:rPr lang="en-US" sz="1400" b="1" dirty="0">
                <a:solidFill>
                  <a:srgbClr val="00FF41"/>
                </a:solidFill>
                <a:latin typeface="Calibri" pitchFamily="34" charset="0"/>
                <a:ea typeface="Calibri" pitchFamily="34" charset="-122"/>
                <a:cs typeface="Calibri" pitchFamily="34" charset="-120"/>
              </a:rPr>
              <a:t>The Sims</a:t>
            </a:r>
            <a:endParaRPr lang="en-US" sz="1400" dirty="0"/>
          </a:p>
        </p:txBody>
      </p:sp>
      <p:sp>
        <p:nvSpPr>
          <p:cNvPr id="11" name="Text 8"/>
          <p:cNvSpPr/>
          <p:nvPr/>
        </p:nvSpPr>
        <p:spPr>
          <a:xfrm>
            <a:off x="338328" y="4727448"/>
            <a:ext cx="3986784" cy="201168"/>
          </a:xfrm>
          <a:prstGeom prst="rect">
            <a:avLst/>
          </a:prstGeom>
          <a:noFill/>
          <a:ln/>
        </p:spPr>
        <p:txBody>
          <a:bodyPr wrap="square" lIns="0" tIns="0" rIns="0" bIns="0" rtlCol="0" anchor="ctr"/>
          <a:lstStyle/>
          <a:p>
            <a:pPr marL="0" indent="0">
              <a:buNone/>
            </a:pPr>
            <a:r>
              <a:rPr lang="en-US" sz="1100" i="1" dirty="0">
                <a:solidFill>
                  <a:srgbClr val="B0C8B0"/>
                </a:solidFill>
                <a:latin typeface="Calibri" pitchFamily="34" charset="0"/>
                <a:ea typeface="Calibri" pitchFamily="34" charset="-122"/>
                <a:cs typeface="Calibri" pitchFamily="34" charset="-120"/>
              </a:rPr>
              <a:t>casual gaming</a:t>
            </a:r>
            <a:endParaRPr lang="en-US" sz="1100" dirty="0"/>
          </a:p>
        </p:txBody>
      </p:sp>
      <p:sp>
        <p:nvSpPr>
          <p:cNvPr id="12" name="Shape 9"/>
          <p:cNvSpPr/>
          <p:nvPr/>
        </p:nvSpPr>
        <p:spPr>
          <a:xfrm>
            <a:off x="4800600" y="1042416"/>
            <a:ext cx="4206240" cy="3931920"/>
          </a:xfrm>
          <a:prstGeom prst="rect">
            <a:avLst/>
          </a:prstGeom>
          <a:solidFill>
            <a:srgbClr val="152015"/>
          </a:solidFill>
          <a:ln/>
        </p:spPr>
      </p:sp>
      <p:sp>
        <p:nvSpPr>
          <p:cNvPr id="13" name="Shape 10"/>
          <p:cNvSpPr/>
          <p:nvPr/>
        </p:nvSpPr>
        <p:spPr>
          <a:xfrm>
            <a:off x="4800600" y="1042416"/>
            <a:ext cx="4206240" cy="54864"/>
          </a:xfrm>
          <a:prstGeom prst="rect">
            <a:avLst/>
          </a:prstGeom>
          <a:solidFill>
            <a:srgbClr val="00FF41"/>
          </a:solidFill>
          <a:ln/>
        </p:spPr>
      </p:sp>
      <p:pic>
        <p:nvPicPr>
          <p:cNvPr id="14" name="Image 1" descr="/home/claude/g2.png"/>
          <p:cNvPicPr>
            <a:picLocks noChangeAspect="1"/>
          </p:cNvPicPr>
          <p:nvPr/>
        </p:nvPicPr>
        <p:blipFill>
          <a:blip r:embed="rId4"/>
          <a:srcRect/>
          <a:stretch/>
        </p:blipFill>
        <p:spPr>
          <a:xfrm>
            <a:off x="4800600" y="1097280"/>
            <a:ext cx="4206240" cy="3657600"/>
          </a:xfrm>
          <a:prstGeom prst="rect">
            <a:avLst/>
          </a:prstGeom>
        </p:spPr>
      </p:pic>
      <p:sp>
        <p:nvSpPr>
          <p:cNvPr id="15" name="Shape 11"/>
          <p:cNvSpPr/>
          <p:nvPr/>
        </p:nvSpPr>
        <p:spPr>
          <a:xfrm>
            <a:off x="4800600" y="4471416"/>
            <a:ext cx="4206240" cy="502920"/>
          </a:xfrm>
          <a:prstGeom prst="rect">
            <a:avLst/>
          </a:prstGeom>
          <a:solidFill>
            <a:srgbClr val="1A7A1A"/>
          </a:solidFill>
          <a:ln/>
        </p:spPr>
      </p:sp>
      <p:sp>
        <p:nvSpPr>
          <p:cNvPr id="16" name="Text 12"/>
          <p:cNvSpPr/>
          <p:nvPr/>
        </p:nvSpPr>
        <p:spPr>
          <a:xfrm>
            <a:off x="4910328" y="4498848"/>
            <a:ext cx="3986784" cy="256032"/>
          </a:xfrm>
          <a:prstGeom prst="rect">
            <a:avLst/>
          </a:prstGeom>
          <a:noFill/>
          <a:ln/>
        </p:spPr>
        <p:txBody>
          <a:bodyPr wrap="square" lIns="0" tIns="0" rIns="0" bIns="0" rtlCol="0" anchor="ctr"/>
          <a:lstStyle/>
          <a:p>
            <a:pPr marL="0" indent="0">
              <a:buNone/>
            </a:pPr>
            <a:r>
              <a:rPr lang="en-US" sz="1400" b="1" dirty="0">
                <a:solidFill>
                  <a:srgbClr val="00FF41"/>
                </a:solidFill>
                <a:latin typeface="Calibri" pitchFamily="34" charset="0"/>
                <a:ea typeface="Calibri" pitchFamily="34" charset="-122"/>
                <a:cs typeface="Calibri" pitchFamily="34" charset="-120"/>
              </a:rPr>
              <a:t>Dota 2 fan</a:t>
            </a:r>
            <a:endParaRPr lang="en-US" sz="1400" dirty="0"/>
          </a:p>
        </p:txBody>
      </p:sp>
      <p:sp>
        <p:nvSpPr>
          <p:cNvPr id="17" name="Text 13"/>
          <p:cNvSpPr/>
          <p:nvPr/>
        </p:nvSpPr>
        <p:spPr>
          <a:xfrm>
            <a:off x="4910328" y="4727448"/>
            <a:ext cx="3986784" cy="201168"/>
          </a:xfrm>
          <a:prstGeom prst="rect">
            <a:avLst/>
          </a:prstGeom>
          <a:noFill/>
          <a:ln/>
        </p:spPr>
        <p:txBody>
          <a:bodyPr wrap="square" lIns="0" tIns="0" rIns="0" bIns="0" rtlCol="0" anchor="ctr"/>
          <a:lstStyle/>
          <a:p>
            <a:pPr marL="0" indent="0">
              <a:buNone/>
            </a:pPr>
            <a:r>
              <a:rPr lang="en-US" sz="1100" i="1" dirty="0">
                <a:solidFill>
                  <a:srgbClr val="B0C8B0"/>
                </a:solidFill>
                <a:latin typeface="Calibri" pitchFamily="34" charset="0"/>
                <a:ea typeface="Calibri" pitchFamily="34" charset="-122"/>
                <a:cs typeface="Calibri" pitchFamily="34" charset="-120"/>
              </a:rPr>
              <a:t>competitive spirit</a:t>
            </a:r>
            <a:endParaRPr lang="en-US" sz="1100" dirty="0"/>
          </a:p>
        </p:txBody>
      </p:sp>
      <p:sp>
        <p:nvSpPr>
          <p:cNvPr id="18" name="Shape 14"/>
          <p:cNvSpPr/>
          <p:nvPr/>
        </p:nvSpPr>
        <p:spPr>
          <a:xfrm>
            <a:off x="228600" y="4992624"/>
            <a:ext cx="8686800" cy="137160"/>
          </a:xfrm>
          <a:prstGeom prst="rect">
            <a:avLst/>
          </a:prstGeom>
          <a:solidFill>
            <a:srgbClr val="1A7A1A">
              <a:alpha val="50000"/>
            </a:srgbClr>
          </a:solidFill>
          <a:ln/>
        </p:spPr>
      </p:sp>
      <p:sp>
        <p:nvSpPr>
          <p:cNvPr id="19" name="Text 15"/>
          <p:cNvSpPr/>
          <p:nvPr/>
        </p:nvSpPr>
        <p:spPr>
          <a:xfrm>
            <a:off x="228600" y="4992624"/>
            <a:ext cx="8686800" cy="137160"/>
          </a:xfrm>
          <a:prstGeom prst="rect">
            <a:avLst/>
          </a:prstGeom>
          <a:noFill/>
          <a:ln/>
        </p:spPr>
        <p:txBody>
          <a:bodyPr wrap="square" lIns="0" tIns="0" rIns="0" bIns="0" rtlCol="0" anchor="ctr"/>
          <a:lstStyle/>
          <a:p>
            <a:pPr marL="0" indent="0" algn="ctr">
              <a:buNone/>
            </a:pPr>
            <a:r>
              <a:rPr lang="en-US" sz="1000" i="1" dirty="0">
                <a:solidFill>
                  <a:srgbClr val="00FF41"/>
                </a:solidFill>
                <a:latin typeface="Calibri" pitchFamily="34" charset="0"/>
                <a:ea typeface="Calibri" pitchFamily="34" charset="-122"/>
                <a:cs typeface="Calibri" pitchFamily="34" charset="-120"/>
              </a:rPr>
              <a:t>Every gamer starts the same way — just sitting at a desk, playing a game they love.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050F0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FF41"/>
          </a:solidFill>
          <a:ln/>
        </p:spPr>
      </p:sp>
      <p:sp>
        <p:nvSpPr>
          <p:cNvPr id="3" name="Text 1"/>
          <p:cNvSpPr/>
          <p:nvPr/>
        </p:nvSpPr>
        <p:spPr>
          <a:xfrm>
            <a:off x="365760" y="164592"/>
            <a:ext cx="6858000" cy="502920"/>
          </a:xfrm>
          <a:prstGeom prst="rect">
            <a:avLst/>
          </a:prstGeom>
          <a:noFill/>
          <a:ln/>
        </p:spPr>
        <p:txBody>
          <a:bodyPr wrap="square" lIns="0" tIns="0" rIns="0" bIns="0" rtlCol="0" anchor="ctr"/>
          <a:lstStyle/>
          <a:p>
            <a:pPr marL="0" indent="0" algn="l">
              <a:buNone/>
            </a:pPr>
            <a:r>
              <a:rPr lang="en-US" sz="3000" b="1" dirty="0">
                <a:solidFill>
                  <a:srgbClr val="FFFFFF"/>
                </a:solidFill>
                <a:latin typeface="Arial Black" pitchFamily="34" charset="0"/>
                <a:ea typeface="Arial Black" pitchFamily="34" charset="-122"/>
                <a:cs typeface="Arial Black" pitchFamily="34" charset="-120"/>
              </a:rPr>
              <a:t>WHO ARE GAMERS?</a:t>
            </a:r>
            <a:endParaRPr lang="en-US" sz="3000" dirty="0"/>
          </a:p>
        </p:txBody>
      </p:sp>
      <p:sp>
        <p:nvSpPr>
          <p:cNvPr id="4" name="Text 2"/>
          <p:cNvSpPr/>
          <p:nvPr/>
        </p:nvSpPr>
        <p:spPr>
          <a:xfrm>
            <a:off x="7223760" y="201168"/>
            <a:ext cx="1645920" cy="411480"/>
          </a:xfrm>
          <a:prstGeom prst="rect">
            <a:avLst/>
          </a:prstGeom>
          <a:noFill/>
          <a:ln/>
        </p:spPr>
        <p:txBody>
          <a:bodyPr wrap="square" lIns="0" tIns="0" rIns="0" bIns="0" rtlCol="0" anchor="ctr"/>
          <a:lstStyle/>
          <a:p>
            <a:pPr marL="0" indent="0" algn="r">
              <a:buNone/>
            </a:pPr>
            <a:r>
              <a:rPr lang="en-US" sz="1300" b="1" dirty="0">
                <a:solidFill>
                  <a:srgbClr val="39D353"/>
                </a:solidFill>
                <a:latin typeface="Calibri" pitchFamily="34" charset="0"/>
                <a:ea typeface="Calibri" pitchFamily="34" charset="-122"/>
                <a:cs typeface="Calibri" pitchFamily="34" charset="-120"/>
              </a:rPr>
              <a:t>2 / 3</a:t>
            </a:r>
            <a:endParaRPr lang="en-US" sz="1300" dirty="0"/>
          </a:p>
        </p:txBody>
      </p:sp>
      <p:sp>
        <p:nvSpPr>
          <p:cNvPr id="5" name="Text 3"/>
          <p:cNvSpPr/>
          <p:nvPr/>
        </p:nvSpPr>
        <p:spPr>
          <a:xfrm>
            <a:off x="365760" y="694944"/>
            <a:ext cx="8412480" cy="292608"/>
          </a:xfrm>
          <a:prstGeom prst="rect">
            <a:avLst/>
          </a:prstGeom>
          <a:noFill/>
          <a:ln/>
        </p:spPr>
        <p:txBody>
          <a:bodyPr wrap="square" rtlCol="0" anchor="ctr"/>
          <a:lstStyle/>
          <a:p>
            <a:pPr marL="0" indent="0" algn="l">
              <a:buNone/>
            </a:pPr>
            <a:r>
              <a:rPr lang="en-US" sz="1300" i="1" dirty="0">
                <a:solidFill>
                  <a:srgbClr val="39D353"/>
                </a:solidFill>
                <a:latin typeface="Calibri" pitchFamily="34" charset="0"/>
                <a:ea typeface="Calibri" pitchFamily="34" charset="-122"/>
                <a:cs typeface="Calibri" pitchFamily="34" charset="-120"/>
              </a:rPr>
              <a:t>Gaming is for everyone — from casual players to future champions</a:t>
            </a:r>
            <a:endParaRPr lang="en-US" sz="1300" dirty="0"/>
          </a:p>
        </p:txBody>
      </p:sp>
      <p:sp>
        <p:nvSpPr>
          <p:cNvPr id="6" name="Shape 4"/>
          <p:cNvSpPr/>
          <p:nvPr/>
        </p:nvSpPr>
        <p:spPr>
          <a:xfrm>
            <a:off x="228600" y="1042416"/>
            <a:ext cx="4206240" cy="3931920"/>
          </a:xfrm>
          <a:prstGeom prst="rect">
            <a:avLst/>
          </a:prstGeom>
          <a:solidFill>
            <a:srgbClr val="152015"/>
          </a:solidFill>
          <a:ln/>
        </p:spPr>
      </p:sp>
      <p:sp>
        <p:nvSpPr>
          <p:cNvPr id="7" name="Shape 5"/>
          <p:cNvSpPr/>
          <p:nvPr/>
        </p:nvSpPr>
        <p:spPr>
          <a:xfrm>
            <a:off x="228600" y="1042416"/>
            <a:ext cx="4206240" cy="54864"/>
          </a:xfrm>
          <a:prstGeom prst="rect">
            <a:avLst/>
          </a:prstGeom>
          <a:solidFill>
            <a:srgbClr val="00FF41"/>
          </a:solidFill>
          <a:ln/>
        </p:spPr>
      </p:sp>
      <p:pic>
        <p:nvPicPr>
          <p:cNvPr id="8" name="Image 0" descr="/home/claude/g3.png"/>
          <p:cNvPicPr>
            <a:picLocks noChangeAspect="1"/>
          </p:cNvPicPr>
          <p:nvPr/>
        </p:nvPicPr>
        <p:blipFill>
          <a:blip r:embed="rId3"/>
          <a:srcRect/>
          <a:stretch/>
        </p:blipFill>
        <p:spPr>
          <a:xfrm>
            <a:off x="228600" y="1097280"/>
            <a:ext cx="4206240" cy="3657600"/>
          </a:xfrm>
          <a:prstGeom prst="rect">
            <a:avLst/>
          </a:prstGeom>
        </p:spPr>
      </p:pic>
      <p:sp>
        <p:nvSpPr>
          <p:cNvPr id="9" name="Shape 6"/>
          <p:cNvSpPr/>
          <p:nvPr/>
        </p:nvSpPr>
        <p:spPr>
          <a:xfrm>
            <a:off x="228600" y="4471416"/>
            <a:ext cx="4206240" cy="502920"/>
          </a:xfrm>
          <a:prstGeom prst="rect">
            <a:avLst/>
          </a:prstGeom>
          <a:solidFill>
            <a:srgbClr val="1A7A1A"/>
          </a:solidFill>
          <a:ln/>
        </p:spPr>
      </p:sp>
      <p:sp>
        <p:nvSpPr>
          <p:cNvPr id="10" name="Text 7"/>
          <p:cNvSpPr/>
          <p:nvPr/>
        </p:nvSpPr>
        <p:spPr>
          <a:xfrm>
            <a:off x="338328" y="4498848"/>
            <a:ext cx="3986784" cy="256032"/>
          </a:xfrm>
          <a:prstGeom prst="rect">
            <a:avLst/>
          </a:prstGeom>
          <a:noFill/>
          <a:ln/>
        </p:spPr>
        <p:txBody>
          <a:bodyPr wrap="square" lIns="0" tIns="0" rIns="0" bIns="0" rtlCol="0" anchor="ctr"/>
          <a:lstStyle/>
          <a:p>
            <a:pPr marL="0" indent="0">
              <a:buNone/>
            </a:pPr>
            <a:r>
              <a:rPr lang="en-US" sz="1400" b="1" dirty="0">
                <a:solidFill>
                  <a:srgbClr val="00FF41"/>
                </a:solidFill>
                <a:latin typeface="Calibri" pitchFamily="34" charset="0"/>
                <a:ea typeface="Calibri" pitchFamily="34" charset="-122"/>
                <a:cs typeface="Calibri" pitchFamily="34" charset="-120"/>
              </a:rPr>
              <a:t>FPS gamer</a:t>
            </a:r>
            <a:endParaRPr lang="en-US" sz="1400" dirty="0"/>
          </a:p>
        </p:txBody>
      </p:sp>
      <p:sp>
        <p:nvSpPr>
          <p:cNvPr id="11" name="Text 8"/>
          <p:cNvSpPr/>
          <p:nvPr/>
        </p:nvSpPr>
        <p:spPr>
          <a:xfrm>
            <a:off x="338328" y="4727448"/>
            <a:ext cx="3986784" cy="201168"/>
          </a:xfrm>
          <a:prstGeom prst="rect">
            <a:avLst/>
          </a:prstGeom>
          <a:noFill/>
          <a:ln/>
        </p:spPr>
        <p:txBody>
          <a:bodyPr wrap="square" lIns="0" tIns="0" rIns="0" bIns="0" rtlCol="0" anchor="ctr"/>
          <a:lstStyle/>
          <a:p>
            <a:pPr marL="0" indent="0">
              <a:buNone/>
            </a:pPr>
            <a:r>
              <a:rPr lang="en-US" sz="1100" i="1" dirty="0">
                <a:solidFill>
                  <a:srgbClr val="B0C8B0"/>
                </a:solidFill>
                <a:latin typeface="Calibri" pitchFamily="34" charset="0"/>
                <a:ea typeface="Calibri" pitchFamily="34" charset="-122"/>
                <a:cs typeface="Calibri" pitchFamily="34" charset="-120"/>
              </a:rPr>
              <a:t>shooter genre</a:t>
            </a:r>
            <a:endParaRPr lang="en-US" sz="1100" dirty="0"/>
          </a:p>
        </p:txBody>
      </p:sp>
      <p:sp>
        <p:nvSpPr>
          <p:cNvPr id="12" name="Shape 9"/>
          <p:cNvSpPr/>
          <p:nvPr/>
        </p:nvSpPr>
        <p:spPr>
          <a:xfrm>
            <a:off x="4800600" y="1042416"/>
            <a:ext cx="4206240" cy="3931920"/>
          </a:xfrm>
          <a:prstGeom prst="rect">
            <a:avLst/>
          </a:prstGeom>
          <a:solidFill>
            <a:srgbClr val="152015"/>
          </a:solidFill>
          <a:ln/>
        </p:spPr>
      </p:sp>
      <p:sp>
        <p:nvSpPr>
          <p:cNvPr id="13" name="Shape 10"/>
          <p:cNvSpPr/>
          <p:nvPr/>
        </p:nvSpPr>
        <p:spPr>
          <a:xfrm>
            <a:off x="4800600" y="1042416"/>
            <a:ext cx="4206240" cy="54864"/>
          </a:xfrm>
          <a:prstGeom prst="rect">
            <a:avLst/>
          </a:prstGeom>
          <a:solidFill>
            <a:srgbClr val="00FF41"/>
          </a:solidFill>
          <a:ln/>
        </p:spPr>
      </p:sp>
      <p:pic>
        <p:nvPicPr>
          <p:cNvPr id="14" name="Image 1" descr="/home/claude/g4.png"/>
          <p:cNvPicPr>
            <a:picLocks noChangeAspect="1"/>
          </p:cNvPicPr>
          <p:nvPr/>
        </p:nvPicPr>
        <p:blipFill>
          <a:blip r:embed="rId4"/>
          <a:srcRect/>
          <a:stretch/>
        </p:blipFill>
        <p:spPr>
          <a:xfrm>
            <a:off x="4800600" y="1097280"/>
            <a:ext cx="4206240" cy="3657600"/>
          </a:xfrm>
          <a:prstGeom prst="rect">
            <a:avLst/>
          </a:prstGeom>
        </p:spPr>
      </p:pic>
      <p:sp>
        <p:nvSpPr>
          <p:cNvPr id="15" name="Shape 11"/>
          <p:cNvSpPr/>
          <p:nvPr/>
        </p:nvSpPr>
        <p:spPr>
          <a:xfrm>
            <a:off x="4800600" y="4471416"/>
            <a:ext cx="4206240" cy="502920"/>
          </a:xfrm>
          <a:prstGeom prst="rect">
            <a:avLst/>
          </a:prstGeom>
          <a:solidFill>
            <a:srgbClr val="1A7A1A"/>
          </a:solidFill>
          <a:ln/>
        </p:spPr>
      </p:sp>
      <p:sp>
        <p:nvSpPr>
          <p:cNvPr id="16" name="Text 12"/>
          <p:cNvSpPr/>
          <p:nvPr/>
        </p:nvSpPr>
        <p:spPr>
          <a:xfrm>
            <a:off x="4910328" y="4498848"/>
            <a:ext cx="3986784" cy="256032"/>
          </a:xfrm>
          <a:prstGeom prst="rect">
            <a:avLst/>
          </a:prstGeom>
          <a:noFill/>
          <a:ln/>
        </p:spPr>
        <p:txBody>
          <a:bodyPr wrap="square" lIns="0" tIns="0" rIns="0" bIns="0" rtlCol="0" anchor="ctr"/>
          <a:lstStyle/>
          <a:p>
            <a:pPr marL="0" indent="0">
              <a:buNone/>
            </a:pPr>
            <a:r>
              <a:rPr lang="en-US" sz="1400" b="1" dirty="0">
                <a:solidFill>
                  <a:srgbClr val="00FF41"/>
                </a:solidFill>
                <a:latin typeface="Calibri" pitchFamily="34" charset="0"/>
                <a:ea typeface="Calibri" pitchFamily="34" charset="-122"/>
                <a:cs typeface="Calibri" pitchFamily="34" charset="-120"/>
              </a:rPr>
              <a:t>Genshin Impact</a:t>
            </a:r>
            <a:endParaRPr lang="en-US" sz="1400" dirty="0"/>
          </a:p>
        </p:txBody>
      </p:sp>
      <p:sp>
        <p:nvSpPr>
          <p:cNvPr id="17" name="Text 13"/>
          <p:cNvSpPr/>
          <p:nvPr/>
        </p:nvSpPr>
        <p:spPr>
          <a:xfrm>
            <a:off x="4910328" y="4727448"/>
            <a:ext cx="3986784" cy="201168"/>
          </a:xfrm>
          <a:prstGeom prst="rect">
            <a:avLst/>
          </a:prstGeom>
          <a:noFill/>
          <a:ln/>
        </p:spPr>
        <p:txBody>
          <a:bodyPr wrap="square" lIns="0" tIns="0" rIns="0" bIns="0" rtlCol="0" anchor="ctr"/>
          <a:lstStyle/>
          <a:p>
            <a:pPr marL="0" indent="0">
              <a:buNone/>
            </a:pPr>
            <a:r>
              <a:rPr lang="en-US" sz="1100" i="1" dirty="0">
                <a:solidFill>
                  <a:srgbClr val="B0C8B0"/>
                </a:solidFill>
                <a:latin typeface="Calibri" pitchFamily="34" charset="0"/>
                <a:ea typeface="Calibri" pitchFamily="34" charset="-122"/>
                <a:cs typeface="Calibri" pitchFamily="34" charset="-120"/>
              </a:rPr>
              <a:t>RPG community</a:t>
            </a:r>
            <a:endParaRPr lang="en-US" sz="1100" dirty="0"/>
          </a:p>
        </p:txBody>
      </p:sp>
      <p:sp>
        <p:nvSpPr>
          <p:cNvPr id="18" name="Shape 14"/>
          <p:cNvSpPr/>
          <p:nvPr/>
        </p:nvSpPr>
        <p:spPr>
          <a:xfrm>
            <a:off x="228600" y="4992624"/>
            <a:ext cx="8686800" cy="137160"/>
          </a:xfrm>
          <a:prstGeom prst="rect">
            <a:avLst/>
          </a:prstGeom>
          <a:solidFill>
            <a:srgbClr val="1A7A1A">
              <a:alpha val="50000"/>
            </a:srgbClr>
          </a:solidFill>
          <a:ln/>
        </p:spPr>
      </p:sp>
      <p:sp>
        <p:nvSpPr>
          <p:cNvPr id="19" name="Text 15"/>
          <p:cNvSpPr/>
          <p:nvPr/>
        </p:nvSpPr>
        <p:spPr>
          <a:xfrm>
            <a:off x="228600" y="4992624"/>
            <a:ext cx="8686800" cy="137160"/>
          </a:xfrm>
          <a:prstGeom prst="rect">
            <a:avLst/>
          </a:prstGeom>
          <a:noFill/>
          <a:ln/>
        </p:spPr>
        <p:txBody>
          <a:bodyPr wrap="square" lIns="0" tIns="0" rIns="0" bIns="0" rtlCol="0" anchor="ctr"/>
          <a:lstStyle/>
          <a:p>
            <a:pPr marL="0" indent="0" algn="ctr">
              <a:buNone/>
            </a:pPr>
            <a:r>
              <a:rPr lang="en-US" sz="1000" i="1" dirty="0">
                <a:solidFill>
                  <a:srgbClr val="00FF41"/>
                </a:solidFill>
                <a:latin typeface="Calibri" pitchFamily="34" charset="0"/>
                <a:ea typeface="Calibri" pitchFamily="34" charset="-122"/>
                <a:cs typeface="Calibri" pitchFamily="34" charset="-120"/>
              </a:rPr>
              <a:t>Every gamer starts the same way — just sitting at a desk, playing a game they love.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050F0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FF41"/>
          </a:solidFill>
          <a:ln/>
        </p:spPr>
      </p:sp>
      <p:sp>
        <p:nvSpPr>
          <p:cNvPr id="3" name="Text 1"/>
          <p:cNvSpPr/>
          <p:nvPr/>
        </p:nvSpPr>
        <p:spPr>
          <a:xfrm>
            <a:off x="365760" y="164592"/>
            <a:ext cx="6858000" cy="502920"/>
          </a:xfrm>
          <a:prstGeom prst="rect">
            <a:avLst/>
          </a:prstGeom>
          <a:noFill/>
          <a:ln/>
        </p:spPr>
        <p:txBody>
          <a:bodyPr wrap="square" lIns="0" tIns="0" rIns="0" bIns="0" rtlCol="0" anchor="ctr"/>
          <a:lstStyle/>
          <a:p>
            <a:pPr marL="0" indent="0" algn="l">
              <a:buNone/>
            </a:pPr>
            <a:r>
              <a:rPr lang="en-US" sz="3000" b="1" dirty="0">
                <a:solidFill>
                  <a:srgbClr val="FFFFFF"/>
                </a:solidFill>
                <a:latin typeface="Arial Black" pitchFamily="34" charset="0"/>
                <a:ea typeface="Arial Black" pitchFamily="34" charset="-122"/>
                <a:cs typeface="Arial Black" pitchFamily="34" charset="-120"/>
              </a:rPr>
              <a:t>WHO ARE GAMERS?</a:t>
            </a:r>
            <a:endParaRPr lang="en-US" sz="3000" dirty="0"/>
          </a:p>
        </p:txBody>
      </p:sp>
      <p:sp>
        <p:nvSpPr>
          <p:cNvPr id="4" name="Text 2"/>
          <p:cNvSpPr/>
          <p:nvPr/>
        </p:nvSpPr>
        <p:spPr>
          <a:xfrm>
            <a:off x="7223760" y="201168"/>
            <a:ext cx="1645920" cy="411480"/>
          </a:xfrm>
          <a:prstGeom prst="rect">
            <a:avLst/>
          </a:prstGeom>
          <a:noFill/>
          <a:ln/>
        </p:spPr>
        <p:txBody>
          <a:bodyPr wrap="square" lIns="0" tIns="0" rIns="0" bIns="0" rtlCol="0" anchor="ctr"/>
          <a:lstStyle/>
          <a:p>
            <a:pPr marL="0" indent="0" algn="r">
              <a:buNone/>
            </a:pPr>
            <a:r>
              <a:rPr lang="en-US" sz="1300" b="1" dirty="0">
                <a:solidFill>
                  <a:srgbClr val="39D353"/>
                </a:solidFill>
                <a:latin typeface="Calibri" pitchFamily="34" charset="0"/>
                <a:ea typeface="Calibri" pitchFamily="34" charset="-122"/>
                <a:cs typeface="Calibri" pitchFamily="34" charset="-120"/>
              </a:rPr>
              <a:t>3 / 3</a:t>
            </a:r>
            <a:endParaRPr lang="en-US" sz="1300" dirty="0"/>
          </a:p>
        </p:txBody>
      </p:sp>
      <p:sp>
        <p:nvSpPr>
          <p:cNvPr id="5" name="Text 3"/>
          <p:cNvSpPr/>
          <p:nvPr/>
        </p:nvSpPr>
        <p:spPr>
          <a:xfrm>
            <a:off x="365760" y="694944"/>
            <a:ext cx="8412480" cy="292608"/>
          </a:xfrm>
          <a:prstGeom prst="rect">
            <a:avLst/>
          </a:prstGeom>
          <a:noFill/>
          <a:ln/>
        </p:spPr>
        <p:txBody>
          <a:bodyPr wrap="square" rtlCol="0" anchor="ctr"/>
          <a:lstStyle/>
          <a:p>
            <a:pPr marL="0" indent="0" algn="l">
              <a:buNone/>
            </a:pPr>
            <a:r>
              <a:rPr lang="en-US" sz="1300" i="1" dirty="0">
                <a:solidFill>
                  <a:srgbClr val="39D353"/>
                </a:solidFill>
                <a:latin typeface="Calibri" pitchFamily="34" charset="0"/>
                <a:ea typeface="Calibri" pitchFamily="34" charset="-122"/>
                <a:cs typeface="Calibri" pitchFamily="34" charset="-120"/>
              </a:rPr>
              <a:t>Gaming is for everyone — from casual players to future champions</a:t>
            </a:r>
            <a:endParaRPr lang="en-US" sz="1300" dirty="0"/>
          </a:p>
        </p:txBody>
      </p:sp>
      <p:sp>
        <p:nvSpPr>
          <p:cNvPr id="6" name="Shape 4"/>
          <p:cNvSpPr/>
          <p:nvPr/>
        </p:nvSpPr>
        <p:spPr>
          <a:xfrm>
            <a:off x="228600" y="1042416"/>
            <a:ext cx="4206240" cy="3931920"/>
          </a:xfrm>
          <a:prstGeom prst="rect">
            <a:avLst/>
          </a:prstGeom>
          <a:solidFill>
            <a:srgbClr val="152015"/>
          </a:solidFill>
          <a:ln/>
        </p:spPr>
      </p:sp>
      <p:sp>
        <p:nvSpPr>
          <p:cNvPr id="7" name="Shape 5"/>
          <p:cNvSpPr/>
          <p:nvPr/>
        </p:nvSpPr>
        <p:spPr>
          <a:xfrm>
            <a:off x="228600" y="1042416"/>
            <a:ext cx="4206240" cy="54864"/>
          </a:xfrm>
          <a:prstGeom prst="rect">
            <a:avLst/>
          </a:prstGeom>
          <a:solidFill>
            <a:srgbClr val="00FF41"/>
          </a:solidFill>
          <a:ln/>
        </p:spPr>
      </p:sp>
      <p:pic>
        <p:nvPicPr>
          <p:cNvPr id="8" name="Image 0" descr="/home/claude/g5.png"/>
          <p:cNvPicPr>
            <a:picLocks noChangeAspect="1"/>
          </p:cNvPicPr>
          <p:nvPr/>
        </p:nvPicPr>
        <p:blipFill>
          <a:blip r:embed="rId3"/>
          <a:srcRect/>
          <a:stretch/>
        </p:blipFill>
        <p:spPr>
          <a:xfrm>
            <a:off x="228600" y="1097280"/>
            <a:ext cx="4206240" cy="3657600"/>
          </a:xfrm>
          <a:prstGeom prst="rect">
            <a:avLst/>
          </a:prstGeom>
        </p:spPr>
      </p:pic>
      <p:sp>
        <p:nvSpPr>
          <p:cNvPr id="9" name="Shape 6"/>
          <p:cNvSpPr/>
          <p:nvPr/>
        </p:nvSpPr>
        <p:spPr>
          <a:xfrm>
            <a:off x="228600" y="4471416"/>
            <a:ext cx="4206240" cy="502920"/>
          </a:xfrm>
          <a:prstGeom prst="rect">
            <a:avLst/>
          </a:prstGeom>
          <a:solidFill>
            <a:srgbClr val="1A7A1A"/>
          </a:solidFill>
          <a:ln/>
        </p:spPr>
      </p:sp>
      <p:sp>
        <p:nvSpPr>
          <p:cNvPr id="10" name="Text 7"/>
          <p:cNvSpPr/>
          <p:nvPr/>
        </p:nvSpPr>
        <p:spPr>
          <a:xfrm>
            <a:off x="338328" y="4498848"/>
            <a:ext cx="3986784" cy="256032"/>
          </a:xfrm>
          <a:prstGeom prst="rect">
            <a:avLst/>
          </a:prstGeom>
          <a:noFill/>
          <a:ln/>
        </p:spPr>
        <p:txBody>
          <a:bodyPr wrap="square" lIns="0" tIns="0" rIns="0" bIns="0" rtlCol="0" anchor="ctr"/>
          <a:lstStyle/>
          <a:p>
            <a:pPr marL="0" indent="0">
              <a:buNone/>
            </a:pPr>
            <a:r>
              <a:rPr lang="en-US" sz="1400" b="1" dirty="0">
                <a:solidFill>
                  <a:srgbClr val="00FF41"/>
                </a:solidFill>
                <a:latin typeface="Calibri" pitchFamily="34" charset="0"/>
                <a:ea typeface="Calibri" pitchFamily="34" charset="-122"/>
                <a:cs typeface="Calibri" pitchFamily="34" charset="-120"/>
              </a:rPr>
              <a:t>Mafia II fan</a:t>
            </a:r>
            <a:endParaRPr lang="en-US" sz="1400" dirty="0"/>
          </a:p>
        </p:txBody>
      </p:sp>
      <p:sp>
        <p:nvSpPr>
          <p:cNvPr id="11" name="Text 8"/>
          <p:cNvSpPr/>
          <p:nvPr/>
        </p:nvSpPr>
        <p:spPr>
          <a:xfrm>
            <a:off x="338328" y="4727448"/>
            <a:ext cx="3986784" cy="201168"/>
          </a:xfrm>
          <a:prstGeom prst="rect">
            <a:avLst/>
          </a:prstGeom>
          <a:noFill/>
          <a:ln/>
        </p:spPr>
        <p:txBody>
          <a:bodyPr wrap="square" lIns="0" tIns="0" rIns="0" bIns="0" rtlCol="0" anchor="ctr"/>
          <a:lstStyle/>
          <a:p>
            <a:pPr marL="0" indent="0">
              <a:buNone/>
            </a:pPr>
            <a:r>
              <a:rPr lang="en-US" sz="1100" i="1" dirty="0">
                <a:solidFill>
                  <a:srgbClr val="B0C8B0"/>
                </a:solidFill>
                <a:latin typeface="Calibri" pitchFamily="34" charset="0"/>
                <a:ea typeface="Calibri" pitchFamily="34" charset="-122"/>
                <a:cs typeface="Calibri" pitchFamily="34" charset="-120"/>
              </a:rPr>
              <a:t>story-driven games</a:t>
            </a:r>
            <a:endParaRPr lang="en-US" sz="1100" dirty="0"/>
          </a:p>
        </p:txBody>
      </p:sp>
      <p:sp>
        <p:nvSpPr>
          <p:cNvPr id="12" name="Shape 9"/>
          <p:cNvSpPr/>
          <p:nvPr/>
        </p:nvSpPr>
        <p:spPr>
          <a:xfrm>
            <a:off x="4800600" y="1042416"/>
            <a:ext cx="4206240" cy="3931920"/>
          </a:xfrm>
          <a:prstGeom prst="rect">
            <a:avLst/>
          </a:prstGeom>
          <a:solidFill>
            <a:srgbClr val="152015"/>
          </a:solidFill>
          <a:ln/>
        </p:spPr>
      </p:sp>
      <p:sp>
        <p:nvSpPr>
          <p:cNvPr id="13" name="Shape 10"/>
          <p:cNvSpPr/>
          <p:nvPr/>
        </p:nvSpPr>
        <p:spPr>
          <a:xfrm>
            <a:off x="4800600" y="1042416"/>
            <a:ext cx="4206240" cy="54864"/>
          </a:xfrm>
          <a:prstGeom prst="rect">
            <a:avLst/>
          </a:prstGeom>
          <a:solidFill>
            <a:srgbClr val="00FF41"/>
          </a:solidFill>
          <a:ln/>
        </p:spPr>
      </p:sp>
      <p:pic>
        <p:nvPicPr>
          <p:cNvPr id="14" name="Image 1" descr="/home/claude/g6.png"/>
          <p:cNvPicPr>
            <a:picLocks noChangeAspect="1"/>
          </p:cNvPicPr>
          <p:nvPr/>
        </p:nvPicPr>
        <p:blipFill>
          <a:blip r:embed="rId4"/>
          <a:srcRect/>
          <a:stretch/>
        </p:blipFill>
        <p:spPr>
          <a:xfrm>
            <a:off x="4800600" y="1097280"/>
            <a:ext cx="4206240" cy="3657600"/>
          </a:xfrm>
          <a:prstGeom prst="rect">
            <a:avLst/>
          </a:prstGeom>
        </p:spPr>
      </p:pic>
      <p:sp>
        <p:nvSpPr>
          <p:cNvPr id="15" name="Shape 11"/>
          <p:cNvSpPr/>
          <p:nvPr/>
        </p:nvSpPr>
        <p:spPr>
          <a:xfrm>
            <a:off x="4800600" y="4471416"/>
            <a:ext cx="4206240" cy="502920"/>
          </a:xfrm>
          <a:prstGeom prst="rect">
            <a:avLst/>
          </a:prstGeom>
          <a:solidFill>
            <a:srgbClr val="1A7A1A"/>
          </a:solidFill>
          <a:ln/>
        </p:spPr>
      </p:sp>
      <p:sp>
        <p:nvSpPr>
          <p:cNvPr id="16" name="Text 12"/>
          <p:cNvSpPr/>
          <p:nvPr/>
        </p:nvSpPr>
        <p:spPr>
          <a:xfrm>
            <a:off x="4910328" y="4498848"/>
            <a:ext cx="3986784" cy="256032"/>
          </a:xfrm>
          <a:prstGeom prst="rect">
            <a:avLst/>
          </a:prstGeom>
          <a:noFill/>
          <a:ln/>
        </p:spPr>
        <p:txBody>
          <a:bodyPr wrap="square" lIns="0" tIns="0" rIns="0" bIns="0" rtlCol="0" anchor="ctr"/>
          <a:lstStyle/>
          <a:p>
            <a:pPr marL="0" indent="0">
              <a:buNone/>
            </a:pPr>
            <a:r>
              <a:rPr lang="en-US" sz="1400" b="1" dirty="0">
                <a:solidFill>
                  <a:srgbClr val="00FF41"/>
                </a:solidFill>
                <a:latin typeface="Calibri" pitchFamily="34" charset="0"/>
                <a:ea typeface="Calibri" pitchFamily="34" charset="-122"/>
                <a:cs typeface="Calibri" pitchFamily="34" charset="-120"/>
              </a:rPr>
              <a:t>Hay Day player</a:t>
            </a:r>
            <a:endParaRPr lang="en-US" sz="1400" dirty="0"/>
          </a:p>
        </p:txBody>
      </p:sp>
      <p:sp>
        <p:nvSpPr>
          <p:cNvPr id="17" name="Text 13"/>
          <p:cNvSpPr/>
          <p:nvPr/>
        </p:nvSpPr>
        <p:spPr>
          <a:xfrm>
            <a:off x="4910328" y="4727448"/>
            <a:ext cx="3986784" cy="201168"/>
          </a:xfrm>
          <a:prstGeom prst="rect">
            <a:avLst/>
          </a:prstGeom>
          <a:noFill/>
          <a:ln/>
        </p:spPr>
        <p:txBody>
          <a:bodyPr wrap="square" lIns="0" tIns="0" rIns="0" bIns="0" rtlCol="0" anchor="ctr"/>
          <a:lstStyle/>
          <a:p>
            <a:pPr marL="0" indent="0">
              <a:buNone/>
            </a:pPr>
            <a:r>
              <a:rPr lang="en-US" sz="1100" i="1" dirty="0">
                <a:solidFill>
                  <a:srgbClr val="B0C8B0"/>
                </a:solidFill>
                <a:latin typeface="Calibri" pitchFamily="34" charset="0"/>
                <a:ea typeface="Calibri" pitchFamily="34" charset="-122"/>
                <a:cs typeface="Calibri" pitchFamily="34" charset="-120"/>
              </a:rPr>
              <a:t>mobile &amp; casual</a:t>
            </a:r>
            <a:endParaRPr lang="en-US" sz="1100" dirty="0"/>
          </a:p>
        </p:txBody>
      </p:sp>
      <p:sp>
        <p:nvSpPr>
          <p:cNvPr id="18" name="Shape 14"/>
          <p:cNvSpPr/>
          <p:nvPr/>
        </p:nvSpPr>
        <p:spPr>
          <a:xfrm>
            <a:off x="228600" y="4992624"/>
            <a:ext cx="8686800" cy="137160"/>
          </a:xfrm>
          <a:prstGeom prst="rect">
            <a:avLst/>
          </a:prstGeom>
          <a:solidFill>
            <a:srgbClr val="1A7A1A">
              <a:alpha val="50000"/>
            </a:srgbClr>
          </a:solidFill>
          <a:ln/>
        </p:spPr>
      </p:sp>
      <p:sp>
        <p:nvSpPr>
          <p:cNvPr id="19" name="Text 15"/>
          <p:cNvSpPr/>
          <p:nvPr/>
        </p:nvSpPr>
        <p:spPr>
          <a:xfrm>
            <a:off x="228600" y="4992624"/>
            <a:ext cx="8686800" cy="137160"/>
          </a:xfrm>
          <a:prstGeom prst="rect">
            <a:avLst/>
          </a:prstGeom>
          <a:noFill/>
          <a:ln/>
        </p:spPr>
        <p:txBody>
          <a:bodyPr wrap="square" lIns="0" tIns="0" rIns="0" bIns="0" rtlCol="0" anchor="ctr"/>
          <a:lstStyle/>
          <a:p>
            <a:pPr marL="0" indent="0" algn="ctr">
              <a:buNone/>
            </a:pPr>
            <a:r>
              <a:rPr lang="en-US" sz="1000" i="1" dirty="0">
                <a:solidFill>
                  <a:srgbClr val="00FF41"/>
                </a:solidFill>
                <a:latin typeface="Calibri" pitchFamily="34" charset="0"/>
                <a:ea typeface="Calibri" pitchFamily="34" charset="-122"/>
                <a:cs typeface="Calibri" pitchFamily="34" charset="-120"/>
              </a:rPr>
              <a:t>Every gamer starts the same way — just sitting at a desk, playing a game they love.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0F1F0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FF41"/>
          </a:solidFill>
          <a:ln/>
        </p:spPr>
      </p:sp>
      <p:sp>
        <p:nvSpPr>
          <p:cNvPr id="3" name="Text 1"/>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3200" b="1" dirty="0">
                <a:solidFill>
                  <a:srgbClr val="FFFFFF"/>
                </a:solidFill>
                <a:latin typeface="Arial Black" pitchFamily="34" charset="0"/>
                <a:ea typeface="Arial Black" pitchFamily="34" charset="-122"/>
                <a:cs typeface="Arial Black" pitchFamily="34" charset="-120"/>
              </a:rPr>
              <a:t>WHAT IS ESPORTS?</a:t>
            </a:r>
            <a:endParaRPr lang="en-US" sz="3200" dirty="0"/>
          </a:p>
        </p:txBody>
      </p:sp>
      <p:sp>
        <p:nvSpPr>
          <p:cNvPr id="4" name="Shape 2"/>
          <p:cNvSpPr/>
          <p:nvPr/>
        </p:nvSpPr>
        <p:spPr>
          <a:xfrm>
            <a:off x="457200" y="1005840"/>
            <a:ext cx="8229600" cy="1051560"/>
          </a:xfrm>
          <a:prstGeom prst="rect">
            <a:avLst/>
          </a:prstGeom>
          <a:solidFill>
            <a:srgbClr val="1A7A1A">
              <a:alpha val="80000"/>
            </a:srgbClr>
          </a:solidFill>
          <a:ln/>
        </p:spPr>
      </p:sp>
      <p:sp>
        <p:nvSpPr>
          <p:cNvPr id="5" name="Shape 3"/>
          <p:cNvSpPr/>
          <p:nvPr/>
        </p:nvSpPr>
        <p:spPr>
          <a:xfrm>
            <a:off x="457200" y="1005840"/>
            <a:ext cx="109728" cy="1051560"/>
          </a:xfrm>
          <a:prstGeom prst="rect">
            <a:avLst/>
          </a:prstGeom>
          <a:solidFill>
            <a:srgbClr val="00FF41"/>
          </a:solidFill>
          <a:ln/>
        </p:spPr>
      </p:sp>
      <p:sp>
        <p:nvSpPr>
          <p:cNvPr id="6" name="Text 4"/>
          <p:cNvSpPr/>
          <p:nvPr/>
        </p:nvSpPr>
        <p:spPr>
          <a:xfrm>
            <a:off x="685800" y="1051560"/>
            <a:ext cx="7863840" cy="96012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Esports is competitive video gaming at a professional level. Players compete in tournaments for prize money, sign contracts with organizations, and train just like traditional athletes.</a:t>
            </a:r>
            <a:endParaRPr lang="en-US" sz="1450" dirty="0"/>
          </a:p>
        </p:txBody>
      </p:sp>
      <p:sp>
        <p:nvSpPr>
          <p:cNvPr id="7" name="Shape 5"/>
          <p:cNvSpPr/>
          <p:nvPr/>
        </p:nvSpPr>
        <p:spPr>
          <a:xfrm>
            <a:off x="457200" y="2331720"/>
            <a:ext cx="2651760" cy="2468880"/>
          </a:xfrm>
          <a:prstGeom prst="rect">
            <a:avLst/>
          </a:prstGeom>
          <a:solidFill>
            <a:srgbClr val="0A160A"/>
          </a:solidFill>
          <a:ln/>
          <a:effectLst>
            <a:outerShdw blurRad="101600" dist="25400" dir="8100000" algn="bl" rotWithShape="0">
              <a:srgbClr val="000000">
                <a:alpha val="50000"/>
              </a:srgbClr>
            </a:outerShdw>
          </a:effectLst>
        </p:spPr>
      </p:sp>
      <p:sp>
        <p:nvSpPr>
          <p:cNvPr id="8" name="Shape 6"/>
          <p:cNvSpPr/>
          <p:nvPr/>
        </p:nvSpPr>
        <p:spPr>
          <a:xfrm>
            <a:off x="457200" y="2331720"/>
            <a:ext cx="2651760" cy="64008"/>
          </a:xfrm>
          <a:prstGeom prst="rect">
            <a:avLst/>
          </a:prstGeom>
          <a:solidFill>
            <a:srgbClr val="00FF41"/>
          </a:solidFill>
          <a:ln/>
        </p:spPr>
      </p:sp>
      <p:sp>
        <p:nvSpPr>
          <p:cNvPr id="9" name="Text 7"/>
          <p:cNvSpPr/>
          <p:nvPr/>
        </p:nvSpPr>
        <p:spPr>
          <a:xfrm>
            <a:off x="457200" y="2468880"/>
            <a:ext cx="2651760" cy="64008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0" name="Text 8"/>
          <p:cNvSpPr/>
          <p:nvPr/>
        </p:nvSpPr>
        <p:spPr>
          <a:xfrm>
            <a:off x="594360" y="3154680"/>
            <a:ext cx="2377440" cy="365760"/>
          </a:xfrm>
          <a:prstGeom prst="rect">
            <a:avLst/>
          </a:prstGeom>
          <a:noFill/>
          <a:ln/>
        </p:spPr>
        <p:txBody>
          <a:bodyPr wrap="square" rtlCol="0" anchor="ctr"/>
          <a:lstStyle/>
          <a:p>
            <a:pPr marL="0" indent="0" algn="ctr">
              <a:buNone/>
            </a:pPr>
            <a:r>
              <a:rPr lang="en-US" sz="1400" b="1" dirty="0">
                <a:solidFill>
                  <a:srgbClr val="00FF41"/>
                </a:solidFill>
                <a:latin typeface="Calibri" pitchFamily="34" charset="0"/>
                <a:ea typeface="Calibri" pitchFamily="34" charset="-122"/>
                <a:cs typeface="Calibri" pitchFamily="34" charset="-120"/>
              </a:rPr>
              <a:t>Disciplines</a:t>
            </a:r>
            <a:endParaRPr lang="en-US" sz="1400" dirty="0"/>
          </a:p>
        </p:txBody>
      </p:sp>
      <p:sp>
        <p:nvSpPr>
          <p:cNvPr id="11" name="Text 9"/>
          <p:cNvSpPr/>
          <p:nvPr/>
        </p:nvSpPr>
        <p:spPr>
          <a:xfrm>
            <a:off x="594360" y="3547872"/>
            <a:ext cx="2377440" cy="1097280"/>
          </a:xfrm>
          <a:prstGeom prst="rect">
            <a:avLst/>
          </a:prstGeom>
          <a:noFill/>
          <a:ln/>
        </p:spPr>
        <p:txBody>
          <a:bodyPr wrap="square" rtlCol="0" anchor="ctr"/>
          <a:lstStyle/>
          <a:p>
            <a:pPr marL="0" indent="0" algn="ctr">
              <a:buNone/>
            </a:pPr>
            <a:r>
              <a:rPr lang="en-US" sz="1200" dirty="0">
                <a:solidFill>
                  <a:srgbClr val="B0C8B0"/>
                </a:solidFill>
                <a:latin typeface="Calibri" pitchFamily="34" charset="0"/>
                <a:ea typeface="Calibri" pitchFamily="34" charset="-122"/>
                <a:cs typeface="Calibri" pitchFamily="34" charset="-120"/>
              </a:rPr>
              <a:t>CS2, Dota 2, League of Legends, Valorant, FIFA and dozens of other titles</a:t>
            </a:r>
            <a:endParaRPr lang="en-US" sz="1200" dirty="0"/>
          </a:p>
        </p:txBody>
      </p:sp>
      <p:sp>
        <p:nvSpPr>
          <p:cNvPr id="12" name="Shape 10"/>
          <p:cNvSpPr/>
          <p:nvPr/>
        </p:nvSpPr>
        <p:spPr>
          <a:xfrm>
            <a:off x="3291840" y="2331720"/>
            <a:ext cx="2651760" cy="2468880"/>
          </a:xfrm>
          <a:prstGeom prst="rect">
            <a:avLst/>
          </a:prstGeom>
          <a:solidFill>
            <a:srgbClr val="0A160A"/>
          </a:solidFill>
          <a:ln/>
          <a:effectLst>
            <a:outerShdw blurRad="101600" dist="25400" dir="8100000" algn="bl" rotWithShape="0">
              <a:srgbClr val="000000">
                <a:alpha val="50000"/>
              </a:srgbClr>
            </a:outerShdw>
          </a:effectLst>
        </p:spPr>
      </p:sp>
      <p:sp>
        <p:nvSpPr>
          <p:cNvPr id="13" name="Shape 11"/>
          <p:cNvSpPr/>
          <p:nvPr/>
        </p:nvSpPr>
        <p:spPr>
          <a:xfrm>
            <a:off x="3291840" y="2331720"/>
            <a:ext cx="2651760" cy="64008"/>
          </a:xfrm>
          <a:prstGeom prst="rect">
            <a:avLst/>
          </a:prstGeom>
          <a:solidFill>
            <a:srgbClr val="00FF41"/>
          </a:solidFill>
          <a:ln/>
        </p:spPr>
      </p:sp>
      <p:sp>
        <p:nvSpPr>
          <p:cNvPr id="14" name="Text 12"/>
          <p:cNvSpPr/>
          <p:nvPr/>
        </p:nvSpPr>
        <p:spPr>
          <a:xfrm>
            <a:off x="3291840" y="2468880"/>
            <a:ext cx="2651760" cy="64008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5" name="Text 13"/>
          <p:cNvSpPr/>
          <p:nvPr/>
        </p:nvSpPr>
        <p:spPr>
          <a:xfrm>
            <a:off x="3429000" y="3154680"/>
            <a:ext cx="2377440" cy="365760"/>
          </a:xfrm>
          <a:prstGeom prst="rect">
            <a:avLst/>
          </a:prstGeom>
          <a:noFill/>
          <a:ln/>
        </p:spPr>
        <p:txBody>
          <a:bodyPr wrap="square" rtlCol="0" anchor="ctr"/>
          <a:lstStyle/>
          <a:p>
            <a:pPr marL="0" indent="0" algn="ctr">
              <a:buNone/>
            </a:pPr>
            <a:r>
              <a:rPr lang="en-US" sz="1400" b="1" dirty="0">
                <a:solidFill>
                  <a:srgbClr val="00FF41"/>
                </a:solidFill>
                <a:latin typeface="Calibri" pitchFamily="34" charset="0"/>
                <a:ea typeface="Calibri" pitchFamily="34" charset="-122"/>
                <a:cs typeface="Calibri" pitchFamily="34" charset="-120"/>
              </a:rPr>
              <a:t>Scale</a:t>
            </a:r>
            <a:endParaRPr lang="en-US" sz="1400" dirty="0"/>
          </a:p>
        </p:txBody>
      </p:sp>
      <p:sp>
        <p:nvSpPr>
          <p:cNvPr id="16" name="Text 14"/>
          <p:cNvSpPr/>
          <p:nvPr/>
        </p:nvSpPr>
        <p:spPr>
          <a:xfrm>
            <a:off x="3429000" y="3547872"/>
            <a:ext cx="2377440" cy="1097280"/>
          </a:xfrm>
          <a:prstGeom prst="rect">
            <a:avLst/>
          </a:prstGeom>
          <a:noFill/>
          <a:ln/>
        </p:spPr>
        <p:txBody>
          <a:bodyPr wrap="square" rtlCol="0" anchor="ctr"/>
          <a:lstStyle/>
          <a:p>
            <a:pPr marL="0" indent="0" algn="ctr">
              <a:buNone/>
            </a:pPr>
            <a:r>
              <a:rPr lang="en-US" sz="1200" dirty="0">
                <a:solidFill>
                  <a:srgbClr val="B0C8B0"/>
                </a:solidFill>
                <a:latin typeface="Calibri" pitchFamily="34" charset="0"/>
                <a:ea typeface="Calibri" pitchFamily="34" charset="-122"/>
                <a:cs typeface="Calibri" pitchFamily="34" charset="-120"/>
              </a:rPr>
              <a:t>Over 500 million viewers watch esports events worldwide every year</a:t>
            </a:r>
            <a:endParaRPr lang="en-US" sz="1200" dirty="0"/>
          </a:p>
        </p:txBody>
      </p:sp>
      <p:sp>
        <p:nvSpPr>
          <p:cNvPr id="17" name="Shape 15"/>
          <p:cNvSpPr/>
          <p:nvPr/>
        </p:nvSpPr>
        <p:spPr>
          <a:xfrm>
            <a:off x="6126480" y="2331720"/>
            <a:ext cx="2651760" cy="2468880"/>
          </a:xfrm>
          <a:prstGeom prst="rect">
            <a:avLst/>
          </a:prstGeom>
          <a:solidFill>
            <a:srgbClr val="0A160A"/>
          </a:solidFill>
          <a:ln/>
          <a:effectLst>
            <a:outerShdw blurRad="101600" dist="25400" dir="8100000" algn="bl" rotWithShape="0">
              <a:srgbClr val="000000">
                <a:alpha val="50000"/>
              </a:srgbClr>
            </a:outerShdw>
          </a:effectLst>
        </p:spPr>
      </p:sp>
      <p:sp>
        <p:nvSpPr>
          <p:cNvPr id="18" name="Shape 16"/>
          <p:cNvSpPr/>
          <p:nvPr/>
        </p:nvSpPr>
        <p:spPr>
          <a:xfrm>
            <a:off x="6126480" y="2331720"/>
            <a:ext cx="2651760" cy="64008"/>
          </a:xfrm>
          <a:prstGeom prst="rect">
            <a:avLst/>
          </a:prstGeom>
          <a:solidFill>
            <a:srgbClr val="00FF41"/>
          </a:solidFill>
          <a:ln/>
        </p:spPr>
      </p:sp>
      <p:sp>
        <p:nvSpPr>
          <p:cNvPr id="19" name="Text 17"/>
          <p:cNvSpPr/>
          <p:nvPr/>
        </p:nvSpPr>
        <p:spPr>
          <a:xfrm>
            <a:off x="6126480" y="2468880"/>
            <a:ext cx="2651760" cy="64008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20" name="Text 18"/>
          <p:cNvSpPr/>
          <p:nvPr/>
        </p:nvSpPr>
        <p:spPr>
          <a:xfrm>
            <a:off x="6263640" y="3154680"/>
            <a:ext cx="2377440" cy="365760"/>
          </a:xfrm>
          <a:prstGeom prst="rect">
            <a:avLst/>
          </a:prstGeom>
          <a:noFill/>
          <a:ln/>
        </p:spPr>
        <p:txBody>
          <a:bodyPr wrap="square" rtlCol="0" anchor="ctr"/>
          <a:lstStyle/>
          <a:p>
            <a:pPr marL="0" indent="0" algn="ctr">
              <a:buNone/>
            </a:pPr>
            <a:r>
              <a:rPr lang="en-US" sz="1400" b="1" dirty="0">
                <a:solidFill>
                  <a:srgbClr val="00FF41"/>
                </a:solidFill>
                <a:latin typeface="Calibri" pitchFamily="34" charset="0"/>
                <a:ea typeface="Calibri" pitchFamily="34" charset="-122"/>
                <a:cs typeface="Calibri" pitchFamily="34" charset="-120"/>
              </a:rPr>
              <a:t>Industry</a:t>
            </a:r>
            <a:endParaRPr lang="en-US" sz="1400" dirty="0"/>
          </a:p>
        </p:txBody>
      </p:sp>
      <p:sp>
        <p:nvSpPr>
          <p:cNvPr id="21" name="Text 19"/>
          <p:cNvSpPr/>
          <p:nvPr/>
        </p:nvSpPr>
        <p:spPr>
          <a:xfrm>
            <a:off x="6263640" y="3547872"/>
            <a:ext cx="2377440" cy="1097280"/>
          </a:xfrm>
          <a:prstGeom prst="rect">
            <a:avLst/>
          </a:prstGeom>
          <a:noFill/>
          <a:ln/>
        </p:spPr>
        <p:txBody>
          <a:bodyPr wrap="square" rtlCol="0" anchor="ctr"/>
          <a:lstStyle/>
          <a:p>
            <a:pPr marL="0" indent="0" algn="ctr">
              <a:buNone/>
            </a:pPr>
            <a:r>
              <a:rPr lang="en-US" sz="1200" dirty="0">
                <a:solidFill>
                  <a:srgbClr val="B0C8B0"/>
                </a:solidFill>
                <a:latin typeface="Calibri" pitchFamily="34" charset="0"/>
                <a:ea typeface="Calibri" pitchFamily="34" charset="-122"/>
                <a:cs typeface="Calibri" pitchFamily="34" charset="-120"/>
              </a:rPr>
              <a:t>The global esports market exceeds $1.5 billion in annual revenue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050F0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9D353"/>
          </a:solidFill>
          <a:ln/>
        </p:spPr>
      </p:sp>
      <p:sp>
        <p:nvSpPr>
          <p:cNvPr id="3" name="Text 1"/>
          <p:cNvSpPr/>
          <p:nvPr/>
        </p:nvSpPr>
        <p:spPr>
          <a:xfrm>
            <a:off x="457200" y="182880"/>
            <a:ext cx="8229600" cy="594360"/>
          </a:xfrm>
          <a:prstGeom prst="rect">
            <a:avLst/>
          </a:prstGeom>
          <a:noFill/>
          <a:ln/>
        </p:spPr>
        <p:txBody>
          <a:bodyPr wrap="square" lIns="0" tIns="0" rIns="0" bIns="0" rtlCol="0" anchor="ctr"/>
          <a:lstStyle/>
          <a:p>
            <a:pPr marL="0" indent="0" algn="l">
              <a:buNone/>
            </a:pPr>
            <a:r>
              <a:rPr lang="en-US" sz="2400" b="1" dirty="0">
                <a:solidFill>
                  <a:srgbClr val="FFFFFF"/>
                </a:solidFill>
                <a:latin typeface="Arial Black" pitchFamily="34" charset="0"/>
                <a:ea typeface="Arial Black" pitchFamily="34" charset="-122"/>
                <a:cs typeface="Arial Black" pitchFamily="34" charset="-120"/>
              </a:rPr>
              <a:t>WHY DO YOUNG PEOPLE CHOOSE ESPORTS?</a:t>
            </a:r>
            <a:endParaRPr lang="en-US" sz="2400" dirty="0"/>
          </a:p>
        </p:txBody>
      </p:sp>
      <p:sp>
        <p:nvSpPr>
          <p:cNvPr id="4" name="Shape 2"/>
          <p:cNvSpPr/>
          <p:nvPr/>
        </p:nvSpPr>
        <p:spPr>
          <a:xfrm>
            <a:off x="457200" y="960120"/>
            <a:ext cx="4023360" cy="1828800"/>
          </a:xfrm>
          <a:prstGeom prst="rect">
            <a:avLst/>
          </a:prstGeom>
          <a:solidFill>
            <a:srgbClr val="152015"/>
          </a:solidFill>
          <a:ln/>
        </p:spPr>
      </p:sp>
      <p:sp>
        <p:nvSpPr>
          <p:cNvPr id="5" name="Shape 3"/>
          <p:cNvSpPr/>
          <p:nvPr/>
        </p:nvSpPr>
        <p:spPr>
          <a:xfrm>
            <a:off x="457200" y="960120"/>
            <a:ext cx="91440" cy="1828800"/>
          </a:xfrm>
          <a:prstGeom prst="rect">
            <a:avLst/>
          </a:prstGeom>
          <a:solidFill>
            <a:srgbClr val="00FF41"/>
          </a:solidFill>
          <a:ln/>
        </p:spPr>
      </p:sp>
      <p:sp>
        <p:nvSpPr>
          <p:cNvPr id="6" name="Text 4"/>
          <p:cNvSpPr/>
          <p:nvPr/>
        </p:nvSpPr>
        <p:spPr>
          <a:xfrm>
            <a:off x="640080" y="1069848"/>
            <a:ext cx="640080" cy="502920"/>
          </a:xfrm>
          <a:prstGeom prst="rect">
            <a:avLst/>
          </a:prstGeom>
          <a:noFill/>
          <a:ln/>
        </p:spPr>
        <p:txBody>
          <a:bodyPr wrap="square" lIns="0" tIns="0" rIns="0" bIns="0" rtlCol="0" anchor="ctr"/>
          <a:lstStyle/>
          <a:p>
            <a:pPr marL="0" indent="0">
              <a:buNone/>
            </a:pPr>
            <a:r>
              <a:rPr lang="en-US" sz="2800" b="1" dirty="0">
                <a:solidFill>
                  <a:srgbClr val="00FF41"/>
                </a:solidFill>
                <a:latin typeface="Arial Black" pitchFamily="34" charset="0"/>
                <a:ea typeface="Arial Black" pitchFamily="34" charset="-122"/>
                <a:cs typeface="Arial Black" pitchFamily="34" charset="-120"/>
              </a:rPr>
              <a:t>01</a:t>
            </a:r>
            <a:endParaRPr lang="en-US" sz="2800" dirty="0"/>
          </a:p>
        </p:txBody>
      </p:sp>
      <p:sp>
        <p:nvSpPr>
          <p:cNvPr id="7" name="Text 5"/>
          <p:cNvSpPr/>
          <p:nvPr/>
        </p:nvSpPr>
        <p:spPr>
          <a:xfrm>
            <a:off x="1280160" y="1097280"/>
            <a:ext cx="3017520"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Accessibility</a:t>
            </a:r>
            <a:endParaRPr lang="en-US" sz="1500" dirty="0"/>
          </a:p>
        </p:txBody>
      </p:sp>
      <p:sp>
        <p:nvSpPr>
          <p:cNvPr id="8" name="Text 6"/>
          <p:cNvSpPr/>
          <p:nvPr/>
        </p:nvSpPr>
        <p:spPr>
          <a:xfrm>
            <a:off x="640080" y="1554480"/>
            <a:ext cx="3749040" cy="1143000"/>
          </a:xfrm>
          <a:prstGeom prst="rect">
            <a:avLst/>
          </a:prstGeom>
          <a:noFill/>
          <a:ln/>
        </p:spPr>
        <p:txBody>
          <a:bodyPr wrap="square" rtlCol="0" anchor="ctr"/>
          <a:lstStyle/>
          <a:p>
            <a:pPr marL="0" indent="0">
              <a:buNone/>
            </a:pPr>
            <a:r>
              <a:rPr lang="en-US" sz="1250" dirty="0">
                <a:solidFill>
                  <a:srgbClr val="B0C8B0"/>
                </a:solidFill>
                <a:latin typeface="Calibri" pitchFamily="34" charset="0"/>
                <a:ea typeface="Calibri" pitchFamily="34" charset="-122"/>
                <a:cs typeface="Calibri" pitchFamily="34" charset="-120"/>
              </a:rPr>
              <a:t>All you need to start is a PC and internet. Anyone from anywhere in the world can enter esports, unlike traditional sports.</a:t>
            </a:r>
            <a:endParaRPr lang="en-US" sz="1250" dirty="0"/>
          </a:p>
        </p:txBody>
      </p:sp>
      <p:sp>
        <p:nvSpPr>
          <p:cNvPr id="9" name="Shape 7"/>
          <p:cNvSpPr/>
          <p:nvPr/>
        </p:nvSpPr>
        <p:spPr>
          <a:xfrm>
            <a:off x="4754880" y="960120"/>
            <a:ext cx="4023360" cy="1828800"/>
          </a:xfrm>
          <a:prstGeom prst="rect">
            <a:avLst/>
          </a:prstGeom>
          <a:solidFill>
            <a:srgbClr val="152015"/>
          </a:solidFill>
          <a:ln/>
        </p:spPr>
      </p:sp>
      <p:sp>
        <p:nvSpPr>
          <p:cNvPr id="10" name="Shape 8"/>
          <p:cNvSpPr/>
          <p:nvPr/>
        </p:nvSpPr>
        <p:spPr>
          <a:xfrm>
            <a:off x="4754880" y="960120"/>
            <a:ext cx="91440" cy="1828800"/>
          </a:xfrm>
          <a:prstGeom prst="rect">
            <a:avLst/>
          </a:prstGeom>
          <a:solidFill>
            <a:srgbClr val="39D353"/>
          </a:solidFill>
          <a:ln/>
        </p:spPr>
      </p:sp>
      <p:sp>
        <p:nvSpPr>
          <p:cNvPr id="11" name="Text 9"/>
          <p:cNvSpPr/>
          <p:nvPr/>
        </p:nvSpPr>
        <p:spPr>
          <a:xfrm>
            <a:off x="4937760" y="1069848"/>
            <a:ext cx="640080" cy="502920"/>
          </a:xfrm>
          <a:prstGeom prst="rect">
            <a:avLst/>
          </a:prstGeom>
          <a:noFill/>
          <a:ln/>
        </p:spPr>
        <p:txBody>
          <a:bodyPr wrap="square" lIns="0" tIns="0" rIns="0" bIns="0" rtlCol="0" anchor="ctr"/>
          <a:lstStyle/>
          <a:p>
            <a:pPr marL="0" indent="0">
              <a:buNone/>
            </a:pPr>
            <a:r>
              <a:rPr lang="en-US" sz="2800" b="1" dirty="0">
                <a:solidFill>
                  <a:srgbClr val="39D353"/>
                </a:solidFill>
                <a:latin typeface="Arial Black" pitchFamily="34" charset="0"/>
                <a:ea typeface="Arial Black" pitchFamily="34" charset="-122"/>
                <a:cs typeface="Arial Black" pitchFamily="34" charset="-120"/>
              </a:rPr>
              <a:t>02</a:t>
            </a:r>
            <a:endParaRPr lang="en-US" sz="2800" dirty="0"/>
          </a:p>
        </p:txBody>
      </p:sp>
      <p:sp>
        <p:nvSpPr>
          <p:cNvPr id="12" name="Text 10"/>
          <p:cNvSpPr/>
          <p:nvPr/>
        </p:nvSpPr>
        <p:spPr>
          <a:xfrm>
            <a:off x="5577840" y="1097280"/>
            <a:ext cx="3017520"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Community</a:t>
            </a:r>
            <a:endParaRPr lang="en-US" sz="1500" dirty="0"/>
          </a:p>
        </p:txBody>
      </p:sp>
      <p:sp>
        <p:nvSpPr>
          <p:cNvPr id="13" name="Text 11"/>
          <p:cNvSpPr/>
          <p:nvPr/>
        </p:nvSpPr>
        <p:spPr>
          <a:xfrm>
            <a:off x="4937760" y="1554480"/>
            <a:ext cx="3749040" cy="1143000"/>
          </a:xfrm>
          <a:prstGeom prst="rect">
            <a:avLst/>
          </a:prstGeom>
          <a:noFill/>
          <a:ln/>
        </p:spPr>
        <p:txBody>
          <a:bodyPr wrap="square" rtlCol="0" anchor="ctr"/>
          <a:lstStyle/>
          <a:p>
            <a:pPr marL="0" indent="0">
              <a:buNone/>
            </a:pPr>
            <a:r>
              <a:rPr lang="en-US" sz="1250" dirty="0">
                <a:solidFill>
                  <a:srgbClr val="B0C8B0"/>
                </a:solidFill>
                <a:latin typeface="Calibri" pitchFamily="34" charset="0"/>
                <a:ea typeface="Calibri" pitchFamily="34" charset="-122"/>
                <a:cs typeface="Calibri" pitchFamily="34" charset="-120"/>
              </a:rPr>
              <a:t>Millions-strong online communities, streams, and tournaments — young people find like-minded friends and build social bonds through gaming.</a:t>
            </a:r>
            <a:endParaRPr lang="en-US" sz="1250" dirty="0"/>
          </a:p>
        </p:txBody>
      </p:sp>
      <p:sp>
        <p:nvSpPr>
          <p:cNvPr id="14" name="Shape 12"/>
          <p:cNvSpPr/>
          <p:nvPr/>
        </p:nvSpPr>
        <p:spPr>
          <a:xfrm>
            <a:off x="457200" y="2971800"/>
            <a:ext cx="4023360" cy="1828800"/>
          </a:xfrm>
          <a:prstGeom prst="rect">
            <a:avLst/>
          </a:prstGeom>
          <a:solidFill>
            <a:srgbClr val="152015"/>
          </a:solidFill>
          <a:ln/>
        </p:spPr>
      </p:sp>
      <p:sp>
        <p:nvSpPr>
          <p:cNvPr id="15" name="Shape 13"/>
          <p:cNvSpPr/>
          <p:nvPr/>
        </p:nvSpPr>
        <p:spPr>
          <a:xfrm>
            <a:off x="457200" y="2971800"/>
            <a:ext cx="91440" cy="1828800"/>
          </a:xfrm>
          <a:prstGeom prst="rect">
            <a:avLst/>
          </a:prstGeom>
          <a:solidFill>
            <a:srgbClr val="ADFF2F"/>
          </a:solidFill>
          <a:ln/>
        </p:spPr>
      </p:sp>
      <p:sp>
        <p:nvSpPr>
          <p:cNvPr id="16" name="Text 14"/>
          <p:cNvSpPr/>
          <p:nvPr/>
        </p:nvSpPr>
        <p:spPr>
          <a:xfrm>
            <a:off x="640080" y="3081528"/>
            <a:ext cx="640080" cy="502920"/>
          </a:xfrm>
          <a:prstGeom prst="rect">
            <a:avLst/>
          </a:prstGeom>
          <a:noFill/>
          <a:ln/>
        </p:spPr>
        <p:txBody>
          <a:bodyPr wrap="square" lIns="0" tIns="0" rIns="0" bIns="0" rtlCol="0" anchor="ctr"/>
          <a:lstStyle/>
          <a:p>
            <a:pPr marL="0" indent="0">
              <a:buNone/>
            </a:pPr>
            <a:r>
              <a:rPr lang="en-US" sz="2800" b="1" dirty="0">
                <a:solidFill>
                  <a:srgbClr val="ADFF2F"/>
                </a:solidFill>
                <a:latin typeface="Arial Black" pitchFamily="34" charset="0"/>
                <a:ea typeface="Arial Black" pitchFamily="34" charset="-122"/>
                <a:cs typeface="Arial Black" pitchFamily="34" charset="-120"/>
              </a:rPr>
              <a:t>03</a:t>
            </a:r>
            <a:endParaRPr lang="en-US" sz="2800" dirty="0"/>
          </a:p>
        </p:txBody>
      </p:sp>
      <p:sp>
        <p:nvSpPr>
          <p:cNvPr id="17" name="Text 15"/>
          <p:cNvSpPr/>
          <p:nvPr/>
        </p:nvSpPr>
        <p:spPr>
          <a:xfrm>
            <a:off x="1280160" y="3108960"/>
            <a:ext cx="3017520"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Career &amp; Money</a:t>
            </a:r>
            <a:endParaRPr lang="en-US" sz="1500" dirty="0"/>
          </a:p>
        </p:txBody>
      </p:sp>
      <p:sp>
        <p:nvSpPr>
          <p:cNvPr id="18" name="Text 16"/>
          <p:cNvSpPr/>
          <p:nvPr/>
        </p:nvSpPr>
        <p:spPr>
          <a:xfrm>
            <a:off x="640080" y="3566160"/>
            <a:ext cx="3749040" cy="1143000"/>
          </a:xfrm>
          <a:prstGeom prst="rect">
            <a:avLst/>
          </a:prstGeom>
          <a:noFill/>
          <a:ln/>
        </p:spPr>
        <p:txBody>
          <a:bodyPr wrap="square" rtlCol="0" anchor="ctr"/>
          <a:lstStyle/>
          <a:p>
            <a:pPr marL="0" indent="0">
              <a:buNone/>
            </a:pPr>
            <a:r>
              <a:rPr lang="en-US" sz="1250" dirty="0">
                <a:solidFill>
                  <a:srgbClr val="B0C8B0"/>
                </a:solidFill>
                <a:latin typeface="Calibri" pitchFamily="34" charset="0"/>
                <a:ea typeface="Calibri" pitchFamily="34" charset="-122"/>
                <a:cs typeface="Calibri" pitchFamily="34" charset="-120"/>
              </a:rPr>
              <a:t>Pro players earn millions. Beyond gameplay, the industry offers careers as coaches, analysts, commentators and content creators.</a:t>
            </a:r>
            <a:endParaRPr lang="en-US" sz="1250" dirty="0"/>
          </a:p>
        </p:txBody>
      </p:sp>
      <p:sp>
        <p:nvSpPr>
          <p:cNvPr id="19" name="Shape 17"/>
          <p:cNvSpPr/>
          <p:nvPr/>
        </p:nvSpPr>
        <p:spPr>
          <a:xfrm>
            <a:off x="4754880" y="2971800"/>
            <a:ext cx="4023360" cy="1828800"/>
          </a:xfrm>
          <a:prstGeom prst="rect">
            <a:avLst/>
          </a:prstGeom>
          <a:solidFill>
            <a:srgbClr val="152015"/>
          </a:solidFill>
          <a:ln/>
        </p:spPr>
      </p:sp>
      <p:sp>
        <p:nvSpPr>
          <p:cNvPr id="20" name="Shape 18"/>
          <p:cNvSpPr/>
          <p:nvPr/>
        </p:nvSpPr>
        <p:spPr>
          <a:xfrm>
            <a:off x="4754880" y="2971800"/>
            <a:ext cx="91440" cy="1828800"/>
          </a:xfrm>
          <a:prstGeom prst="rect">
            <a:avLst/>
          </a:prstGeom>
          <a:solidFill>
            <a:srgbClr val="00FF41"/>
          </a:solidFill>
          <a:ln/>
        </p:spPr>
      </p:sp>
      <p:sp>
        <p:nvSpPr>
          <p:cNvPr id="21" name="Text 19"/>
          <p:cNvSpPr/>
          <p:nvPr/>
        </p:nvSpPr>
        <p:spPr>
          <a:xfrm>
            <a:off x="4937760" y="3081528"/>
            <a:ext cx="640080" cy="502920"/>
          </a:xfrm>
          <a:prstGeom prst="rect">
            <a:avLst/>
          </a:prstGeom>
          <a:noFill/>
          <a:ln/>
        </p:spPr>
        <p:txBody>
          <a:bodyPr wrap="square" lIns="0" tIns="0" rIns="0" bIns="0" rtlCol="0" anchor="ctr"/>
          <a:lstStyle/>
          <a:p>
            <a:pPr marL="0" indent="0">
              <a:buNone/>
            </a:pPr>
            <a:r>
              <a:rPr lang="en-US" sz="2800" b="1" dirty="0">
                <a:solidFill>
                  <a:srgbClr val="00FF41"/>
                </a:solidFill>
                <a:latin typeface="Arial Black" pitchFamily="34" charset="0"/>
                <a:ea typeface="Arial Black" pitchFamily="34" charset="-122"/>
                <a:cs typeface="Arial Black" pitchFamily="34" charset="-120"/>
              </a:rPr>
              <a:t>04</a:t>
            </a:r>
            <a:endParaRPr lang="en-US" sz="2800" dirty="0"/>
          </a:p>
        </p:txBody>
      </p:sp>
      <p:sp>
        <p:nvSpPr>
          <p:cNvPr id="22" name="Text 20"/>
          <p:cNvSpPr/>
          <p:nvPr/>
        </p:nvSpPr>
        <p:spPr>
          <a:xfrm>
            <a:off x="5577840" y="3108960"/>
            <a:ext cx="3017520"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Recognition &amp; Status</a:t>
            </a:r>
            <a:endParaRPr lang="en-US" sz="1500" dirty="0"/>
          </a:p>
        </p:txBody>
      </p:sp>
      <p:sp>
        <p:nvSpPr>
          <p:cNvPr id="23" name="Text 21"/>
          <p:cNvSpPr/>
          <p:nvPr/>
        </p:nvSpPr>
        <p:spPr>
          <a:xfrm>
            <a:off x="4937760" y="3566160"/>
            <a:ext cx="3749040" cy="1143000"/>
          </a:xfrm>
          <a:prstGeom prst="rect">
            <a:avLst/>
          </a:prstGeom>
          <a:noFill/>
          <a:ln/>
        </p:spPr>
        <p:txBody>
          <a:bodyPr wrap="square" rtlCol="0" anchor="ctr"/>
          <a:lstStyle/>
          <a:p>
            <a:pPr marL="0" indent="0">
              <a:buNone/>
            </a:pPr>
            <a:r>
              <a:rPr lang="en-US" sz="1250" dirty="0">
                <a:solidFill>
                  <a:srgbClr val="B0C8B0"/>
                </a:solidFill>
                <a:latin typeface="Calibri" pitchFamily="34" charset="0"/>
                <a:ea typeface="Calibri" pitchFamily="34" charset="-122"/>
                <a:cs typeface="Calibri" pitchFamily="34" charset="-120"/>
              </a:rPr>
              <a:t>Esports athletes are idols for millions. Winning a Major is comparable to triumphing at the Olympic Games.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F0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ADFF2F"/>
          </a:solidFill>
          <a:ln/>
        </p:spPr>
      </p:sp>
      <p:sp>
        <p:nvSpPr>
          <p:cNvPr id="3" name="Text 1"/>
          <p:cNvSpPr/>
          <p:nvPr/>
        </p:nvSpPr>
        <p:spPr>
          <a:xfrm>
            <a:off x="457200" y="182880"/>
            <a:ext cx="8229600" cy="594360"/>
          </a:xfrm>
          <a:prstGeom prst="rect">
            <a:avLst/>
          </a:prstGeom>
          <a:noFill/>
          <a:ln/>
        </p:spPr>
        <p:txBody>
          <a:bodyPr wrap="square" lIns="0" tIns="0" rIns="0" bIns="0" rtlCol="0" anchor="ctr"/>
          <a:lstStyle/>
          <a:p>
            <a:pPr marL="0" indent="0" algn="l">
              <a:buNone/>
            </a:pPr>
            <a:r>
              <a:rPr lang="en-US" sz="3000" b="1" dirty="0">
                <a:solidFill>
                  <a:srgbClr val="FFFFFF"/>
                </a:solidFill>
                <a:latin typeface="Arial Black" pitchFamily="34" charset="0"/>
                <a:ea typeface="Arial Black" pitchFamily="34" charset="-122"/>
                <a:cs typeface="Arial Black" pitchFamily="34" charset="-120"/>
              </a:rPr>
              <a:t>HOW TO BECOME A PRO PLAYER?</a:t>
            </a:r>
            <a:endParaRPr lang="en-US" sz="3000" dirty="0"/>
          </a:p>
        </p:txBody>
      </p:sp>
      <p:sp>
        <p:nvSpPr>
          <p:cNvPr id="4" name="Shape 2"/>
          <p:cNvSpPr/>
          <p:nvPr/>
        </p:nvSpPr>
        <p:spPr>
          <a:xfrm>
            <a:off x="320040" y="978408"/>
            <a:ext cx="530352" cy="530352"/>
          </a:xfrm>
          <a:prstGeom prst="ellipse">
            <a:avLst/>
          </a:prstGeom>
          <a:solidFill>
            <a:srgbClr val="00FF41"/>
          </a:solidFill>
          <a:ln/>
        </p:spPr>
      </p:sp>
      <p:sp>
        <p:nvSpPr>
          <p:cNvPr id="5" name="Text 3"/>
          <p:cNvSpPr/>
          <p:nvPr/>
        </p:nvSpPr>
        <p:spPr>
          <a:xfrm>
            <a:off x="320040" y="978408"/>
            <a:ext cx="530352" cy="530352"/>
          </a:xfrm>
          <a:prstGeom prst="rect">
            <a:avLst/>
          </a:prstGeom>
          <a:noFill/>
          <a:ln/>
        </p:spPr>
        <p:txBody>
          <a:bodyPr wrap="square" lIns="0" tIns="0" rIns="0" bIns="0" rtlCol="0" anchor="ctr"/>
          <a:lstStyle/>
          <a:p>
            <a:pPr marL="0" indent="0" algn="ctr">
              <a:buNone/>
            </a:pPr>
            <a:r>
              <a:rPr lang="en-US" sz="1800" b="1" dirty="0">
                <a:solidFill>
                  <a:srgbClr val="050F05"/>
                </a:solidFill>
                <a:latin typeface="Arial Black" pitchFamily="34" charset="0"/>
                <a:ea typeface="Arial Black" pitchFamily="34" charset="-122"/>
                <a:cs typeface="Arial Black" pitchFamily="34" charset="-120"/>
              </a:rPr>
              <a:t>1</a:t>
            </a:r>
            <a:endParaRPr lang="en-US" sz="1800" dirty="0"/>
          </a:p>
        </p:txBody>
      </p:sp>
      <p:sp>
        <p:nvSpPr>
          <p:cNvPr id="6" name="Shape 4"/>
          <p:cNvSpPr/>
          <p:nvPr/>
        </p:nvSpPr>
        <p:spPr>
          <a:xfrm>
            <a:off x="553212" y="1508760"/>
            <a:ext cx="27432" cy="274320"/>
          </a:xfrm>
          <a:prstGeom prst="rect">
            <a:avLst/>
          </a:prstGeom>
          <a:solidFill>
            <a:srgbClr val="1A7A1A"/>
          </a:solidFill>
          <a:ln/>
        </p:spPr>
      </p:sp>
      <p:sp>
        <p:nvSpPr>
          <p:cNvPr id="7" name="Shape 5"/>
          <p:cNvSpPr/>
          <p:nvPr/>
        </p:nvSpPr>
        <p:spPr>
          <a:xfrm>
            <a:off x="1005840" y="914400"/>
            <a:ext cx="7680960" cy="658368"/>
          </a:xfrm>
          <a:prstGeom prst="rect">
            <a:avLst/>
          </a:prstGeom>
          <a:solidFill>
            <a:srgbClr val="0A160A"/>
          </a:solidFill>
          <a:ln/>
        </p:spPr>
      </p:sp>
      <p:sp>
        <p:nvSpPr>
          <p:cNvPr id="8" name="Text 6"/>
          <p:cNvSpPr/>
          <p:nvPr/>
        </p:nvSpPr>
        <p:spPr>
          <a:xfrm>
            <a:off x="1143000" y="950976"/>
            <a:ext cx="3200400" cy="292608"/>
          </a:xfrm>
          <a:prstGeom prst="rect">
            <a:avLst/>
          </a:prstGeom>
          <a:noFill/>
          <a:ln/>
        </p:spPr>
        <p:txBody>
          <a:bodyPr wrap="square" lIns="0" tIns="0" rIns="0" bIns="0" rtlCol="0" anchor="ctr"/>
          <a:lstStyle/>
          <a:p>
            <a:pPr marL="0" indent="0">
              <a:buNone/>
            </a:pPr>
            <a:r>
              <a:rPr lang="en-US" sz="1400" b="1" dirty="0">
                <a:solidFill>
                  <a:srgbClr val="00FF41"/>
                </a:solidFill>
                <a:latin typeface="Calibri" pitchFamily="34" charset="0"/>
                <a:ea typeface="Calibri" pitchFamily="34" charset="-122"/>
                <a:cs typeface="Calibri" pitchFamily="34" charset="-120"/>
              </a:rPr>
              <a:t>Choose your discipline</a:t>
            </a:r>
            <a:endParaRPr lang="en-US" sz="1400" dirty="0"/>
          </a:p>
        </p:txBody>
      </p:sp>
      <p:sp>
        <p:nvSpPr>
          <p:cNvPr id="9" name="Text 7"/>
          <p:cNvSpPr/>
          <p:nvPr/>
        </p:nvSpPr>
        <p:spPr>
          <a:xfrm>
            <a:off x="1143000" y="1243584"/>
            <a:ext cx="7406640" cy="292608"/>
          </a:xfrm>
          <a:prstGeom prst="rect">
            <a:avLst/>
          </a:prstGeom>
          <a:noFill/>
          <a:ln/>
        </p:spPr>
        <p:txBody>
          <a:bodyPr wrap="square" lIns="0" tIns="0" rIns="0" bIns="0" rtlCol="0" anchor="ctr"/>
          <a:lstStyle/>
          <a:p>
            <a:pPr marL="0" indent="0">
              <a:buNone/>
            </a:pPr>
            <a:r>
              <a:rPr lang="en-US" sz="1200" dirty="0">
                <a:solidFill>
                  <a:srgbClr val="B0C8B0"/>
                </a:solidFill>
                <a:latin typeface="Calibri" pitchFamily="34" charset="0"/>
                <a:ea typeface="Calibri" pitchFamily="34" charset="-122"/>
                <a:cs typeface="Calibri" pitchFamily="34" charset="-120"/>
              </a:rPr>
              <a:t>Pick one game and focus on it. The best players are specialists, not generalists.</a:t>
            </a:r>
            <a:endParaRPr lang="en-US" sz="1200" dirty="0"/>
          </a:p>
        </p:txBody>
      </p:sp>
      <p:sp>
        <p:nvSpPr>
          <p:cNvPr id="10" name="Shape 8"/>
          <p:cNvSpPr/>
          <p:nvPr/>
        </p:nvSpPr>
        <p:spPr>
          <a:xfrm>
            <a:off x="320040" y="1783080"/>
            <a:ext cx="530352" cy="530352"/>
          </a:xfrm>
          <a:prstGeom prst="ellipse">
            <a:avLst/>
          </a:prstGeom>
          <a:solidFill>
            <a:srgbClr val="39D353"/>
          </a:solidFill>
          <a:ln/>
        </p:spPr>
      </p:sp>
      <p:sp>
        <p:nvSpPr>
          <p:cNvPr id="11" name="Text 9"/>
          <p:cNvSpPr/>
          <p:nvPr/>
        </p:nvSpPr>
        <p:spPr>
          <a:xfrm>
            <a:off x="320040" y="1783080"/>
            <a:ext cx="530352" cy="530352"/>
          </a:xfrm>
          <a:prstGeom prst="rect">
            <a:avLst/>
          </a:prstGeom>
          <a:noFill/>
          <a:ln/>
        </p:spPr>
        <p:txBody>
          <a:bodyPr wrap="square" lIns="0" tIns="0" rIns="0" bIns="0" rtlCol="0" anchor="ctr"/>
          <a:lstStyle/>
          <a:p>
            <a:pPr marL="0" indent="0" algn="ctr">
              <a:buNone/>
            </a:pPr>
            <a:r>
              <a:rPr lang="en-US" sz="1800" b="1" dirty="0">
                <a:solidFill>
                  <a:srgbClr val="050F05"/>
                </a:solidFill>
                <a:latin typeface="Arial Black" pitchFamily="34" charset="0"/>
                <a:ea typeface="Arial Black" pitchFamily="34" charset="-122"/>
                <a:cs typeface="Arial Black" pitchFamily="34" charset="-120"/>
              </a:rPr>
              <a:t>2</a:t>
            </a:r>
            <a:endParaRPr lang="en-US" sz="1800" dirty="0"/>
          </a:p>
        </p:txBody>
      </p:sp>
      <p:sp>
        <p:nvSpPr>
          <p:cNvPr id="12" name="Shape 10"/>
          <p:cNvSpPr/>
          <p:nvPr/>
        </p:nvSpPr>
        <p:spPr>
          <a:xfrm>
            <a:off x="553212" y="2313432"/>
            <a:ext cx="27432" cy="274320"/>
          </a:xfrm>
          <a:prstGeom prst="rect">
            <a:avLst/>
          </a:prstGeom>
          <a:solidFill>
            <a:srgbClr val="1A7A1A"/>
          </a:solidFill>
          <a:ln/>
        </p:spPr>
      </p:sp>
      <p:sp>
        <p:nvSpPr>
          <p:cNvPr id="13" name="Shape 11"/>
          <p:cNvSpPr/>
          <p:nvPr/>
        </p:nvSpPr>
        <p:spPr>
          <a:xfrm>
            <a:off x="1005840" y="1719072"/>
            <a:ext cx="7680960" cy="658368"/>
          </a:xfrm>
          <a:prstGeom prst="rect">
            <a:avLst/>
          </a:prstGeom>
          <a:solidFill>
            <a:srgbClr val="0A160A"/>
          </a:solidFill>
          <a:ln/>
        </p:spPr>
      </p:sp>
      <p:sp>
        <p:nvSpPr>
          <p:cNvPr id="14" name="Text 12"/>
          <p:cNvSpPr/>
          <p:nvPr/>
        </p:nvSpPr>
        <p:spPr>
          <a:xfrm>
            <a:off x="1143000" y="1755648"/>
            <a:ext cx="3200400" cy="292608"/>
          </a:xfrm>
          <a:prstGeom prst="rect">
            <a:avLst/>
          </a:prstGeom>
          <a:noFill/>
          <a:ln/>
        </p:spPr>
        <p:txBody>
          <a:bodyPr wrap="square" lIns="0" tIns="0" rIns="0" bIns="0" rtlCol="0" anchor="ctr"/>
          <a:lstStyle/>
          <a:p>
            <a:pPr marL="0" indent="0">
              <a:buNone/>
            </a:pPr>
            <a:r>
              <a:rPr lang="en-US" sz="1400" b="1" dirty="0">
                <a:solidFill>
                  <a:srgbClr val="39D353"/>
                </a:solidFill>
                <a:latin typeface="Calibri" pitchFamily="34" charset="0"/>
                <a:ea typeface="Calibri" pitchFamily="34" charset="-122"/>
                <a:cs typeface="Calibri" pitchFamily="34" charset="-120"/>
              </a:rPr>
              <a:t>Ranked &amp; online leagues</a:t>
            </a:r>
            <a:endParaRPr lang="en-US" sz="1400" dirty="0"/>
          </a:p>
        </p:txBody>
      </p:sp>
      <p:sp>
        <p:nvSpPr>
          <p:cNvPr id="15" name="Text 13"/>
          <p:cNvSpPr/>
          <p:nvPr/>
        </p:nvSpPr>
        <p:spPr>
          <a:xfrm>
            <a:off x="1143000" y="2048256"/>
            <a:ext cx="7406640" cy="292608"/>
          </a:xfrm>
          <a:prstGeom prst="rect">
            <a:avLst/>
          </a:prstGeom>
          <a:noFill/>
          <a:ln/>
        </p:spPr>
        <p:txBody>
          <a:bodyPr wrap="square" lIns="0" tIns="0" rIns="0" bIns="0" rtlCol="0" anchor="ctr"/>
          <a:lstStyle/>
          <a:p>
            <a:pPr marL="0" indent="0">
              <a:buNone/>
            </a:pPr>
            <a:r>
              <a:rPr lang="en-US" sz="1200" dirty="0">
                <a:solidFill>
                  <a:srgbClr val="B0C8B0"/>
                </a:solidFill>
                <a:latin typeface="Calibri" pitchFamily="34" charset="0"/>
                <a:ea typeface="Calibri" pitchFamily="34" charset="-122"/>
                <a:cs typeface="Calibri" pitchFamily="34" charset="-120"/>
              </a:rPr>
              <a:t>Start with ranked matches. Climb the ladder, study the meta, review your gameplay.</a:t>
            </a:r>
            <a:endParaRPr lang="en-US" sz="1200" dirty="0"/>
          </a:p>
        </p:txBody>
      </p:sp>
      <p:sp>
        <p:nvSpPr>
          <p:cNvPr id="16" name="Shape 14"/>
          <p:cNvSpPr/>
          <p:nvPr/>
        </p:nvSpPr>
        <p:spPr>
          <a:xfrm>
            <a:off x="320040" y="2587752"/>
            <a:ext cx="530352" cy="530352"/>
          </a:xfrm>
          <a:prstGeom prst="ellipse">
            <a:avLst/>
          </a:prstGeom>
          <a:solidFill>
            <a:srgbClr val="ADFF2F"/>
          </a:solidFill>
          <a:ln/>
        </p:spPr>
      </p:sp>
      <p:sp>
        <p:nvSpPr>
          <p:cNvPr id="17" name="Text 15"/>
          <p:cNvSpPr/>
          <p:nvPr/>
        </p:nvSpPr>
        <p:spPr>
          <a:xfrm>
            <a:off x="320040" y="2587752"/>
            <a:ext cx="530352" cy="530352"/>
          </a:xfrm>
          <a:prstGeom prst="rect">
            <a:avLst/>
          </a:prstGeom>
          <a:noFill/>
          <a:ln/>
        </p:spPr>
        <p:txBody>
          <a:bodyPr wrap="square" lIns="0" tIns="0" rIns="0" bIns="0" rtlCol="0" anchor="ctr"/>
          <a:lstStyle/>
          <a:p>
            <a:pPr marL="0" indent="0" algn="ctr">
              <a:buNone/>
            </a:pPr>
            <a:r>
              <a:rPr lang="en-US" sz="1800" b="1" dirty="0">
                <a:solidFill>
                  <a:srgbClr val="050F05"/>
                </a:solidFill>
                <a:latin typeface="Arial Black" pitchFamily="34" charset="0"/>
                <a:ea typeface="Arial Black" pitchFamily="34" charset="-122"/>
                <a:cs typeface="Arial Black" pitchFamily="34" charset="-120"/>
              </a:rPr>
              <a:t>3</a:t>
            </a:r>
            <a:endParaRPr lang="en-US" sz="1800" dirty="0"/>
          </a:p>
        </p:txBody>
      </p:sp>
      <p:sp>
        <p:nvSpPr>
          <p:cNvPr id="18" name="Shape 16"/>
          <p:cNvSpPr/>
          <p:nvPr/>
        </p:nvSpPr>
        <p:spPr>
          <a:xfrm>
            <a:off x="553212" y="3118104"/>
            <a:ext cx="27432" cy="274320"/>
          </a:xfrm>
          <a:prstGeom prst="rect">
            <a:avLst/>
          </a:prstGeom>
          <a:solidFill>
            <a:srgbClr val="1A7A1A"/>
          </a:solidFill>
          <a:ln/>
        </p:spPr>
      </p:sp>
      <p:sp>
        <p:nvSpPr>
          <p:cNvPr id="19" name="Shape 17"/>
          <p:cNvSpPr/>
          <p:nvPr/>
        </p:nvSpPr>
        <p:spPr>
          <a:xfrm>
            <a:off x="1005840" y="2523744"/>
            <a:ext cx="7680960" cy="658368"/>
          </a:xfrm>
          <a:prstGeom prst="rect">
            <a:avLst/>
          </a:prstGeom>
          <a:solidFill>
            <a:srgbClr val="0A160A"/>
          </a:solidFill>
          <a:ln/>
        </p:spPr>
      </p:sp>
      <p:sp>
        <p:nvSpPr>
          <p:cNvPr id="20" name="Text 18"/>
          <p:cNvSpPr/>
          <p:nvPr/>
        </p:nvSpPr>
        <p:spPr>
          <a:xfrm>
            <a:off x="1143000" y="2560320"/>
            <a:ext cx="3200400" cy="292608"/>
          </a:xfrm>
          <a:prstGeom prst="rect">
            <a:avLst/>
          </a:prstGeom>
          <a:noFill/>
          <a:ln/>
        </p:spPr>
        <p:txBody>
          <a:bodyPr wrap="square" lIns="0" tIns="0" rIns="0" bIns="0" rtlCol="0" anchor="ctr"/>
          <a:lstStyle/>
          <a:p>
            <a:pPr marL="0" indent="0">
              <a:buNone/>
            </a:pPr>
            <a:r>
              <a:rPr lang="en-US" sz="1400" b="1" dirty="0">
                <a:solidFill>
                  <a:srgbClr val="ADFF2F"/>
                </a:solidFill>
                <a:latin typeface="Calibri" pitchFamily="34" charset="0"/>
                <a:ea typeface="Calibri" pitchFamily="34" charset="-122"/>
                <a:cs typeface="Calibri" pitchFamily="34" charset="-120"/>
              </a:rPr>
              <a:t>Local LANs &amp; city tournaments</a:t>
            </a:r>
            <a:endParaRPr lang="en-US" sz="1400" dirty="0"/>
          </a:p>
        </p:txBody>
      </p:sp>
      <p:sp>
        <p:nvSpPr>
          <p:cNvPr id="21" name="Text 19"/>
          <p:cNvSpPr/>
          <p:nvPr/>
        </p:nvSpPr>
        <p:spPr>
          <a:xfrm>
            <a:off x="1143000" y="2852928"/>
            <a:ext cx="7406640" cy="292608"/>
          </a:xfrm>
          <a:prstGeom prst="rect">
            <a:avLst/>
          </a:prstGeom>
          <a:noFill/>
          <a:ln/>
        </p:spPr>
        <p:txBody>
          <a:bodyPr wrap="square" lIns="0" tIns="0" rIns="0" bIns="0" rtlCol="0" anchor="ctr"/>
          <a:lstStyle/>
          <a:p>
            <a:pPr marL="0" indent="0">
              <a:buNone/>
            </a:pPr>
            <a:r>
              <a:rPr lang="en-US" sz="1200" dirty="0">
                <a:solidFill>
                  <a:srgbClr val="B0C8B0"/>
                </a:solidFill>
                <a:latin typeface="Calibri" pitchFamily="34" charset="0"/>
                <a:ea typeface="Calibri" pitchFamily="34" charset="-122"/>
                <a:cs typeface="Calibri" pitchFamily="34" charset="-120"/>
              </a:rPr>
              <a:t>Compete in offline city and regional events — this is where scouts from organizations spot talent.</a:t>
            </a:r>
            <a:endParaRPr lang="en-US" sz="1200" dirty="0"/>
          </a:p>
        </p:txBody>
      </p:sp>
      <p:sp>
        <p:nvSpPr>
          <p:cNvPr id="22" name="Shape 20"/>
          <p:cNvSpPr/>
          <p:nvPr/>
        </p:nvSpPr>
        <p:spPr>
          <a:xfrm>
            <a:off x="320040" y="3392424"/>
            <a:ext cx="530352" cy="530352"/>
          </a:xfrm>
          <a:prstGeom prst="ellipse">
            <a:avLst/>
          </a:prstGeom>
          <a:solidFill>
            <a:srgbClr val="00FF41"/>
          </a:solidFill>
          <a:ln/>
        </p:spPr>
      </p:sp>
      <p:sp>
        <p:nvSpPr>
          <p:cNvPr id="23" name="Text 21"/>
          <p:cNvSpPr/>
          <p:nvPr/>
        </p:nvSpPr>
        <p:spPr>
          <a:xfrm>
            <a:off x="320040" y="3392424"/>
            <a:ext cx="530352" cy="530352"/>
          </a:xfrm>
          <a:prstGeom prst="rect">
            <a:avLst/>
          </a:prstGeom>
          <a:noFill/>
          <a:ln/>
        </p:spPr>
        <p:txBody>
          <a:bodyPr wrap="square" lIns="0" tIns="0" rIns="0" bIns="0" rtlCol="0" anchor="ctr"/>
          <a:lstStyle/>
          <a:p>
            <a:pPr marL="0" indent="0" algn="ctr">
              <a:buNone/>
            </a:pPr>
            <a:r>
              <a:rPr lang="en-US" sz="1800" b="1" dirty="0">
                <a:solidFill>
                  <a:srgbClr val="050F05"/>
                </a:solidFill>
                <a:latin typeface="Arial Black" pitchFamily="34" charset="0"/>
                <a:ea typeface="Arial Black" pitchFamily="34" charset="-122"/>
                <a:cs typeface="Arial Black" pitchFamily="34" charset="-120"/>
              </a:rPr>
              <a:t>4</a:t>
            </a:r>
            <a:endParaRPr lang="en-US" sz="1800" dirty="0"/>
          </a:p>
        </p:txBody>
      </p:sp>
      <p:sp>
        <p:nvSpPr>
          <p:cNvPr id="24" name="Shape 22"/>
          <p:cNvSpPr/>
          <p:nvPr/>
        </p:nvSpPr>
        <p:spPr>
          <a:xfrm>
            <a:off x="553212" y="3922776"/>
            <a:ext cx="27432" cy="274320"/>
          </a:xfrm>
          <a:prstGeom prst="rect">
            <a:avLst/>
          </a:prstGeom>
          <a:solidFill>
            <a:srgbClr val="1A7A1A"/>
          </a:solidFill>
          <a:ln/>
        </p:spPr>
      </p:sp>
      <p:sp>
        <p:nvSpPr>
          <p:cNvPr id="25" name="Shape 23"/>
          <p:cNvSpPr/>
          <p:nvPr/>
        </p:nvSpPr>
        <p:spPr>
          <a:xfrm>
            <a:off x="1005840" y="3328416"/>
            <a:ext cx="7680960" cy="658368"/>
          </a:xfrm>
          <a:prstGeom prst="rect">
            <a:avLst/>
          </a:prstGeom>
          <a:solidFill>
            <a:srgbClr val="0A160A"/>
          </a:solidFill>
          <a:ln/>
        </p:spPr>
      </p:sp>
      <p:sp>
        <p:nvSpPr>
          <p:cNvPr id="26" name="Text 24"/>
          <p:cNvSpPr/>
          <p:nvPr/>
        </p:nvSpPr>
        <p:spPr>
          <a:xfrm>
            <a:off x="1143000" y="3364992"/>
            <a:ext cx="3200400" cy="292608"/>
          </a:xfrm>
          <a:prstGeom prst="rect">
            <a:avLst/>
          </a:prstGeom>
          <a:noFill/>
          <a:ln/>
        </p:spPr>
        <p:txBody>
          <a:bodyPr wrap="square" lIns="0" tIns="0" rIns="0" bIns="0" rtlCol="0" anchor="ctr"/>
          <a:lstStyle/>
          <a:p>
            <a:pPr marL="0" indent="0">
              <a:buNone/>
            </a:pPr>
            <a:r>
              <a:rPr lang="en-US" sz="1400" b="1" dirty="0">
                <a:solidFill>
                  <a:srgbClr val="00FF41"/>
                </a:solidFill>
                <a:latin typeface="Calibri" pitchFamily="34" charset="0"/>
                <a:ea typeface="Calibri" pitchFamily="34" charset="-122"/>
                <a:cs typeface="Calibri" pitchFamily="34" charset="-120"/>
              </a:rPr>
              <a:t>Academies &amp; teams</a:t>
            </a:r>
            <a:endParaRPr lang="en-US" sz="1400" dirty="0"/>
          </a:p>
        </p:txBody>
      </p:sp>
      <p:sp>
        <p:nvSpPr>
          <p:cNvPr id="27" name="Text 25"/>
          <p:cNvSpPr/>
          <p:nvPr/>
        </p:nvSpPr>
        <p:spPr>
          <a:xfrm>
            <a:off x="1143000" y="3657600"/>
            <a:ext cx="7406640" cy="292608"/>
          </a:xfrm>
          <a:prstGeom prst="rect">
            <a:avLst/>
          </a:prstGeom>
          <a:noFill/>
          <a:ln/>
        </p:spPr>
        <p:txBody>
          <a:bodyPr wrap="square" lIns="0" tIns="0" rIns="0" bIns="0" rtlCol="0" anchor="ctr"/>
          <a:lstStyle/>
          <a:p>
            <a:pPr marL="0" indent="0">
              <a:buNone/>
            </a:pPr>
            <a:r>
              <a:rPr lang="en-US" sz="1200" dirty="0">
                <a:solidFill>
                  <a:srgbClr val="B0C8B0"/>
                </a:solidFill>
                <a:latin typeface="Calibri" pitchFamily="34" charset="0"/>
                <a:ea typeface="Calibri" pitchFamily="34" charset="-122"/>
                <a:cs typeface="Calibri" pitchFamily="34" charset="-120"/>
              </a:rPr>
              <a:t>Top orgs like Team Spirit and Falcons run academies. Get signed and grow professionally.</a:t>
            </a:r>
            <a:endParaRPr lang="en-US" sz="1200" dirty="0"/>
          </a:p>
        </p:txBody>
      </p:sp>
      <p:sp>
        <p:nvSpPr>
          <p:cNvPr id="28" name="Shape 26"/>
          <p:cNvSpPr/>
          <p:nvPr/>
        </p:nvSpPr>
        <p:spPr>
          <a:xfrm>
            <a:off x="320040" y="4197096"/>
            <a:ext cx="530352" cy="530352"/>
          </a:xfrm>
          <a:prstGeom prst="ellipse">
            <a:avLst/>
          </a:prstGeom>
          <a:solidFill>
            <a:srgbClr val="39D353"/>
          </a:solidFill>
          <a:ln/>
        </p:spPr>
      </p:sp>
      <p:sp>
        <p:nvSpPr>
          <p:cNvPr id="29" name="Text 27"/>
          <p:cNvSpPr/>
          <p:nvPr/>
        </p:nvSpPr>
        <p:spPr>
          <a:xfrm>
            <a:off x="320040" y="4197096"/>
            <a:ext cx="530352" cy="530352"/>
          </a:xfrm>
          <a:prstGeom prst="rect">
            <a:avLst/>
          </a:prstGeom>
          <a:noFill/>
          <a:ln/>
        </p:spPr>
        <p:txBody>
          <a:bodyPr wrap="square" lIns="0" tIns="0" rIns="0" bIns="0" rtlCol="0" anchor="ctr"/>
          <a:lstStyle/>
          <a:p>
            <a:pPr marL="0" indent="0" algn="ctr">
              <a:buNone/>
            </a:pPr>
            <a:r>
              <a:rPr lang="en-US" sz="1800" b="1" dirty="0">
                <a:solidFill>
                  <a:srgbClr val="050F05"/>
                </a:solidFill>
                <a:latin typeface="Arial Black" pitchFamily="34" charset="0"/>
                <a:ea typeface="Arial Black" pitchFamily="34" charset="-122"/>
                <a:cs typeface="Arial Black" pitchFamily="34" charset="-120"/>
              </a:rPr>
              <a:t>5</a:t>
            </a:r>
            <a:endParaRPr lang="en-US" sz="1800" dirty="0"/>
          </a:p>
        </p:txBody>
      </p:sp>
      <p:sp>
        <p:nvSpPr>
          <p:cNvPr id="30" name="Shape 28"/>
          <p:cNvSpPr/>
          <p:nvPr/>
        </p:nvSpPr>
        <p:spPr>
          <a:xfrm>
            <a:off x="1005840" y="4133088"/>
            <a:ext cx="7680960" cy="658368"/>
          </a:xfrm>
          <a:prstGeom prst="rect">
            <a:avLst/>
          </a:prstGeom>
          <a:solidFill>
            <a:srgbClr val="0A160A"/>
          </a:solidFill>
          <a:ln/>
        </p:spPr>
      </p:sp>
      <p:sp>
        <p:nvSpPr>
          <p:cNvPr id="31" name="Text 29"/>
          <p:cNvSpPr/>
          <p:nvPr/>
        </p:nvSpPr>
        <p:spPr>
          <a:xfrm>
            <a:off x="1143000" y="4169664"/>
            <a:ext cx="3200400" cy="292608"/>
          </a:xfrm>
          <a:prstGeom prst="rect">
            <a:avLst/>
          </a:prstGeom>
          <a:noFill/>
          <a:ln/>
        </p:spPr>
        <p:txBody>
          <a:bodyPr wrap="square" lIns="0" tIns="0" rIns="0" bIns="0" rtlCol="0" anchor="ctr"/>
          <a:lstStyle/>
          <a:p>
            <a:pPr marL="0" indent="0">
              <a:buNone/>
            </a:pPr>
            <a:r>
              <a:rPr lang="en-US" sz="1400" b="1" dirty="0">
                <a:solidFill>
                  <a:srgbClr val="39D353"/>
                </a:solidFill>
                <a:latin typeface="Calibri" pitchFamily="34" charset="0"/>
                <a:ea typeface="Calibri" pitchFamily="34" charset="-122"/>
                <a:cs typeface="Calibri" pitchFamily="34" charset="-120"/>
              </a:rPr>
              <a:t>Professional scene</a:t>
            </a:r>
            <a:endParaRPr lang="en-US" sz="1400" dirty="0"/>
          </a:p>
        </p:txBody>
      </p:sp>
      <p:sp>
        <p:nvSpPr>
          <p:cNvPr id="32" name="Text 30"/>
          <p:cNvSpPr/>
          <p:nvPr/>
        </p:nvSpPr>
        <p:spPr>
          <a:xfrm>
            <a:off x="1143000" y="4462272"/>
            <a:ext cx="7406640" cy="292608"/>
          </a:xfrm>
          <a:prstGeom prst="rect">
            <a:avLst/>
          </a:prstGeom>
          <a:noFill/>
          <a:ln/>
        </p:spPr>
        <p:txBody>
          <a:bodyPr wrap="square" lIns="0" tIns="0" rIns="0" bIns="0" rtlCol="0" anchor="ctr"/>
          <a:lstStyle/>
          <a:p>
            <a:pPr marL="0" indent="0">
              <a:buNone/>
            </a:pPr>
            <a:r>
              <a:rPr lang="en-US" sz="1200" dirty="0">
                <a:solidFill>
                  <a:srgbClr val="B0C8B0"/>
                </a:solidFill>
                <a:latin typeface="Calibri" pitchFamily="34" charset="0"/>
                <a:ea typeface="Calibri" pitchFamily="34" charset="-122"/>
                <a:cs typeface="Calibri" pitchFamily="34" charset="-120"/>
              </a:rPr>
              <a:t>Regional leagues → international tournaments → Majors. It's a long road, but a real one.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0F0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7A1A"/>
          </a:solidFill>
          <a:ln/>
        </p:spPr>
      </p:sp>
      <p:sp>
        <p:nvSpPr>
          <p:cNvPr id="3" name="Text 1"/>
          <p:cNvSpPr/>
          <p:nvPr/>
        </p:nvSpPr>
        <p:spPr>
          <a:xfrm>
            <a:off x="457200" y="182880"/>
            <a:ext cx="822960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Arial Black" pitchFamily="34" charset="0"/>
                <a:ea typeface="Arial Black" pitchFamily="34" charset="-122"/>
                <a:cs typeface="Arial Black" pitchFamily="34" charset="-120"/>
              </a:rPr>
              <a:t>ESPORTS IS A REAL SPORT</a:t>
            </a:r>
            <a:endParaRPr lang="en-US" sz="2800" dirty="0"/>
          </a:p>
        </p:txBody>
      </p:sp>
      <p:pic>
        <p:nvPicPr>
          <p:cNvPr id="4" name="Image 0" descr="/home/claude/img2.png"/>
          <p:cNvPicPr>
            <a:picLocks noChangeAspect="1"/>
          </p:cNvPicPr>
          <p:nvPr/>
        </p:nvPicPr>
        <p:blipFill>
          <a:blip r:embed="rId3"/>
          <a:srcRect/>
          <a:stretch/>
        </p:blipFill>
        <p:spPr>
          <a:xfrm>
            <a:off x="365760" y="960120"/>
            <a:ext cx="3291840" cy="3749040"/>
          </a:xfrm>
          <a:prstGeom prst="rect">
            <a:avLst/>
          </a:prstGeom>
        </p:spPr>
      </p:pic>
      <p:sp>
        <p:nvSpPr>
          <p:cNvPr id="5" name="Shape 2"/>
          <p:cNvSpPr/>
          <p:nvPr/>
        </p:nvSpPr>
        <p:spPr>
          <a:xfrm>
            <a:off x="3886200" y="960120"/>
            <a:ext cx="4937760" cy="1143000"/>
          </a:xfrm>
          <a:prstGeom prst="rect">
            <a:avLst/>
          </a:prstGeom>
          <a:solidFill>
            <a:srgbClr val="152015"/>
          </a:solidFill>
          <a:ln/>
        </p:spPr>
      </p:sp>
      <p:sp>
        <p:nvSpPr>
          <p:cNvPr id="6" name="Shape 3"/>
          <p:cNvSpPr/>
          <p:nvPr/>
        </p:nvSpPr>
        <p:spPr>
          <a:xfrm>
            <a:off x="3886200" y="960120"/>
            <a:ext cx="91440" cy="1143000"/>
          </a:xfrm>
          <a:prstGeom prst="rect">
            <a:avLst/>
          </a:prstGeom>
          <a:solidFill>
            <a:srgbClr val="1A7A1A"/>
          </a:solidFill>
          <a:ln/>
        </p:spPr>
      </p:sp>
      <p:sp>
        <p:nvSpPr>
          <p:cNvPr id="7" name="Text 4"/>
          <p:cNvSpPr/>
          <p:nvPr/>
        </p:nvSpPr>
        <p:spPr>
          <a:xfrm>
            <a:off x="4023360" y="1005840"/>
            <a:ext cx="640080"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8" name="Text 5"/>
          <p:cNvSpPr/>
          <p:nvPr/>
        </p:nvSpPr>
        <p:spPr>
          <a:xfrm>
            <a:off x="4617720" y="1005840"/>
            <a:ext cx="4069080" cy="347472"/>
          </a:xfrm>
          <a:prstGeom prst="rect">
            <a:avLst/>
          </a:prstGeom>
          <a:noFill/>
          <a:ln/>
        </p:spPr>
        <p:txBody>
          <a:bodyPr wrap="square" lIns="0" tIns="0" rIns="0" bIns="0" rtlCol="0" anchor="ctr"/>
          <a:lstStyle/>
          <a:p>
            <a:pPr marL="0" indent="0">
              <a:buNone/>
            </a:pPr>
            <a:r>
              <a:rPr lang="en-US" sz="1350" b="1" dirty="0">
                <a:solidFill>
                  <a:srgbClr val="00FF41"/>
                </a:solidFill>
                <a:latin typeface="Calibri" pitchFamily="34" charset="0"/>
                <a:ea typeface="Calibri" pitchFamily="34" charset="-122"/>
                <a:cs typeface="Calibri" pitchFamily="34" charset="-120"/>
              </a:rPr>
              <a:t>10–14 hours of training per day</a:t>
            </a:r>
            <a:endParaRPr lang="en-US" sz="1350" dirty="0"/>
          </a:p>
        </p:txBody>
      </p:sp>
      <p:sp>
        <p:nvSpPr>
          <p:cNvPr id="9" name="Text 6"/>
          <p:cNvSpPr/>
          <p:nvPr/>
        </p:nvSpPr>
        <p:spPr>
          <a:xfrm>
            <a:off x="4023360" y="1399032"/>
            <a:ext cx="4663440" cy="658368"/>
          </a:xfrm>
          <a:prstGeom prst="rect">
            <a:avLst/>
          </a:prstGeom>
          <a:noFill/>
          <a:ln/>
        </p:spPr>
        <p:txBody>
          <a:bodyPr wrap="square" rtlCol="0" anchor="ctr"/>
          <a:lstStyle/>
          <a:p>
            <a:pPr marL="0" indent="0">
              <a:buNone/>
            </a:pPr>
            <a:r>
              <a:rPr lang="en-US" sz="1150" dirty="0">
                <a:solidFill>
                  <a:srgbClr val="B0C8B0"/>
                </a:solidFill>
                <a:latin typeface="Calibri" pitchFamily="34" charset="0"/>
                <a:ea typeface="Calibri" pitchFamily="34" charset="-122"/>
                <a:cs typeface="Calibri" pitchFamily="34" charset="-120"/>
              </a:rPr>
              <a:t>Pro players train just as much as Olympic athletes. Routine, discipline, VOD review — it's all the same as in traditional sport.</a:t>
            </a:r>
            <a:endParaRPr lang="en-US" sz="1150" dirty="0"/>
          </a:p>
        </p:txBody>
      </p:sp>
      <p:sp>
        <p:nvSpPr>
          <p:cNvPr id="10" name="Shape 7"/>
          <p:cNvSpPr/>
          <p:nvPr/>
        </p:nvSpPr>
        <p:spPr>
          <a:xfrm>
            <a:off x="3886200" y="2212848"/>
            <a:ext cx="4937760" cy="1143000"/>
          </a:xfrm>
          <a:prstGeom prst="rect">
            <a:avLst/>
          </a:prstGeom>
          <a:solidFill>
            <a:srgbClr val="152015"/>
          </a:solidFill>
          <a:ln/>
        </p:spPr>
      </p:sp>
      <p:sp>
        <p:nvSpPr>
          <p:cNvPr id="11" name="Shape 8"/>
          <p:cNvSpPr/>
          <p:nvPr/>
        </p:nvSpPr>
        <p:spPr>
          <a:xfrm>
            <a:off x="3886200" y="2212848"/>
            <a:ext cx="91440" cy="1143000"/>
          </a:xfrm>
          <a:prstGeom prst="rect">
            <a:avLst/>
          </a:prstGeom>
          <a:solidFill>
            <a:srgbClr val="1A7A1A"/>
          </a:solidFill>
          <a:ln/>
        </p:spPr>
      </p:sp>
      <p:sp>
        <p:nvSpPr>
          <p:cNvPr id="12" name="Text 9"/>
          <p:cNvSpPr/>
          <p:nvPr/>
        </p:nvSpPr>
        <p:spPr>
          <a:xfrm>
            <a:off x="4023360" y="2258568"/>
            <a:ext cx="640080"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3" name="Text 10"/>
          <p:cNvSpPr/>
          <p:nvPr/>
        </p:nvSpPr>
        <p:spPr>
          <a:xfrm>
            <a:off x="4617720" y="2258568"/>
            <a:ext cx="4069080" cy="347472"/>
          </a:xfrm>
          <a:prstGeom prst="rect">
            <a:avLst/>
          </a:prstGeom>
          <a:noFill/>
          <a:ln/>
        </p:spPr>
        <p:txBody>
          <a:bodyPr wrap="square" lIns="0" tIns="0" rIns="0" bIns="0" rtlCol="0" anchor="ctr"/>
          <a:lstStyle/>
          <a:p>
            <a:pPr marL="0" indent="0">
              <a:buNone/>
            </a:pPr>
            <a:r>
              <a:rPr lang="en-US" sz="1350" b="1" dirty="0">
                <a:solidFill>
                  <a:srgbClr val="00FF41"/>
                </a:solidFill>
                <a:latin typeface="Calibri" pitchFamily="34" charset="0"/>
                <a:ea typeface="Calibri" pitchFamily="34" charset="-122"/>
                <a:cs typeface="Calibri" pitchFamily="34" charset="-120"/>
              </a:rPr>
              <a:t>Analytics &amp; strategy</a:t>
            </a:r>
            <a:endParaRPr lang="en-US" sz="1350" dirty="0"/>
          </a:p>
        </p:txBody>
      </p:sp>
      <p:sp>
        <p:nvSpPr>
          <p:cNvPr id="14" name="Text 11"/>
          <p:cNvSpPr/>
          <p:nvPr/>
        </p:nvSpPr>
        <p:spPr>
          <a:xfrm>
            <a:off x="4023360" y="2651760"/>
            <a:ext cx="4663440" cy="658368"/>
          </a:xfrm>
          <a:prstGeom prst="rect">
            <a:avLst/>
          </a:prstGeom>
          <a:noFill/>
          <a:ln/>
        </p:spPr>
        <p:txBody>
          <a:bodyPr wrap="square" rtlCol="0" anchor="ctr"/>
          <a:lstStyle/>
          <a:p>
            <a:pPr marL="0" indent="0">
              <a:buNone/>
            </a:pPr>
            <a:r>
              <a:rPr lang="en-US" sz="1150" dirty="0">
                <a:solidFill>
                  <a:srgbClr val="B0C8B0"/>
                </a:solidFill>
                <a:latin typeface="Calibri" pitchFamily="34" charset="0"/>
                <a:ea typeface="Calibri" pitchFamily="34" charset="-122"/>
                <a:cs typeface="Calibri" pitchFamily="34" charset="-120"/>
              </a:rPr>
              <a:t>Without tactical thinking, you won't go far. Teams study opponents, build strategies and adapt in real time.</a:t>
            </a:r>
            <a:endParaRPr lang="en-US" sz="1150" dirty="0"/>
          </a:p>
        </p:txBody>
      </p:sp>
      <p:sp>
        <p:nvSpPr>
          <p:cNvPr id="15" name="Shape 12"/>
          <p:cNvSpPr/>
          <p:nvPr/>
        </p:nvSpPr>
        <p:spPr>
          <a:xfrm>
            <a:off x="3886200" y="3465576"/>
            <a:ext cx="4937760" cy="1143000"/>
          </a:xfrm>
          <a:prstGeom prst="rect">
            <a:avLst/>
          </a:prstGeom>
          <a:solidFill>
            <a:srgbClr val="152015"/>
          </a:solidFill>
          <a:ln/>
        </p:spPr>
      </p:sp>
      <p:sp>
        <p:nvSpPr>
          <p:cNvPr id="16" name="Shape 13"/>
          <p:cNvSpPr/>
          <p:nvPr/>
        </p:nvSpPr>
        <p:spPr>
          <a:xfrm>
            <a:off x="3886200" y="3465576"/>
            <a:ext cx="91440" cy="1143000"/>
          </a:xfrm>
          <a:prstGeom prst="rect">
            <a:avLst/>
          </a:prstGeom>
          <a:solidFill>
            <a:srgbClr val="1A7A1A"/>
          </a:solidFill>
          <a:ln/>
        </p:spPr>
      </p:sp>
      <p:sp>
        <p:nvSpPr>
          <p:cNvPr id="17" name="Text 14"/>
          <p:cNvSpPr/>
          <p:nvPr/>
        </p:nvSpPr>
        <p:spPr>
          <a:xfrm>
            <a:off x="4023360" y="3511296"/>
            <a:ext cx="640080"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8" name="Text 15"/>
          <p:cNvSpPr/>
          <p:nvPr/>
        </p:nvSpPr>
        <p:spPr>
          <a:xfrm>
            <a:off x="4617720" y="3511296"/>
            <a:ext cx="4069080" cy="347472"/>
          </a:xfrm>
          <a:prstGeom prst="rect">
            <a:avLst/>
          </a:prstGeom>
          <a:noFill/>
          <a:ln/>
        </p:spPr>
        <p:txBody>
          <a:bodyPr wrap="square" lIns="0" tIns="0" rIns="0" bIns="0" rtlCol="0" anchor="ctr"/>
          <a:lstStyle/>
          <a:p>
            <a:pPr marL="0" indent="0">
              <a:buNone/>
            </a:pPr>
            <a:r>
              <a:rPr lang="en-US" sz="1350" b="1" dirty="0">
                <a:solidFill>
                  <a:srgbClr val="00FF41"/>
                </a:solidFill>
                <a:latin typeface="Calibri" pitchFamily="34" charset="0"/>
                <a:ea typeface="Calibri" pitchFamily="34" charset="-122"/>
                <a:cs typeface="Calibri" pitchFamily="34" charset="-120"/>
              </a:rPr>
              <a:t>Trophies are rare</a:t>
            </a:r>
            <a:endParaRPr lang="en-US" sz="1350" dirty="0"/>
          </a:p>
        </p:txBody>
      </p:sp>
      <p:sp>
        <p:nvSpPr>
          <p:cNvPr id="19" name="Text 16"/>
          <p:cNvSpPr/>
          <p:nvPr/>
        </p:nvSpPr>
        <p:spPr>
          <a:xfrm>
            <a:off x="4023360" y="3904488"/>
            <a:ext cx="4663440" cy="658368"/>
          </a:xfrm>
          <a:prstGeom prst="rect">
            <a:avLst/>
          </a:prstGeom>
          <a:noFill/>
          <a:ln/>
        </p:spPr>
        <p:txBody>
          <a:bodyPr wrap="square" rtlCol="0" anchor="ctr"/>
          <a:lstStyle/>
          <a:p>
            <a:pPr marL="0" indent="0">
              <a:buNone/>
            </a:pPr>
            <a:r>
              <a:rPr lang="en-US" sz="1150" dirty="0">
                <a:solidFill>
                  <a:srgbClr val="B0C8B0"/>
                </a:solidFill>
                <a:latin typeface="Calibri" pitchFamily="34" charset="0"/>
                <a:ea typeface="Calibri" pitchFamily="34" charset="-122"/>
                <a:cs typeface="Calibri" pitchFamily="34" charset="-120"/>
              </a:rPr>
              <a:t>Most professional players never win a major tournament. That's normal. The journey matters just as much as the win.</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F0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FF41"/>
          </a:solidFill>
          <a:ln/>
        </p:spPr>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lgn="l">
              <a:buNone/>
            </a:pPr>
            <a:r>
              <a:rPr lang="en-US" sz="2600" b="1" dirty="0">
                <a:solidFill>
                  <a:srgbClr val="FFFFFF"/>
                </a:solidFill>
                <a:latin typeface="Arial Black" pitchFamily="34" charset="0"/>
                <a:ea typeface="Arial Black" pitchFamily="34" charset="-122"/>
                <a:cs typeface="Arial Black" pitchFamily="34" charset="-120"/>
              </a:rPr>
              <a:t>EXAMPLE: m0nesy &amp; TEAM FALCONS</a:t>
            </a:r>
            <a:endParaRPr lang="en-US" sz="2600" dirty="0"/>
          </a:p>
        </p:txBody>
      </p:sp>
      <p:pic>
        <p:nvPicPr>
          <p:cNvPr id="4" name="Image 0" descr="/home/claude/img1.png"/>
          <p:cNvPicPr>
            <a:picLocks noChangeAspect="1"/>
          </p:cNvPicPr>
          <p:nvPr/>
        </p:nvPicPr>
        <p:blipFill>
          <a:blip r:embed="rId3"/>
          <a:srcRect/>
          <a:stretch/>
        </p:blipFill>
        <p:spPr>
          <a:xfrm>
            <a:off x="274320" y="868680"/>
            <a:ext cx="2926080" cy="2011680"/>
          </a:xfrm>
          <a:prstGeom prst="rect">
            <a:avLst/>
          </a:prstGeom>
        </p:spPr>
      </p:pic>
      <p:pic>
        <p:nvPicPr>
          <p:cNvPr id="5" name="Image 1" descr="/home/claude/img4.png"/>
          <p:cNvPicPr>
            <a:picLocks noChangeAspect="1"/>
          </p:cNvPicPr>
          <p:nvPr/>
        </p:nvPicPr>
        <p:blipFill>
          <a:blip r:embed="rId4"/>
          <a:srcRect/>
          <a:stretch/>
        </p:blipFill>
        <p:spPr>
          <a:xfrm>
            <a:off x="3337560" y="868680"/>
            <a:ext cx="2926080" cy="2011680"/>
          </a:xfrm>
          <a:prstGeom prst="rect">
            <a:avLst/>
          </a:prstGeom>
        </p:spPr>
      </p:pic>
      <p:sp>
        <p:nvSpPr>
          <p:cNvPr id="6" name="Shape 2"/>
          <p:cNvSpPr/>
          <p:nvPr/>
        </p:nvSpPr>
        <p:spPr>
          <a:xfrm>
            <a:off x="274320" y="2898648"/>
            <a:ext cx="2926080" cy="347472"/>
          </a:xfrm>
          <a:prstGeom prst="rect">
            <a:avLst/>
          </a:prstGeom>
          <a:solidFill>
            <a:srgbClr val="00FF41"/>
          </a:solidFill>
          <a:ln/>
        </p:spPr>
      </p:sp>
      <p:sp>
        <p:nvSpPr>
          <p:cNvPr id="7" name="Text 3"/>
          <p:cNvSpPr/>
          <p:nvPr/>
        </p:nvSpPr>
        <p:spPr>
          <a:xfrm>
            <a:off x="274320" y="2898648"/>
            <a:ext cx="2926080" cy="347472"/>
          </a:xfrm>
          <a:prstGeom prst="rect">
            <a:avLst/>
          </a:prstGeom>
          <a:noFill/>
          <a:ln/>
        </p:spPr>
        <p:txBody>
          <a:bodyPr wrap="square" lIns="0" tIns="0" rIns="0" bIns="0" rtlCol="0" anchor="ctr"/>
          <a:lstStyle/>
          <a:p>
            <a:pPr marL="0" indent="0" algn="ctr">
              <a:buNone/>
            </a:pPr>
            <a:r>
              <a:rPr lang="en-US" sz="1100" b="1" dirty="0">
                <a:solidFill>
                  <a:srgbClr val="050F05"/>
                </a:solidFill>
              </a:rPr>
              <a:t>Ilya «m0nesy» Osipov</a:t>
            </a:r>
            <a:endParaRPr lang="en-US" sz="1100" dirty="0"/>
          </a:p>
        </p:txBody>
      </p:sp>
      <p:sp>
        <p:nvSpPr>
          <p:cNvPr id="8" name="Shape 4"/>
          <p:cNvSpPr/>
          <p:nvPr/>
        </p:nvSpPr>
        <p:spPr>
          <a:xfrm>
            <a:off x="3337560" y="2898648"/>
            <a:ext cx="2926080" cy="347472"/>
          </a:xfrm>
          <a:prstGeom prst="rect">
            <a:avLst/>
          </a:prstGeom>
          <a:solidFill>
            <a:srgbClr val="1A7A1A"/>
          </a:solidFill>
          <a:ln/>
        </p:spPr>
      </p:sp>
      <p:sp>
        <p:nvSpPr>
          <p:cNvPr id="9" name="Text 5"/>
          <p:cNvSpPr/>
          <p:nvPr/>
        </p:nvSpPr>
        <p:spPr>
          <a:xfrm>
            <a:off x="3337560" y="2898648"/>
            <a:ext cx="2926080" cy="347472"/>
          </a:xfrm>
          <a:prstGeom prst="rect">
            <a:avLst/>
          </a:prstGeom>
          <a:noFill/>
          <a:ln/>
        </p:spPr>
        <p:txBody>
          <a:bodyPr wrap="square" lIns="0" tIns="0" rIns="0" bIns="0" rtlCol="0" anchor="ctr"/>
          <a:lstStyle/>
          <a:p>
            <a:pPr marL="0" indent="0" algn="ctr">
              <a:buNone/>
            </a:pPr>
            <a:r>
              <a:rPr lang="en-US" sz="1000" b="1" dirty="0">
                <a:solidFill>
                  <a:srgbClr val="00FF41"/>
                </a:solidFill>
              </a:rPr>
              <a:t>Danil «donk» Isenbaev — Team Spirit</a:t>
            </a:r>
            <a:endParaRPr lang="en-US" sz="1000" dirty="0"/>
          </a:p>
        </p:txBody>
      </p:sp>
      <p:sp>
        <p:nvSpPr>
          <p:cNvPr id="10" name="Shape 6"/>
          <p:cNvSpPr/>
          <p:nvPr/>
        </p:nvSpPr>
        <p:spPr>
          <a:xfrm>
            <a:off x="6400800" y="868680"/>
            <a:ext cx="2468880" cy="3931920"/>
          </a:xfrm>
          <a:prstGeom prst="rect">
            <a:avLst/>
          </a:prstGeom>
          <a:solidFill>
            <a:srgbClr val="0A160A"/>
          </a:solidFill>
          <a:ln/>
        </p:spPr>
      </p:sp>
      <p:sp>
        <p:nvSpPr>
          <p:cNvPr id="11" name="Shape 7"/>
          <p:cNvSpPr/>
          <p:nvPr/>
        </p:nvSpPr>
        <p:spPr>
          <a:xfrm>
            <a:off x="6400800" y="868680"/>
            <a:ext cx="2468880" cy="64008"/>
          </a:xfrm>
          <a:prstGeom prst="rect">
            <a:avLst/>
          </a:prstGeom>
          <a:solidFill>
            <a:srgbClr val="00FF41"/>
          </a:solidFill>
          <a:ln/>
        </p:spPr>
      </p:sp>
      <p:sp>
        <p:nvSpPr>
          <p:cNvPr id="12" name="Text 8"/>
          <p:cNvSpPr/>
          <p:nvPr/>
        </p:nvSpPr>
        <p:spPr>
          <a:xfrm>
            <a:off x="6446520" y="960120"/>
            <a:ext cx="2377440" cy="365760"/>
          </a:xfrm>
          <a:prstGeom prst="rect">
            <a:avLst/>
          </a:prstGeom>
          <a:noFill/>
          <a:ln/>
        </p:spPr>
        <p:txBody>
          <a:bodyPr wrap="square" rtlCol="0" anchor="ctr"/>
          <a:lstStyle/>
          <a:p>
            <a:pPr marL="0" indent="0">
              <a:buNone/>
            </a:pPr>
            <a:r>
              <a:rPr lang="en-US" sz="1300" b="1" dirty="0">
                <a:solidFill>
                  <a:srgbClr val="00FF41"/>
                </a:solidFill>
                <a:latin typeface="Calibri" pitchFamily="34" charset="0"/>
                <a:ea typeface="Calibri" pitchFamily="34" charset="-122"/>
                <a:cs typeface="Calibri" pitchFamily="34" charset="-120"/>
              </a:rPr>
              <a:t>🌟 KEY FACTS</a:t>
            </a:r>
            <a:endParaRPr lang="en-US" sz="1300" dirty="0"/>
          </a:p>
        </p:txBody>
      </p:sp>
      <p:sp>
        <p:nvSpPr>
          <p:cNvPr id="13" name="Text 9"/>
          <p:cNvSpPr/>
          <p:nvPr/>
        </p:nvSpPr>
        <p:spPr>
          <a:xfrm>
            <a:off x="6473952" y="1371600"/>
            <a:ext cx="2331720" cy="566928"/>
          </a:xfrm>
          <a:prstGeom prst="rect">
            <a:avLst/>
          </a:prstGeom>
          <a:noFill/>
          <a:ln/>
        </p:spPr>
        <p:txBody>
          <a:bodyPr wrap="square" rtlCol="0" anchor="ctr"/>
          <a:lstStyle/>
          <a:p>
            <a:pPr marL="0" indent="0">
              <a:buNone/>
            </a:pPr>
            <a:r>
              <a:rPr lang="en-US" sz="1100" b="1" dirty="0">
                <a:solidFill>
                  <a:srgbClr val="00FF41"/>
                </a:solidFill>
                <a:latin typeface="Calibri" pitchFamily="34" charset="0"/>
                <a:ea typeface="Calibri" pitchFamily="34" charset="-122"/>
                <a:cs typeface="Calibri" pitchFamily="34" charset="-120"/>
              </a:rPr>
              <a:t>▸ </a:t>
            </a:r>
            <a:r>
              <a:rPr lang="en-US" sz="1100" dirty="0">
                <a:solidFill>
                  <a:srgbClr val="B0C8B0"/>
                </a:solidFill>
                <a:latin typeface="Calibri" pitchFamily="34" charset="0"/>
                <a:ea typeface="Calibri" pitchFamily="34" charset="-122"/>
                <a:cs typeface="Calibri" pitchFamily="34" charset="-120"/>
              </a:rPr>
              <a:t>m0nesy — one of the most talented young players in CS2</a:t>
            </a:r>
            <a:endParaRPr lang="en-US" sz="1100" dirty="0"/>
          </a:p>
        </p:txBody>
      </p:sp>
      <p:sp>
        <p:nvSpPr>
          <p:cNvPr id="14" name="Text 10"/>
          <p:cNvSpPr/>
          <p:nvPr/>
        </p:nvSpPr>
        <p:spPr>
          <a:xfrm>
            <a:off x="6473952" y="1993392"/>
            <a:ext cx="2331720" cy="566928"/>
          </a:xfrm>
          <a:prstGeom prst="rect">
            <a:avLst/>
          </a:prstGeom>
          <a:noFill/>
          <a:ln/>
        </p:spPr>
        <p:txBody>
          <a:bodyPr wrap="square" rtlCol="0" anchor="ctr"/>
          <a:lstStyle/>
          <a:p>
            <a:pPr marL="0" indent="0">
              <a:buNone/>
            </a:pPr>
            <a:r>
              <a:rPr lang="en-US" sz="1100" b="1" dirty="0">
                <a:solidFill>
                  <a:srgbClr val="00FF41"/>
                </a:solidFill>
                <a:latin typeface="Calibri" pitchFamily="34" charset="0"/>
                <a:ea typeface="Calibri" pitchFamily="34" charset="-122"/>
                <a:cs typeface="Calibri" pitchFamily="34" charset="-120"/>
              </a:rPr>
              <a:t>▸ </a:t>
            </a:r>
            <a:r>
              <a:rPr lang="en-US" sz="1100" dirty="0">
                <a:solidFill>
                  <a:srgbClr val="B0C8B0"/>
                </a:solidFill>
                <a:latin typeface="Calibri" pitchFamily="34" charset="0"/>
                <a:ea typeface="Calibri" pitchFamily="34" charset="-122"/>
                <a:cs typeface="Calibri" pitchFamily="34" charset="-120"/>
              </a:rPr>
              <a:t>Ranked top 2–4 on HLTV player ranking every year</a:t>
            </a:r>
            <a:endParaRPr lang="en-US" sz="1100" dirty="0"/>
          </a:p>
        </p:txBody>
      </p:sp>
      <p:sp>
        <p:nvSpPr>
          <p:cNvPr id="15" name="Text 11"/>
          <p:cNvSpPr/>
          <p:nvPr/>
        </p:nvSpPr>
        <p:spPr>
          <a:xfrm>
            <a:off x="6473952" y="2615184"/>
            <a:ext cx="2331720" cy="566928"/>
          </a:xfrm>
          <a:prstGeom prst="rect">
            <a:avLst/>
          </a:prstGeom>
          <a:noFill/>
          <a:ln/>
        </p:spPr>
        <p:txBody>
          <a:bodyPr wrap="square" rtlCol="0" anchor="ctr"/>
          <a:lstStyle/>
          <a:p>
            <a:pPr marL="0" indent="0">
              <a:buNone/>
            </a:pPr>
            <a:r>
              <a:rPr lang="en-US" sz="1100" b="1" dirty="0">
                <a:solidFill>
                  <a:srgbClr val="00FF41"/>
                </a:solidFill>
                <a:latin typeface="Calibri" pitchFamily="34" charset="0"/>
                <a:ea typeface="Calibri" pitchFamily="34" charset="-122"/>
                <a:cs typeface="Calibri" pitchFamily="34" charset="-120"/>
              </a:rPr>
              <a:t>▸ </a:t>
            </a:r>
            <a:r>
              <a:rPr lang="en-US" sz="1100" dirty="0">
                <a:solidFill>
                  <a:srgbClr val="B0C8B0"/>
                </a:solidFill>
                <a:latin typeface="Calibri" pitchFamily="34" charset="0"/>
                <a:ea typeface="Calibri" pitchFamily="34" charset="-122"/>
                <a:cs typeface="Calibri" pitchFamily="34" charset="-120"/>
              </a:rPr>
              <a:t>Plays for Team Falcons (Saudi Arabia)</a:t>
            </a:r>
            <a:endParaRPr lang="en-US" sz="1100" dirty="0"/>
          </a:p>
        </p:txBody>
      </p:sp>
      <p:sp>
        <p:nvSpPr>
          <p:cNvPr id="16" name="Text 12"/>
          <p:cNvSpPr/>
          <p:nvPr/>
        </p:nvSpPr>
        <p:spPr>
          <a:xfrm>
            <a:off x="6473952" y="3236976"/>
            <a:ext cx="2331720" cy="566928"/>
          </a:xfrm>
          <a:prstGeom prst="rect">
            <a:avLst/>
          </a:prstGeom>
          <a:noFill/>
          <a:ln/>
        </p:spPr>
        <p:txBody>
          <a:bodyPr wrap="square" rtlCol="0" anchor="ctr"/>
          <a:lstStyle/>
          <a:p>
            <a:pPr marL="0" indent="0">
              <a:buNone/>
            </a:pPr>
            <a:r>
              <a:rPr lang="en-US" sz="1100" b="1" dirty="0">
                <a:solidFill>
                  <a:srgbClr val="00FF41"/>
                </a:solidFill>
                <a:latin typeface="Calibri" pitchFamily="34" charset="0"/>
                <a:ea typeface="Calibri" pitchFamily="34" charset="-122"/>
                <a:cs typeface="Calibri" pitchFamily="34" charset="-120"/>
              </a:rPr>
              <a:t>▸ </a:t>
            </a:r>
            <a:r>
              <a:rPr lang="en-US" sz="1100" dirty="0">
                <a:solidFill>
                  <a:srgbClr val="B0C8B0"/>
                </a:solidFill>
                <a:latin typeface="Calibri" pitchFamily="34" charset="0"/>
                <a:ea typeface="Calibri" pitchFamily="34" charset="-122"/>
                <a:cs typeface="Calibri" pitchFamily="34" charset="-120"/>
              </a:rPr>
              <a:t>Falcons: rosters in CS2, Dota 2, FIFA and more</a:t>
            </a:r>
            <a:endParaRPr lang="en-US" sz="1100" dirty="0"/>
          </a:p>
        </p:txBody>
      </p:sp>
      <p:sp>
        <p:nvSpPr>
          <p:cNvPr id="17" name="Text 13"/>
          <p:cNvSpPr/>
          <p:nvPr/>
        </p:nvSpPr>
        <p:spPr>
          <a:xfrm>
            <a:off x="6473952" y="3858768"/>
            <a:ext cx="2331720" cy="566928"/>
          </a:xfrm>
          <a:prstGeom prst="rect">
            <a:avLst/>
          </a:prstGeom>
          <a:noFill/>
          <a:ln/>
        </p:spPr>
        <p:txBody>
          <a:bodyPr wrap="square" rtlCol="0" anchor="ctr"/>
          <a:lstStyle/>
          <a:p>
            <a:pPr marL="0" indent="0">
              <a:buNone/>
            </a:pPr>
            <a:r>
              <a:rPr lang="en-US" sz="1100" b="1" dirty="0">
                <a:solidFill>
                  <a:srgbClr val="00FF41"/>
                </a:solidFill>
                <a:latin typeface="Calibri" pitchFamily="34" charset="0"/>
                <a:ea typeface="Calibri" pitchFamily="34" charset="-122"/>
                <a:cs typeface="Calibri" pitchFamily="34" charset="-120"/>
              </a:rPr>
              <a:t>▸ </a:t>
            </a:r>
            <a:r>
              <a:rPr lang="en-US" sz="1100" dirty="0">
                <a:solidFill>
                  <a:srgbClr val="B0C8B0"/>
                </a:solidFill>
                <a:latin typeface="Calibri" pitchFamily="34" charset="0"/>
                <a:ea typeface="Calibri" pitchFamily="34" charset="-122"/>
                <a:cs typeface="Calibri" pitchFamily="34" charset="-120"/>
              </a:rPr>
              <a:t>The org runs its own talent academy</a:t>
            </a:r>
            <a:endParaRPr lang="en-US" sz="1100" dirty="0"/>
          </a:p>
        </p:txBody>
      </p:sp>
      <p:sp>
        <p:nvSpPr>
          <p:cNvPr id="18" name="Text 14"/>
          <p:cNvSpPr/>
          <p:nvPr/>
        </p:nvSpPr>
        <p:spPr>
          <a:xfrm>
            <a:off x="274320" y="3337560"/>
            <a:ext cx="6035040" cy="502920"/>
          </a:xfrm>
          <a:prstGeom prst="rect">
            <a:avLst/>
          </a:prstGeom>
          <a:noFill/>
          <a:ln/>
        </p:spPr>
        <p:txBody>
          <a:bodyPr wrap="square" rtlCol="0" anchor="ctr"/>
          <a:lstStyle/>
          <a:p>
            <a:pPr marL="0" indent="0" algn="ctr">
              <a:buNone/>
            </a:pPr>
            <a:r>
              <a:rPr lang="en-US" sz="1200" i="1" dirty="0">
                <a:solidFill>
                  <a:srgbClr val="ADFF2F"/>
                </a:solidFill>
                <a:latin typeface="Calibri" pitchFamily="34" charset="0"/>
                <a:ea typeface="Calibri" pitchFamily="34" charset="-122"/>
                <a:cs typeface="Calibri" pitchFamily="34" charset="-120"/>
              </a:rPr>
              <a:t>«Talent comes and goes — hard work stays forever»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0F0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9D353"/>
          </a:solidFill>
          <a:ln/>
        </p:spPr>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lgn="l">
              <a:buNone/>
            </a:pPr>
            <a:r>
              <a:rPr lang="en-US" sz="2600" b="1" dirty="0">
                <a:solidFill>
                  <a:srgbClr val="FFFFFF"/>
                </a:solidFill>
                <a:latin typeface="Arial Black" pitchFamily="34" charset="0"/>
                <a:ea typeface="Arial Black" pitchFamily="34" charset="-122"/>
                <a:cs typeface="Arial Black" pitchFamily="34" charset="-120"/>
              </a:rPr>
              <a:t>TEAM SPIRIT: RUSSIAN PRIDE</a:t>
            </a:r>
            <a:endParaRPr lang="en-US" sz="2600" dirty="0"/>
          </a:p>
        </p:txBody>
      </p:sp>
      <p:pic>
        <p:nvPicPr>
          <p:cNvPr id="4" name="Image 0" descr="/home/claude/img3.png"/>
          <p:cNvPicPr>
            <a:picLocks noChangeAspect="1"/>
          </p:cNvPicPr>
          <p:nvPr/>
        </p:nvPicPr>
        <p:blipFill>
          <a:blip r:embed="rId3"/>
          <a:srcRect/>
          <a:stretch/>
        </p:blipFill>
        <p:spPr>
          <a:xfrm>
            <a:off x="274320" y="868680"/>
            <a:ext cx="4114800" cy="2606040"/>
          </a:xfrm>
          <a:prstGeom prst="rect">
            <a:avLst/>
          </a:prstGeom>
        </p:spPr>
      </p:pic>
      <p:sp>
        <p:nvSpPr>
          <p:cNvPr id="5" name="Shape 2"/>
          <p:cNvSpPr/>
          <p:nvPr/>
        </p:nvSpPr>
        <p:spPr>
          <a:xfrm>
            <a:off x="274320" y="3474720"/>
            <a:ext cx="4114800" cy="320040"/>
          </a:xfrm>
          <a:prstGeom prst="rect">
            <a:avLst/>
          </a:prstGeom>
          <a:solidFill>
            <a:srgbClr val="39D353"/>
          </a:solidFill>
          <a:ln/>
        </p:spPr>
      </p:sp>
      <p:sp>
        <p:nvSpPr>
          <p:cNvPr id="6" name="Text 3"/>
          <p:cNvSpPr/>
          <p:nvPr/>
        </p:nvSpPr>
        <p:spPr>
          <a:xfrm>
            <a:off x="274320" y="3474720"/>
            <a:ext cx="4114800" cy="320040"/>
          </a:xfrm>
          <a:prstGeom prst="rect">
            <a:avLst/>
          </a:prstGeom>
          <a:noFill/>
          <a:ln/>
        </p:spPr>
        <p:txBody>
          <a:bodyPr wrap="square" lIns="0" tIns="0" rIns="0" bIns="0" rtlCol="0" anchor="ctr"/>
          <a:lstStyle/>
          <a:p>
            <a:pPr marL="0" indent="0" algn="ctr">
              <a:buNone/>
            </a:pPr>
            <a:r>
              <a:rPr lang="en-US" sz="1200" b="1" dirty="0">
                <a:solidFill>
                  <a:srgbClr val="050F05"/>
                </a:solidFill>
              </a:rPr>
              <a:t>Team Spirit — Dota 2 roster</a:t>
            </a:r>
            <a:endParaRPr lang="en-US" sz="1200" dirty="0"/>
          </a:p>
        </p:txBody>
      </p:sp>
      <p:sp>
        <p:nvSpPr>
          <p:cNvPr id="7" name="Shape 4"/>
          <p:cNvSpPr/>
          <p:nvPr/>
        </p:nvSpPr>
        <p:spPr>
          <a:xfrm>
            <a:off x="4572000" y="868680"/>
            <a:ext cx="4297680" cy="3931920"/>
          </a:xfrm>
          <a:prstGeom prst="rect">
            <a:avLst/>
          </a:prstGeom>
          <a:solidFill>
            <a:srgbClr val="152015"/>
          </a:solidFill>
          <a:ln/>
        </p:spPr>
      </p:sp>
      <p:sp>
        <p:nvSpPr>
          <p:cNvPr id="8" name="Shape 5"/>
          <p:cNvSpPr/>
          <p:nvPr/>
        </p:nvSpPr>
        <p:spPr>
          <a:xfrm>
            <a:off x="4572000" y="868680"/>
            <a:ext cx="91440" cy="3931920"/>
          </a:xfrm>
          <a:prstGeom prst="rect">
            <a:avLst/>
          </a:prstGeom>
          <a:solidFill>
            <a:srgbClr val="39D353"/>
          </a:solidFill>
          <a:ln/>
        </p:spPr>
      </p:sp>
      <p:sp>
        <p:nvSpPr>
          <p:cNvPr id="9" name="Text 6"/>
          <p:cNvSpPr/>
          <p:nvPr/>
        </p:nvSpPr>
        <p:spPr>
          <a:xfrm>
            <a:off x="4709160" y="914400"/>
            <a:ext cx="4023360" cy="384048"/>
          </a:xfrm>
          <a:prstGeom prst="rect">
            <a:avLst/>
          </a:prstGeom>
          <a:noFill/>
          <a:ln/>
        </p:spPr>
        <p:txBody>
          <a:bodyPr wrap="square" lIns="0" tIns="0" rIns="0" bIns="0" rtlCol="0" anchor="ctr"/>
          <a:lstStyle/>
          <a:p>
            <a:pPr marL="0" indent="0">
              <a:buNone/>
            </a:pPr>
            <a:r>
              <a:rPr lang="en-US" sz="1500" b="1" dirty="0">
                <a:solidFill>
                  <a:srgbClr val="39D353"/>
                </a:solidFill>
                <a:latin typeface="Calibri" pitchFamily="34" charset="0"/>
                <a:ea typeface="Calibri" pitchFamily="34" charset="-122"/>
                <a:cs typeface="Calibri" pitchFamily="34" charset="-120"/>
              </a:rPr>
              <a:t>About the organization</a:t>
            </a:r>
            <a:endParaRPr lang="en-US" sz="1500" dirty="0"/>
          </a:p>
        </p:txBody>
      </p:sp>
      <p:sp>
        <p:nvSpPr>
          <p:cNvPr id="10" name="Text 7"/>
          <p:cNvSpPr/>
          <p:nvPr/>
        </p:nvSpPr>
        <p:spPr>
          <a:xfrm>
            <a:off x="4709160" y="1325880"/>
            <a:ext cx="4023360" cy="960120"/>
          </a:xfrm>
          <a:prstGeom prst="rect">
            <a:avLst/>
          </a:prstGeom>
          <a:noFill/>
          <a:ln/>
        </p:spPr>
        <p:txBody>
          <a:bodyPr wrap="square" rtlCol="0" anchor="ctr"/>
          <a:lstStyle/>
          <a:p>
            <a:pPr marL="0" indent="0">
              <a:buNone/>
            </a:pPr>
            <a:r>
              <a:rPr lang="en-US" sz="1200" dirty="0">
                <a:solidFill>
                  <a:srgbClr val="B0C8B0"/>
                </a:solidFill>
                <a:latin typeface="Calibri" pitchFamily="34" charset="0"/>
                <a:ea typeface="Calibri" pitchFamily="34" charset="-122"/>
                <a:cs typeface="Calibri" pitchFamily="34" charset="-120"/>
              </a:rPr>
              <a:t>Team Spirit is one of the strongest and most prominent esports organizations in the world. They field rosters in CS2, Dota 2, Valorant and other disciplines, and run their own talent academy.</a:t>
            </a:r>
            <a:endParaRPr lang="en-US" sz="1200" dirty="0"/>
          </a:p>
        </p:txBody>
      </p:sp>
      <p:sp>
        <p:nvSpPr>
          <p:cNvPr id="11" name="Text 8"/>
          <p:cNvSpPr/>
          <p:nvPr/>
        </p:nvSpPr>
        <p:spPr>
          <a:xfrm>
            <a:off x="4709160" y="2377440"/>
            <a:ext cx="4023360" cy="365760"/>
          </a:xfrm>
          <a:prstGeom prst="rect">
            <a:avLst/>
          </a:prstGeom>
          <a:noFill/>
          <a:ln/>
        </p:spPr>
        <p:txBody>
          <a:bodyPr wrap="square" lIns="0" tIns="0" rIns="0" bIns="0" rtlCol="0" anchor="ctr"/>
          <a:lstStyle/>
          <a:p>
            <a:pPr marL="0" indent="0">
              <a:buNone/>
            </a:pPr>
            <a:r>
              <a:rPr lang="en-US" sz="1500" b="1" dirty="0">
                <a:solidFill>
                  <a:srgbClr val="00FF41"/>
                </a:solidFill>
                <a:latin typeface="Calibri" pitchFamily="34" charset="0"/>
                <a:ea typeface="Calibri" pitchFamily="34" charset="-122"/>
                <a:cs typeface="Calibri" pitchFamily="34" charset="-120"/>
              </a:rPr>
              <a:t>Stars from the academy</a:t>
            </a:r>
            <a:endParaRPr lang="en-US" sz="1500" dirty="0"/>
          </a:p>
        </p:txBody>
      </p:sp>
      <p:sp>
        <p:nvSpPr>
          <p:cNvPr id="12" name="Shape 9"/>
          <p:cNvSpPr/>
          <p:nvPr/>
        </p:nvSpPr>
        <p:spPr>
          <a:xfrm>
            <a:off x="4709160" y="2834640"/>
            <a:ext cx="4023360" cy="530352"/>
          </a:xfrm>
          <a:prstGeom prst="rect">
            <a:avLst/>
          </a:prstGeom>
          <a:solidFill>
            <a:srgbClr val="0A160A"/>
          </a:solidFill>
          <a:ln/>
        </p:spPr>
      </p:sp>
      <p:sp>
        <p:nvSpPr>
          <p:cNvPr id="13" name="Text 10"/>
          <p:cNvSpPr/>
          <p:nvPr/>
        </p:nvSpPr>
        <p:spPr>
          <a:xfrm>
            <a:off x="4754880" y="2889504"/>
            <a:ext cx="1097280" cy="411480"/>
          </a:xfrm>
          <a:prstGeom prst="rect">
            <a:avLst/>
          </a:prstGeom>
          <a:noFill/>
          <a:ln/>
        </p:spPr>
        <p:txBody>
          <a:bodyPr wrap="square" lIns="0" tIns="0" rIns="0" bIns="0" rtlCol="0" anchor="ctr"/>
          <a:lstStyle/>
          <a:p>
            <a:pPr marL="0" indent="0">
              <a:buNone/>
            </a:pPr>
            <a:r>
              <a:rPr lang="en-US" sz="1300" b="1" dirty="0">
                <a:solidFill>
                  <a:srgbClr val="ADFF2F"/>
                </a:solidFill>
                <a:latin typeface="Calibri" pitchFamily="34" charset="0"/>
                <a:ea typeface="Calibri" pitchFamily="34" charset="-122"/>
                <a:cs typeface="Calibri" pitchFamily="34" charset="-120"/>
              </a:rPr>
              <a:t>«donk»</a:t>
            </a:r>
            <a:endParaRPr lang="en-US" sz="1300" dirty="0"/>
          </a:p>
        </p:txBody>
      </p:sp>
      <p:sp>
        <p:nvSpPr>
          <p:cNvPr id="14" name="Text 11"/>
          <p:cNvSpPr/>
          <p:nvPr/>
        </p:nvSpPr>
        <p:spPr>
          <a:xfrm>
            <a:off x="5852160" y="2889504"/>
            <a:ext cx="2834640" cy="411480"/>
          </a:xfrm>
          <a:prstGeom prst="rect">
            <a:avLst/>
          </a:prstGeom>
          <a:noFill/>
          <a:ln/>
        </p:spPr>
        <p:txBody>
          <a:bodyPr wrap="square" lIns="0" tIns="0" rIns="0" bIns="0" rtlCol="0" anchor="ctr"/>
          <a:lstStyle/>
          <a:p>
            <a:pPr marL="0" indent="0">
              <a:buNone/>
            </a:pPr>
            <a:r>
              <a:rPr lang="en-US" sz="1150" dirty="0">
                <a:solidFill>
                  <a:srgbClr val="B0C8B0"/>
                </a:solidFill>
                <a:latin typeface="Calibri" pitchFamily="34" charset="0"/>
                <a:ea typeface="Calibri" pitchFamily="34" charset="-122"/>
                <a:cs typeface="Calibri" pitchFamily="34" charset="-120"/>
              </a:rPr>
              <a:t>CS2 — HLTV world #1 ranked player</a:t>
            </a:r>
            <a:endParaRPr lang="en-US" sz="1150" dirty="0"/>
          </a:p>
        </p:txBody>
      </p:sp>
      <p:sp>
        <p:nvSpPr>
          <p:cNvPr id="15" name="Shape 12"/>
          <p:cNvSpPr/>
          <p:nvPr/>
        </p:nvSpPr>
        <p:spPr>
          <a:xfrm>
            <a:off x="4709160" y="3456432"/>
            <a:ext cx="4023360" cy="530352"/>
          </a:xfrm>
          <a:prstGeom prst="rect">
            <a:avLst/>
          </a:prstGeom>
          <a:solidFill>
            <a:srgbClr val="0A160A"/>
          </a:solidFill>
          <a:ln/>
        </p:spPr>
      </p:sp>
      <p:sp>
        <p:nvSpPr>
          <p:cNvPr id="16" name="Text 13"/>
          <p:cNvSpPr/>
          <p:nvPr/>
        </p:nvSpPr>
        <p:spPr>
          <a:xfrm>
            <a:off x="4754880" y="3511296"/>
            <a:ext cx="1097280" cy="411480"/>
          </a:xfrm>
          <a:prstGeom prst="rect">
            <a:avLst/>
          </a:prstGeom>
          <a:noFill/>
          <a:ln/>
        </p:spPr>
        <p:txBody>
          <a:bodyPr wrap="square" lIns="0" tIns="0" rIns="0" bIns="0" rtlCol="0" anchor="ctr"/>
          <a:lstStyle/>
          <a:p>
            <a:pPr marL="0" indent="0">
              <a:buNone/>
            </a:pPr>
            <a:r>
              <a:rPr lang="en-US" sz="1300" b="1" dirty="0">
                <a:solidFill>
                  <a:srgbClr val="ADFF2F"/>
                </a:solidFill>
                <a:latin typeface="Calibri" pitchFamily="34" charset="0"/>
                <a:ea typeface="Calibri" pitchFamily="34" charset="-122"/>
                <a:cs typeface="Calibri" pitchFamily="34" charset="-120"/>
              </a:rPr>
              <a:t>«kyousuke»</a:t>
            </a:r>
            <a:endParaRPr lang="en-US" sz="1300" dirty="0"/>
          </a:p>
        </p:txBody>
      </p:sp>
      <p:sp>
        <p:nvSpPr>
          <p:cNvPr id="17" name="Text 14"/>
          <p:cNvSpPr/>
          <p:nvPr/>
        </p:nvSpPr>
        <p:spPr>
          <a:xfrm>
            <a:off x="5852160" y="3511296"/>
            <a:ext cx="2834640" cy="411480"/>
          </a:xfrm>
          <a:prstGeom prst="rect">
            <a:avLst/>
          </a:prstGeom>
          <a:noFill/>
          <a:ln/>
        </p:spPr>
        <p:txBody>
          <a:bodyPr wrap="square" lIns="0" tIns="0" rIns="0" bIns="0" rtlCol="0" anchor="ctr"/>
          <a:lstStyle/>
          <a:p>
            <a:pPr marL="0" indent="0">
              <a:buNone/>
            </a:pPr>
            <a:r>
              <a:rPr lang="en-US" sz="1150" dirty="0">
                <a:solidFill>
                  <a:srgbClr val="B0C8B0"/>
                </a:solidFill>
                <a:latin typeface="Calibri" pitchFamily="34" charset="0"/>
                <a:ea typeface="Calibri" pitchFamily="34" charset="-122"/>
                <a:cs typeface="Calibri" pitchFamily="34" charset="-120"/>
              </a:rPr>
              <a:t>CS2 — one of the brightest young players</a:t>
            </a:r>
            <a:endParaRPr lang="en-US" sz="1150" dirty="0"/>
          </a:p>
        </p:txBody>
      </p:sp>
      <p:sp>
        <p:nvSpPr>
          <p:cNvPr id="18" name="Shape 15"/>
          <p:cNvSpPr/>
          <p:nvPr/>
        </p:nvSpPr>
        <p:spPr>
          <a:xfrm>
            <a:off x="4709160" y="4078224"/>
            <a:ext cx="4023360" cy="530352"/>
          </a:xfrm>
          <a:prstGeom prst="rect">
            <a:avLst/>
          </a:prstGeom>
          <a:solidFill>
            <a:srgbClr val="0A160A"/>
          </a:solidFill>
          <a:ln/>
        </p:spPr>
      </p:sp>
      <p:sp>
        <p:nvSpPr>
          <p:cNvPr id="19" name="Text 16"/>
          <p:cNvSpPr/>
          <p:nvPr/>
        </p:nvSpPr>
        <p:spPr>
          <a:xfrm>
            <a:off x="4754880" y="4133088"/>
            <a:ext cx="1097280" cy="411480"/>
          </a:xfrm>
          <a:prstGeom prst="rect">
            <a:avLst/>
          </a:prstGeom>
          <a:noFill/>
          <a:ln/>
        </p:spPr>
        <p:txBody>
          <a:bodyPr wrap="square" lIns="0" tIns="0" rIns="0" bIns="0" rtlCol="0" anchor="ctr"/>
          <a:lstStyle/>
          <a:p>
            <a:pPr marL="0" indent="0">
              <a:buNone/>
            </a:pPr>
            <a:r>
              <a:rPr lang="en-US" sz="1300" b="1" dirty="0">
                <a:solidFill>
                  <a:srgbClr val="ADFF2F"/>
                </a:solidFill>
                <a:latin typeface="Calibri" pitchFamily="34" charset="0"/>
                <a:ea typeface="Calibri" pitchFamily="34" charset="-122"/>
                <a:cs typeface="Calibri" pitchFamily="34" charset="-120"/>
              </a:rPr>
              <a:t>«yatoro»</a:t>
            </a:r>
            <a:endParaRPr lang="en-US" sz="1300" dirty="0"/>
          </a:p>
        </p:txBody>
      </p:sp>
      <p:sp>
        <p:nvSpPr>
          <p:cNvPr id="20" name="Text 17"/>
          <p:cNvSpPr/>
          <p:nvPr/>
        </p:nvSpPr>
        <p:spPr>
          <a:xfrm>
            <a:off x="5852160" y="4133088"/>
            <a:ext cx="2834640" cy="411480"/>
          </a:xfrm>
          <a:prstGeom prst="rect">
            <a:avLst/>
          </a:prstGeom>
          <a:noFill/>
          <a:ln/>
        </p:spPr>
        <p:txBody>
          <a:bodyPr wrap="square" lIns="0" tIns="0" rIns="0" bIns="0" rtlCol="0" anchor="ctr"/>
          <a:lstStyle/>
          <a:p>
            <a:pPr marL="0" indent="0">
              <a:buNone/>
            </a:pPr>
            <a:r>
              <a:rPr lang="en-US" sz="1150" dirty="0">
                <a:solidFill>
                  <a:srgbClr val="B0C8B0"/>
                </a:solidFill>
                <a:latin typeface="Calibri" pitchFamily="34" charset="0"/>
                <a:ea typeface="Calibri" pitchFamily="34" charset="-122"/>
                <a:cs typeface="Calibri" pitchFamily="34" charset="-120"/>
              </a:rPr>
              <a:t>Dota 2 — The International champion</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F0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ADFF2F"/>
          </a:solidFill>
          <a:ln/>
        </p:spPr>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lgn="l">
              <a:buNone/>
            </a:pPr>
            <a:r>
              <a:rPr lang="en-US" sz="2600" b="1" dirty="0">
                <a:solidFill>
                  <a:srgbClr val="FFFFFF"/>
                </a:solidFill>
                <a:latin typeface="Arial Black" pitchFamily="34" charset="0"/>
                <a:ea typeface="Arial Black" pitchFamily="34" charset="-122"/>
                <a:cs typeface="Arial Black" pitchFamily="34" charset="-120"/>
              </a:rPr>
              <a:t>ALEXANDER «S1MPLE» KOSTYLEV</a:t>
            </a:r>
            <a:endParaRPr lang="en-US" sz="2600" dirty="0"/>
          </a:p>
        </p:txBody>
      </p:sp>
      <p:pic>
        <p:nvPicPr>
          <p:cNvPr id="4" name="Image 0" descr="/home/claude/img5.png"/>
          <p:cNvPicPr>
            <a:picLocks noChangeAspect="1"/>
          </p:cNvPicPr>
          <p:nvPr/>
        </p:nvPicPr>
        <p:blipFill>
          <a:blip r:embed="rId3"/>
          <a:srcRect/>
          <a:stretch/>
        </p:blipFill>
        <p:spPr>
          <a:xfrm>
            <a:off x="274320" y="868680"/>
            <a:ext cx="2743200" cy="2194560"/>
          </a:xfrm>
          <a:prstGeom prst="rect">
            <a:avLst/>
          </a:prstGeom>
        </p:spPr>
      </p:pic>
      <p:pic>
        <p:nvPicPr>
          <p:cNvPr id="5" name="Image 1" descr="/home/claude/img6.png"/>
          <p:cNvPicPr>
            <a:picLocks noChangeAspect="1"/>
          </p:cNvPicPr>
          <p:nvPr/>
        </p:nvPicPr>
        <p:blipFill>
          <a:blip r:embed="rId4"/>
          <a:srcRect/>
          <a:stretch/>
        </p:blipFill>
        <p:spPr>
          <a:xfrm>
            <a:off x="3200400" y="868680"/>
            <a:ext cx="2743200" cy="2194560"/>
          </a:xfrm>
          <a:prstGeom prst="rect">
            <a:avLst/>
          </a:prstGeom>
        </p:spPr>
      </p:pic>
      <p:sp>
        <p:nvSpPr>
          <p:cNvPr id="6" name="Shape 2"/>
          <p:cNvSpPr/>
          <p:nvPr/>
        </p:nvSpPr>
        <p:spPr>
          <a:xfrm>
            <a:off x="274320" y="3200400"/>
            <a:ext cx="1828800" cy="1234440"/>
          </a:xfrm>
          <a:prstGeom prst="rect">
            <a:avLst/>
          </a:prstGeom>
          <a:solidFill>
            <a:srgbClr val="0A160A"/>
          </a:solidFill>
          <a:ln/>
        </p:spPr>
      </p:sp>
      <p:sp>
        <p:nvSpPr>
          <p:cNvPr id="7" name="Shape 3"/>
          <p:cNvSpPr/>
          <p:nvPr/>
        </p:nvSpPr>
        <p:spPr>
          <a:xfrm>
            <a:off x="274320" y="3200400"/>
            <a:ext cx="1828800" cy="64008"/>
          </a:xfrm>
          <a:prstGeom prst="rect">
            <a:avLst/>
          </a:prstGeom>
          <a:solidFill>
            <a:srgbClr val="ADFF2F"/>
          </a:solidFill>
          <a:ln/>
        </p:spPr>
      </p:sp>
      <p:sp>
        <p:nvSpPr>
          <p:cNvPr id="8" name="Text 4"/>
          <p:cNvSpPr/>
          <p:nvPr/>
        </p:nvSpPr>
        <p:spPr>
          <a:xfrm>
            <a:off x="274320" y="3291840"/>
            <a:ext cx="1828800" cy="594360"/>
          </a:xfrm>
          <a:prstGeom prst="rect">
            <a:avLst/>
          </a:prstGeom>
          <a:noFill/>
          <a:ln/>
        </p:spPr>
        <p:txBody>
          <a:bodyPr wrap="square" rtlCol="0" anchor="ctr"/>
          <a:lstStyle/>
          <a:p>
            <a:pPr marL="0" indent="0" algn="ctr">
              <a:buNone/>
            </a:pPr>
            <a:r>
              <a:rPr lang="en-US" sz="3200" b="1" dirty="0">
                <a:solidFill>
                  <a:srgbClr val="ADFF2F"/>
                </a:solidFill>
                <a:latin typeface="Arial Black" pitchFamily="34" charset="0"/>
                <a:ea typeface="Arial Black" pitchFamily="34" charset="-122"/>
                <a:cs typeface="Arial Black" pitchFamily="34" charset="-120"/>
              </a:rPr>
              <a:t>2×</a:t>
            </a:r>
            <a:endParaRPr lang="en-US" sz="3200" dirty="0"/>
          </a:p>
        </p:txBody>
      </p:sp>
      <p:sp>
        <p:nvSpPr>
          <p:cNvPr id="9" name="Text 5"/>
          <p:cNvSpPr/>
          <p:nvPr/>
        </p:nvSpPr>
        <p:spPr>
          <a:xfrm>
            <a:off x="274320" y="3886200"/>
            <a:ext cx="1828800" cy="502920"/>
          </a:xfrm>
          <a:prstGeom prst="rect">
            <a:avLst/>
          </a:prstGeom>
          <a:noFill/>
          <a:ln/>
        </p:spPr>
        <p:txBody>
          <a:bodyPr wrap="square" rtlCol="0" anchor="ctr"/>
          <a:lstStyle/>
          <a:p>
            <a:pPr marL="0" indent="0" algn="ctr">
              <a:buNone/>
            </a:pPr>
            <a:r>
              <a:rPr lang="en-US" sz="1100" dirty="0">
                <a:solidFill>
                  <a:srgbClr val="B0C8B0"/>
                </a:solidFill>
                <a:latin typeface="Calibri" pitchFamily="34" charset="0"/>
                <a:ea typeface="Calibri" pitchFamily="34" charset="-122"/>
                <a:cs typeface="Calibri" pitchFamily="34" charset="-120"/>
              </a:rPr>
              <a:t>World's Best</a:t>
            </a:r>
            <a:endParaRPr lang="en-US" sz="1100" dirty="0"/>
          </a:p>
          <a:p>
            <a:pPr marL="0" indent="0" algn="ctr">
              <a:buNone/>
            </a:pPr>
            <a:r>
              <a:rPr lang="en-US" sz="1100" dirty="0">
                <a:solidFill>
                  <a:srgbClr val="B0C8B0"/>
                </a:solidFill>
                <a:latin typeface="Calibri" pitchFamily="34" charset="0"/>
                <a:ea typeface="Calibri" pitchFamily="34" charset="-122"/>
                <a:cs typeface="Calibri" pitchFamily="34" charset="-120"/>
              </a:rPr>
              <a:t>Player (HLTV)</a:t>
            </a:r>
            <a:endParaRPr lang="en-US" sz="1100" dirty="0"/>
          </a:p>
        </p:txBody>
      </p:sp>
      <p:sp>
        <p:nvSpPr>
          <p:cNvPr id="10" name="Shape 6"/>
          <p:cNvSpPr/>
          <p:nvPr/>
        </p:nvSpPr>
        <p:spPr>
          <a:xfrm>
            <a:off x="2286000" y="3200400"/>
            <a:ext cx="1828800" cy="1234440"/>
          </a:xfrm>
          <a:prstGeom prst="rect">
            <a:avLst/>
          </a:prstGeom>
          <a:solidFill>
            <a:srgbClr val="0A160A"/>
          </a:solidFill>
          <a:ln/>
        </p:spPr>
      </p:sp>
      <p:sp>
        <p:nvSpPr>
          <p:cNvPr id="11" name="Shape 7"/>
          <p:cNvSpPr/>
          <p:nvPr/>
        </p:nvSpPr>
        <p:spPr>
          <a:xfrm>
            <a:off x="2286000" y="3200400"/>
            <a:ext cx="1828800" cy="64008"/>
          </a:xfrm>
          <a:prstGeom prst="rect">
            <a:avLst/>
          </a:prstGeom>
          <a:solidFill>
            <a:srgbClr val="00FF41"/>
          </a:solidFill>
          <a:ln/>
        </p:spPr>
      </p:sp>
      <p:sp>
        <p:nvSpPr>
          <p:cNvPr id="12" name="Text 8"/>
          <p:cNvSpPr/>
          <p:nvPr/>
        </p:nvSpPr>
        <p:spPr>
          <a:xfrm>
            <a:off x="2286000" y="3291840"/>
            <a:ext cx="1828800" cy="594360"/>
          </a:xfrm>
          <a:prstGeom prst="rect">
            <a:avLst/>
          </a:prstGeom>
          <a:noFill/>
          <a:ln/>
        </p:spPr>
        <p:txBody>
          <a:bodyPr wrap="square" rtlCol="0" anchor="ctr"/>
          <a:lstStyle/>
          <a:p>
            <a:pPr marL="0" indent="0" algn="ctr">
              <a:buNone/>
            </a:pPr>
            <a:r>
              <a:rPr lang="en-US" sz="3200" b="1" dirty="0">
                <a:solidFill>
                  <a:srgbClr val="00FF41"/>
                </a:solidFill>
                <a:latin typeface="Arial Black" pitchFamily="34" charset="0"/>
                <a:ea typeface="Arial Black" pitchFamily="34" charset="-122"/>
                <a:cs typeface="Arial Black" pitchFamily="34" charset="-120"/>
              </a:rPr>
              <a:t>1×</a:t>
            </a:r>
            <a:endParaRPr lang="en-US" sz="3200" dirty="0"/>
          </a:p>
        </p:txBody>
      </p:sp>
      <p:sp>
        <p:nvSpPr>
          <p:cNvPr id="13" name="Text 9"/>
          <p:cNvSpPr/>
          <p:nvPr/>
        </p:nvSpPr>
        <p:spPr>
          <a:xfrm>
            <a:off x="2286000" y="3886200"/>
            <a:ext cx="1828800" cy="502920"/>
          </a:xfrm>
          <a:prstGeom prst="rect">
            <a:avLst/>
          </a:prstGeom>
          <a:noFill/>
          <a:ln/>
        </p:spPr>
        <p:txBody>
          <a:bodyPr wrap="square" rtlCol="0" anchor="ctr"/>
          <a:lstStyle/>
          <a:p>
            <a:pPr marL="0" indent="0" algn="ctr">
              <a:buNone/>
            </a:pPr>
            <a:r>
              <a:rPr lang="en-US" sz="1100" dirty="0">
                <a:solidFill>
                  <a:srgbClr val="B0C8B0"/>
                </a:solidFill>
                <a:latin typeface="Calibri" pitchFamily="34" charset="0"/>
                <a:ea typeface="Calibri" pitchFamily="34" charset="-122"/>
                <a:cs typeface="Calibri" pitchFamily="34" charset="-120"/>
              </a:rPr>
              <a:t>Major</a:t>
            </a:r>
            <a:endParaRPr lang="en-US" sz="1100" dirty="0"/>
          </a:p>
          <a:p>
            <a:pPr marL="0" indent="0" algn="ctr">
              <a:buNone/>
            </a:pPr>
            <a:r>
              <a:rPr lang="en-US" sz="1100" dirty="0">
                <a:solidFill>
                  <a:srgbClr val="B0C8B0"/>
                </a:solidFill>
                <a:latin typeface="Calibri" pitchFamily="34" charset="0"/>
                <a:ea typeface="Calibri" pitchFamily="34" charset="-122"/>
                <a:cs typeface="Calibri" pitchFamily="34" charset="-120"/>
              </a:rPr>
              <a:t>Champion</a:t>
            </a:r>
            <a:endParaRPr lang="en-US" sz="1100" dirty="0"/>
          </a:p>
        </p:txBody>
      </p:sp>
      <p:sp>
        <p:nvSpPr>
          <p:cNvPr id="14" name="Shape 10"/>
          <p:cNvSpPr/>
          <p:nvPr/>
        </p:nvSpPr>
        <p:spPr>
          <a:xfrm>
            <a:off x="4297680" y="3200400"/>
            <a:ext cx="1828800" cy="1234440"/>
          </a:xfrm>
          <a:prstGeom prst="rect">
            <a:avLst/>
          </a:prstGeom>
          <a:solidFill>
            <a:srgbClr val="0A160A"/>
          </a:solidFill>
          <a:ln/>
        </p:spPr>
      </p:sp>
      <p:sp>
        <p:nvSpPr>
          <p:cNvPr id="15" name="Shape 11"/>
          <p:cNvSpPr/>
          <p:nvPr/>
        </p:nvSpPr>
        <p:spPr>
          <a:xfrm>
            <a:off x="4297680" y="3200400"/>
            <a:ext cx="1828800" cy="64008"/>
          </a:xfrm>
          <a:prstGeom prst="rect">
            <a:avLst/>
          </a:prstGeom>
          <a:solidFill>
            <a:srgbClr val="39D353"/>
          </a:solidFill>
          <a:ln/>
        </p:spPr>
      </p:sp>
      <p:sp>
        <p:nvSpPr>
          <p:cNvPr id="16" name="Text 12"/>
          <p:cNvSpPr/>
          <p:nvPr/>
        </p:nvSpPr>
        <p:spPr>
          <a:xfrm>
            <a:off x="4297680" y="3291840"/>
            <a:ext cx="1828800" cy="594360"/>
          </a:xfrm>
          <a:prstGeom prst="rect">
            <a:avLst/>
          </a:prstGeom>
          <a:noFill/>
          <a:ln/>
        </p:spPr>
        <p:txBody>
          <a:bodyPr wrap="square" rtlCol="0" anchor="ctr"/>
          <a:lstStyle/>
          <a:p>
            <a:pPr marL="0" indent="0" algn="ctr">
              <a:buNone/>
            </a:pPr>
            <a:r>
              <a:rPr lang="en-US" sz="3200" b="1" dirty="0">
                <a:solidFill>
                  <a:srgbClr val="39D353"/>
                </a:solidFill>
                <a:latin typeface="Arial Black" pitchFamily="34" charset="0"/>
                <a:ea typeface="Arial Black" pitchFamily="34" charset="-122"/>
                <a:cs typeface="Arial Black" pitchFamily="34" charset="-120"/>
              </a:rPr>
              <a:t>#1</a:t>
            </a:r>
            <a:endParaRPr lang="en-US" sz="3200" dirty="0"/>
          </a:p>
        </p:txBody>
      </p:sp>
      <p:sp>
        <p:nvSpPr>
          <p:cNvPr id="17" name="Text 13"/>
          <p:cNvSpPr/>
          <p:nvPr/>
        </p:nvSpPr>
        <p:spPr>
          <a:xfrm>
            <a:off x="4297680" y="3886200"/>
            <a:ext cx="1828800" cy="502920"/>
          </a:xfrm>
          <a:prstGeom prst="rect">
            <a:avLst/>
          </a:prstGeom>
          <a:noFill/>
          <a:ln/>
        </p:spPr>
        <p:txBody>
          <a:bodyPr wrap="square" rtlCol="0" anchor="ctr"/>
          <a:lstStyle/>
          <a:p>
            <a:pPr marL="0" indent="0" algn="ctr">
              <a:buNone/>
            </a:pPr>
            <a:r>
              <a:rPr lang="en-US" sz="1100" dirty="0">
                <a:solidFill>
                  <a:srgbClr val="B0C8B0"/>
                </a:solidFill>
                <a:latin typeface="Calibri" pitchFamily="34" charset="0"/>
                <a:ea typeface="Calibri" pitchFamily="34" charset="-122"/>
                <a:cs typeface="Calibri" pitchFamily="34" charset="-120"/>
              </a:rPr>
              <a:t>All-time peak</a:t>
            </a:r>
            <a:endParaRPr lang="en-US" sz="1100" dirty="0"/>
          </a:p>
          <a:p>
            <a:pPr marL="0" indent="0" algn="ctr">
              <a:buNone/>
            </a:pPr>
            <a:r>
              <a:rPr lang="en-US" sz="1100" dirty="0">
                <a:solidFill>
                  <a:srgbClr val="B0C8B0"/>
                </a:solidFill>
                <a:latin typeface="Calibri" pitchFamily="34" charset="0"/>
                <a:ea typeface="Calibri" pitchFamily="34" charset="-122"/>
                <a:cs typeface="Calibri" pitchFamily="34" charset="-120"/>
              </a:rPr>
              <a:t>HLTV ranking</a:t>
            </a:r>
            <a:endParaRPr lang="en-US" sz="1100" dirty="0"/>
          </a:p>
        </p:txBody>
      </p:sp>
      <p:sp>
        <p:nvSpPr>
          <p:cNvPr id="18" name="Shape 14"/>
          <p:cNvSpPr/>
          <p:nvPr/>
        </p:nvSpPr>
        <p:spPr>
          <a:xfrm>
            <a:off x="6080760" y="868680"/>
            <a:ext cx="2788920" cy="3566160"/>
          </a:xfrm>
          <a:prstGeom prst="rect">
            <a:avLst/>
          </a:prstGeom>
          <a:solidFill>
            <a:srgbClr val="0A160A"/>
          </a:solidFill>
          <a:ln/>
        </p:spPr>
      </p:sp>
      <p:sp>
        <p:nvSpPr>
          <p:cNvPr id="19" name="Shape 15"/>
          <p:cNvSpPr/>
          <p:nvPr/>
        </p:nvSpPr>
        <p:spPr>
          <a:xfrm>
            <a:off x="6080760" y="868680"/>
            <a:ext cx="2788920" cy="64008"/>
          </a:xfrm>
          <a:prstGeom prst="rect">
            <a:avLst/>
          </a:prstGeom>
          <a:solidFill>
            <a:srgbClr val="ADFF2F"/>
          </a:solidFill>
          <a:ln/>
        </p:spPr>
      </p:sp>
      <p:sp>
        <p:nvSpPr>
          <p:cNvPr id="20" name="Text 16"/>
          <p:cNvSpPr/>
          <p:nvPr/>
        </p:nvSpPr>
        <p:spPr>
          <a:xfrm>
            <a:off x="6172200" y="987552"/>
            <a:ext cx="2606040" cy="384048"/>
          </a:xfrm>
          <a:prstGeom prst="rect">
            <a:avLst/>
          </a:prstGeom>
          <a:noFill/>
          <a:ln/>
        </p:spPr>
        <p:txBody>
          <a:bodyPr wrap="square" lIns="0" tIns="0" rIns="0" bIns="0" rtlCol="0" anchor="ctr"/>
          <a:lstStyle/>
          <a:p>
            <a:pPr marL="0" indent="0">
              <a:buNone/>
            </a:pPr>
            <a:r>
              <a:rPr lang="en-US" sz="1500" b="1" dirty="0">
                <a:solidFill>
                  <a:srgbClr val="ADFF2F"/>
                </a:solidFill>
                <a:latin typeface="Calibri" pitchFamily="34" charset="0"/>
                <a:ea typeface="Calibri" pitchFamily="34" charset="-122"/>
                <a:cs typeface="Calibri" pitchFamily="34" charset="-120"/>
              </a:rPr>
              <a:t>The legacy of a legend</a:t>
            </a:r>
            <a:endParaRPr lang="en-US" sz="1500" dirty="0"/>
          </a:p>
        </p:txBody>
      </p:sp>
      <p:sp>
        <p:nvSpPr>
          <p:cNvPr id="21" name="Text 17"/>
          <p:cNvSpPr/>
          <p:nvPr/>
        </p:nvSpPr>
        <p:spPr>
          <a:xfrm>
            <a:off x="6172200" y="1417320"/>
            <a:ext cx="2606040" cy="2926080"/>
          </a:xfrm>
          <a:prstGeom prst="rect">
            <a:avLst/>
          </a:prstGeom>
          <a:noFill/>
          <a:ln/>
        </p:spPr>
        <p:txBody>
          <a:bodyPr wrap="square" rtlCol="0" anchor="ctr"/>
          <a:lstStyle/>
          <a:p>
            <a:pPr marL="0" indent="0">
              <a:buNone/>
            </a:pPr>
            <a:r>
              <a:rPr lang="en-US" sz="1200" dirty="0">
                <a:solidFill>
                  <a:srgbClr val="B0C8B0"/>
                </a:solidFill>
                <a:latin typeface="Calibri" pitchFamily="34" charset="0"/>
                <a:ea typeface="Calibri" pitchFamily="34" charset="-122"/>
                <a:cs typeface="Calibri" pitchFamily="34" charset="-120"/>
              </a:rPr>
              <a:t>S1mple is a professional player who spent most of his career at Natus Vincere.</a:t>
            </a:r>
            <a:endParaRPr lang="en-US" sz="1200" dirty="0"/>
          </a:p>
          <a:p>
            <a:pPr marL="0" indent="0">
              <a:buNone/>
            </a:pPr>
            <a:endParaRPr lang="en-US" sz="1200" dirty="0"/>
          </a:p>
          <a:p>
            <a:pPr marL="0" indent="0">
              <a:buNone/>
            </a:pPr>
            <a:r>
              <a:rPr lang="en-US" sz="1200" dirty="0">
                <a:solidFill>
                  <a:srgbClr val="B0C8B0"/>
                </a:solidFill>
                <a:latin typeface="Calibri" pitchFamily="34" charset="0"/>
                <a:ea typeface="Calibri" pitchFamily="34" charset="-122"/>
                <a:cs typeface="Calibri" pitchFamily="34" charset="-120"/>
              </a:rPr>
              <a:t>His impact on CS extended far beyond personal achievements — he inspired millions of people to pick up a mouse and start playing Counter-Strike.</a:t>
            </a:r>
            <a:endParaRPr lang="en-US" sz="1200" dirty="0"/>
          </a:p>
          <a:p>
            <a:pPr marL="0" indent="0">
              <a:buNone/>
            </a:pPr>
            <a:endParaRPr lang="en-US" sz="1200" dirty="0"/>
          </a:p>
          <a:p>
            <a:pPr marL="0" indent="0">
              <a:buNone/>
            </a:pPr>
            <a:r>
              <a:rPr lang="en-US" sz="1200" dirty="0">
                <a:solidFill>
                  <a:srgbClr val="B0C8B0"/>
                </a:solidFill>
                <a:latin typeface="Calibri" pitchFamily="34" charset="0"/>
                <a:ea typeface="Calibri" pitchFamily="34" charset="-122"/>
                <a:cs typeface="Calibri" pitchFamily="34" charset="-120"/>
              </a:rPr>
              <a:t>Personalities like him define the culture and attract new generations to esports.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50F0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FF41"/>
          </a:solidFill>
          <a:ln/>
        </p:spPr>
      </p:sp>
      <p:sp>
        <p:nvSpPr>
          <p:cNvPr id="3" name="Text 1"/>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3600" b="1" dirty="0">
                <a:solidFill>
                  <a:srgbClr val="FFFFFF"/>
                </a:solidFill>
                <a:latin typeface="Arial Black" pitchFamily="34" charset="0"/>
                <a:ea typeface="Arial Black" pitchFamily="34" charset="-122"/>
                <a:cs typeface="Arial Black" pitchFamily="34" charset="-120"/>
              </a:rPr>
              <a:t>CONCLUSION</a:t>
            </a:r>
            <a:endParaRPr lang="en-US" sz="3600" dirty="0"/>
          </a:p>
        </p:txBody>
      </p:sp>
      <p:sp>
        <p:nvSpPr>
          <p:cNvPr id="4" name="Shape 2"/>
          <p:cNvSpPr/>
          <p:nvPr/>
        </p:nvSpPr>
        <p:spPr>
          <a:xfrm>
            <a:off x="457200" y="1005840"/>
            <a:ext cx="8229600" cy="1280160"/>
          </a:xfrm>
          <a:prstGeom prst="rect">
            <a:avLst/>
          </a:prstGeom>
          <a:solidFill>
            <a:srgbClr val="1A7A1A">
              <a:alpha val="80000"/>
            </a:srgbClr>
          </a:solidFill>
          <a:ln/>
        </p:spPr>
      </p:sp>
      <p:sp>
        <p:nvSpPr>
          <p:cNvPr id="5" name="Shape 3"/>
          <p:cNvSpPr/>
          <p:nvPr/>
        </p:nvSpPr>
        <p:spPr>
          <a:xfrm>
            <a:off x="457200" y="1005840"/>
            <a:ext cx="128016" cy="1280160"/>
          </a:xfrm>
          <a:prstGeom prst="rect">
            <a:avLst/>
          </a:prstGeom>
          <a:solidFill>
            <a:srgbClr val="00FF41"/>
          </a:solidFill>
          <a:ln/>
        </p:spPr>
      </p:sp>
      <p:sp>
        <p:nvSpPr>
          <p:cNvPr id="6" name="Text 4"/>
          <p:cNvSpPr/>
          <p:nvPr/>
        </p:nvSpPr>
        <p:spPr>
          <a:xfrm>
            <a:off x="731520" y="1051560"/>
            <a:ext cx="7818120" cy="118872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Esports is a fully-fledged professional industry demanding talent, discipline, and years of hard work. It is not simply "gaming" — it is a complex ecosystem of teams, academies, coaches and a global audience of hundreds of millions.</a:t>
            </a:r>
            <a:endParaRPr lang="en-US" sz="1450" dirty="0"/>
          </a:p>
        </p:txBody>
      </p:sp>
      <p:sp>
        <p:nvSpPr>
          <p:cNvPr id="7" name="Shape 5"/>
          <p:cNvSpPr/>
          <p:nvPr/>
        </p:nvSpPr>
        <p:spPr>
          <a:xfrm>
            <a:off x="457200" y="2514600"/>
            <a:ext cx="2651760" cy="2286000"/>
          </a:xfrm>
          <a:prstGeom prst="rect">
            <a:avLst/>
          </a:prstGeom>
          <a:solidFill>
            <a:srgbClr val="152015"/>
          </a:solidFill>
          <a:ln/>
        </p:spPr>
      </p:sp>
      <p:sp>
        <p:nvSpPr>
          <p:cNvPr id="8" name="Shape 6"/>
          <p:cNvSpPr/>
          <p:nvPr/>
        </p:nvSpPr>
        <p:spPr>
          <a:xfrm>
            <a:off x="457200" y="2514600"/>
            <a:ext cx="2651760" cy="73152"/>
          </a:xfrm>
          <a:prstGeom prst="rect">
            <a:avLst/>
          </a:prstGeom>
          <a:solidFill>
            <a:srgbClr val="00FF41"/>
          </a:solidFill>
          <a:ln/>
        </p:spPr>
      </p:sp>
      <p:sp>
        <p:nvSpPr>
          <p:cNvPr id="9" name="Text 7"/>
          <p:cNvSpPr/>
          <p:nvPr/>
        </p:nvSpPr>
        <p:spPr>
          <a:xfrm>
            <a:off x="457200" y="2606040"/>
            <a:ext cx="2651760"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0" name="Text 8"/>
          <p:cNvSpPr/>
          <p:nvPr/>
        </p:nvSpPr>
        <p:spPr>
          <a:xfrm>
            <a:off x="594360" y="3200400"/>
            <a:ext cx="2377440" cy="365760"/>
          </a:xfrm>
          <a:prstGeom prst="rect">
            <a:avLst/>
          </a:prstGeom>
          <a:noFill/>
          <a:ln/>
        </p:spPr>
        <p:txBody>
          <a:bodyPr wrap="square" rtlCol="0" anchor="ctr"/>
          <a:lstStyle/>
          <a:p>
            <a:pPr marL="0" indent="0" algn="ctr">
              <a:buNone/>
            </a:pPr>
            <a:r>
              <a:rPr lang="en-US" sz="1300" b="1" dirty="0">
                <a:solidFill>
                  <a:srgbClr val="00FF41"/>
                </a:solidFill>
                <a:latin typeface="Calibri" pitchFamily="34" charset="0"/>
                <a:ea typeface="Calibri" pitchFamily="34" charset="-122"/>
                <a:cs typeface="Calibri" pitchFamily="34" charset="-120"/>
              </a:rPr>
              <a:t>Popularity is no accident</a:t>
            </a:r>
            <a:endParaRPr lang="en-US" sz="1300" dirty="0"/>
          </a:p>
        </p:txBody>
      </p:sp>
      <p:sp>
        <p:nvSpPr>
          <p:cNvPr id="11" name="Text 9"/>
          <p:cNvSpPr/>
          <p:nvPr/>
        </p:nvSpPr>
        <p:spPr>
          <a:xfrm>
            <a:off x="594360" y="3611880"/>
            <a:ext cx="2377440" cy="1097280"/>
          </a:xfrm>
          <a:prstGeom prst="rect">
            <a:avLst/>
          </a:prstGeom>
          <a:noFill/>
          <a:ln/>
        </p:spPr>
        <p:txBody>
          <a:bodyPr wrap="square" rtlCol="0" anchor="ctr"/>
          <a:lstStyle/>
          <a:p>
            <a:pPr marL="0" indent="0" algn="ctr">
              <a:buNone/>
            </a:pPr>
            <a:r>
              <a:rPr lang="en-US" sz="1150" dirty="0">
                <a:solidFill>
                  <a:srgbClr val="B0C8B0"/>
                </a:solidFill>
                <a:latin typeface="Calibri" pitchFamily="34" charset="0"/>
                <a:ea typeface="Calibri" pitchFamily="34" charset="-122"/>
                <a:cs typeface="Calibri" pitchFamily="34" charset="-120"/>
              </a:rPr>
              <a:t>Accessibility + global community + career potential — the winning formula behind esports' rise among youth.</a:t>
            </a:r>
            <a:endParaRPr lang="en-US" sz="1150" dirty="0"/>
          </a:p>
        </p:txBody>
      </p:sp>
      <p:sp>
        <p:nvSpPr>
          <p:cNvPr id="12" name="Shape 10"/>
          <p:cNvSpPr/>
          <p:nvPr/>
        </p:nvSpPr>
        <p:spPr>
          <a:xfrm>
            <a:off x="3291840" y="2514600"/>
            <a:ext cx="2651760" cy="2286000"/>
          </a:xfrm>
          <a:prstGeom prst="rect">
            <a:avLst/>
          </a:prstGeom>
          <a:solidFill>
            <a:srgbClr val="152015"/>
          </a:solidFill>
          <a:ln/>
        </p:spPr>
      </p:sp>
      <p:sp>
        <p:nvSpPr>
          <p:cNvPr id="13" name="Shape 11"/>
          <p:cNvSpPr/>
          <p:nvPr/>
        </p:nvSpPr>
        <p:spPr>
          <a:xfrm>
            <a:off x="3291840" y="2514600"/>
            <a:ext cx="2651760" cy="73152"/>
          </a:xfrm>
          <a:prstGeom prst="rect">
            <a:avLst/>
          </a:prstGeom>
          <a:solidFill>
            <a:srgbClr val="39D353"/>
          </a:solidFill>
          <a:ln/>
        </p:spPr>
      </p:sp>
      <p:sp>
        <p:nvSpPr>
          <p:cNvPr id="14" name="Text 12"/>
          <p:cNvSpPr/>
          <p:nvPr/>
        </p:nvSpPr>
        <p:spPr>
          <a:xfrm>
            <a:off x="3291840" y="2606040"/>
            <a:ext cx="2651760"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5" name="Text 13"/>
          <p:cNvSpPr/>
          <p:nvPr/>
        </p:nvSpPr>
        <p:spPr>
          <a:xfrm>
            <a:off x="3429000" y="3200400"/>
            <a:ext cx="2377440" cy="365760"/>
          </a:xfrm>
          <a:prstGeom prst="rect">
            <a:avLst/>
          </a:prstGeom>
          <a:noFill/>
          <a:ln/>
        </p:spPr>
        <p:txBody>
          <a:bodyPr wrap="square" rtlCol="0" anchor="ctr"/>
          <a:lstStyle/>
          <a:p>
            <a:pPr marL="0" indent="0" algn="ctr">
              <a:buNone/>
            </a:pPr>
            <a:r>
              <a:rPr lang="en-US" sz="1300" b="1" dirty="0">
                <a:solidFill>
                  <a:srgbClr val="39D353"/>
                </a:solidFill>
                <a:latin typeface="Calibri" pitchFamily="34" charset="0"/>
                <a:ea typeface="Calibri" pitchFamily="34" charset="-122"/>
                <a:cs typeface="Calibri" pitchFamily="34" charset="-120"/>
              </a:rPr>
              <a:t>The path demands sacrifice</a:t>
            </a:r>
            <a:endParaRPr lang="en-US" sz="1300" dirty="0"/>
          </a:p>
        </p:txBody>
      </p:sp>
      <p:sp>
        <p:nvSpPr>
          <p:cNvPr id="16" name="Text 14"/>
          <p:cNvSpPr/>
          <p:nvPr/>
        </p:nvSpPr>
        <p:spPr>
          <a:xfrm>
            <a:off x="3429000" y="3611880"/>
            <a:ext cx="2377440" cy="1097280"/>
          </a:xfrm>
          <a:prstGeom prst="rect">
            <a:avLst/>
          </a:prstGeom>
          <a:noFill/>
          <a:ln/>
        </p:spPr>
        <p:txBody>
          <a:bodyPr wrap="square" rtlCol="0" anchor="ctr"/>
          <a:lstStyle/>
          <a:p>
            <a:pPr marL="0" indent="0" algn="ctr">
              <a:buNone/>
            </a:pPr>
            <a:r>
              <a:rPr lang="en-US" sz="1150" dirty="0">
                <a:solidFill>
                  <a:srgbClr val="B0C8B0"/>
                </a:solidFill>
                <a:latin typeface="Calibri" pitchFamily="34" charset="0"/>
                <a:ea typeface="Calibri" pitchFamily="34" charset="-122"/>
                <a:cs typeface="Calibri" pitchFamily="34" charset="-120"/>
              </a:rPr>
              <a:t>Thousands of hours of training, deep analysis, mental resilience — without these, the professional scene is out of reach.</a:t>
            </a:r>
            <a:endParaRPr lang="en-US" sz="1150" dirty="0"/>
          </a:p>
        </p:txBody>
      </p:sp>
      <p:sp>
        <p:nvSpPr>
          <p:cNvPr id="17" name="Shape 15"/>
          <p:cNvSpPr/>
          <p:nvPr/>
        </p:nvSpPr>
        <p:spPr>
          <a:xfrm>
            <a:off x="6126480" y="2514600"/>
            <a:ext cx="2651760" cy="2286000"/>
          </a:xfrm>
          <a:prstGeom prst="rect">
            <a:avLst/>
          </a:prstGeom>
          <a:solidFill>
            <a:srgbClr val="152015"/>
          </a:solidFill>
          <a:ln/>
        </p:spPr>
      </p:sp>
      <p:sp>
        <p:nvSpPr>
          <p:cNvPr id="18" name="Shape 16"/>
          <p:cNvSpPr/>
          <p:nvPr/>
        </p:nvSpPr>
        <p:spPr>
          <a:xfrm>
            <a:off x="6126480" y="2514600"/>
            <a:ext cx="2651760" cy="73152"/>
          </a:xfrm>
          <a:prstGeom prst="rect">
            <a:avLst/>
          </a:prstGeom>
          <a:solidFill>
            <a:srgbClr val="ADFF2F"/>
          </a:solidFill>
          <a:ln/>
        </p:spPr>
      </p:sp>
      <p:sp>
        <p:nvSpPr>
          <p:cNvPr id="19" name="Text 17"/>
          <p:cNvSpPr/>
          <p:nvPr/>
        </p:nvSpPr>
        <p:spPr>
          <a:xfrm>
            <a:off x="6126480" y="2606040"/>
            <a:ext cx="2651760"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0" name="Text 18"/>
          <p:cNvSpPr/>
          <p:nvPr/>
        </p:nvSpPr>
        <p:spPr>
          <a:xfrm>
            <a:off x="6263640" y="3200400"/>
            <a:ext cx="2377440" cy="365760"/>
          </a:xfrm>
          <a:prstGeom prst="rect">
            <a:avLst/>
          </a:prstGeom>
          <a:noFill/>
          <a:ln/>
        </p:spPr>
        <p:txBody>
          <a:bodyPr wrap="square" rtlCol="0" anchor="ctr"/>
          <a:lstStyle/>
          <a:p>
            <a:pPr marL="0" indent="0" algn="ctr">
              <a:buNone/>
            </a:pPr>
            <a:r>
              <a:rPr lang="en-US" sz="1300" b="1" dirty="0">
                <a:solidFill>
                  <a:srgbClr val="ADFF2F"/>
                </a:solidFill>
                <a:latin typeface="Calibri" pitchFamily="34" charset="0"/>
                <a:ea typeface="Calibri" pitchFamily="34" charset="-122"/>
                <a:cs typeface="Calibri" pitchFamily="34" charset="-120"/>
              </a:rPr>
              <a:t>Organizations drive the industry</a:t>
            </a:r>
            <a:endParaRPr lang="en-US" sz="1300" dirty="0"/>
          </a:p>
        </p:txBody>
      </p:sp>
      <p:sp>
        <p:nvSpPr>
          <p:cNvPr id="21" name="Text 19"/>
          <p:cNvSpPr/>
          <p:nvPr/>
        </p:nvSpPr>
        <p:spPr>
          <a:xfrm>
            <a:off x="6263640" y="3611880"/>
            <a:ext cx="2377440" cy="1097280"/>
          </a:xfrm>
          <a:prstGeom prst="rect">
            <a:avLst/>
          </a:prstGeom>
          <a:noFill/>
          <a:ln/>
        </p:spPr>
        <p:txBody>
          <a:bodyPr wrap="square" rtlCol="0" anchor="ctr"/>
          <a:lstStyle/>
          <a:p>
            <a:pPr marL="0" indent="0" algn="ctr">
              <a:buNone/>
            </a:pPr>
            <a:r>
              <a:rPr lang="en-US" sz="1150" dirty="0">
                <a:solidFill>
                  <a:srgbClr val="B0C8B0"/>
                </a:solidFill>
                <a:latin typeface="Calibri" pitchFamily="34" charset="0"/>
                <a:ea typeface="Calibri" pitchFamily="34" charset="-122"/>
                <a:cs typeface="Calibri" pitchFamily="34" charset="-120"/>
              </a:rPr>
              <a:t>Team Spirit, Falcons and other top orgs build the infrastructure that produces world-class talent.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50F0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7A1A"/>
          </a:solidFill>
          <a:ln/>
        </p:spPr>
      </p:sp>
      <p:sp>
        <p:nvSpPr>
          <p:cNvPr id="3" name="Text 1"/>
          <p:cNvSpPr/>
          <p:nvPr/>
        </p:nvSpPr>
        <p:spPr>
          <a:xfrm>
            <a:off x="457200" y="228600"/>
            <a:ext cx="8229600" cy="548640"/>
          </a:xfrm>
          <a:prstGeom prst="rect">
            <a:avLst/>
          </a:prstGeom>
          <a:noFill/>
          <a:ln/>
        </p:spPr>
        <p:txBody>
          <a:bodyPr wrap="square" lIns="0" tIns="0" rIns="0" bIns="0" rtlCol="0" anchor="ctr"/>
          <a:lstStyle/>
          <a:p>
            <a:pPr marL="0" indent="0" algn="l">
              <a:buNone/>
            </a:pPr>
            <a:r>
              <a:rPr lang="en-US" sz="3600" b="1" dirty="0">
                <a:solidFill>
                  <a:srgbClr val="FFFFFF"/>
                </a:solidFill>
                <a:latin typeface="Arial Black" pitchFamily="34" charset="0"/>
                <a:ea typeface="Arial Black" pitchFamily="34" charset="-122"/>
                <a:cs typeface="Arial Black" pitchFamily="34" charset="-120"/>
              </a:rPr>
              <a:t>SOURCES</a:t>
            </a:r>
            <a:endParaRPr lang="en-US" sz="3600" dirty="0"/>
          </a:p>
        </p:txBody>
      </p:sp>
      <p:sp>
        <p:nvSpPr>
          <p:cNvPr id="4" name="Shape 2"/>
          <p:cNvSpPr/>
          <p:nvPr/>
        </p:nvSpPr>
        <p:spPr>
          <a:xfrm>
            <a:off x="457200" y="1005840"/>
            <a:ext cx="8229600" cy="640080"/>
          </a:xfrm>
          <a:prstGeom prst="rect">
            <a:avLst/>
          </a:prstGeom>
          <a:solidFill>
            <a:srgbClr val="152015"/>
          </a:solidFill>
          <a:ln/>
        </p:spPr>
      </p:sp>
      <p:sp>
        <p:nvSpPr>
          <p:cNvPr id="5" name="Shape 3"/>
          <p:cNvSpPr/>
          <p:nvPr/>
        </p:nvSpPr>
        <p:spPr>
          <a:xfrm>
            <a:off x="502920" y="1060704"/>
            <a:ext cx="502920" cy="502920"/>
          </a:xfrm>
          <a:prstGeom prst="ellipse">
            <a:avLst/>
          </a:prstGeom>
          <a:solidFill>
            <a:srgbClr val="1A7A1A"/>
          </a:solidFill>
          <a:ln/>
        </p:spPr>
      </p:sp>
      <p:sp>
        <p:nvSpPr>
          <p:cNvPr id="6" name="Text 4"/>
          <p:cNvSpPr/>
          <p:nvPr/>
        </p:nvSpPr>
        <p:spPr>
          <a:xfrm>
            <a:off x="502920" y="1060704"/>
            <a:ext cx="502920" cy="502920"/>
          </a:xfrm>
          <a:prstGeom prst="rect">
            <a:avLst/>
          </a:prstGeom>
          <a:noFill/>
          <a:ln/>
        </p:spPr>
        <p:txBody>
          <a:bodyPr wrap="square" lIns="0" tIns="0" rIns="0" bIns="0" rtlCol="0" anchor="ctr"/>
          <a:lstStyle/>
          <a:p>
            <a:pPr marL="0" indent="0" algn="ctr">
              <a:buNone/>
            </a:pPr>
            <a:r>
              <a:rPr lang="en-US" sz="1600" b="1" dirty="0">
                <a:solidFill>
                  <a:srgbClr val="00FF41"/>
                </a:solidFill>
                <a:latin typeface="Arial Black" pitchFamily="34" charset="0"/>
                <a:ea typeface="Arial Black" pitchFamily="34" charset="-122"/>
                <a:cs typeface="Arial Black" pitchFamily="34" charset="-120"/>
              </a:rPr>
              <a:t>1</a:t>
            </a:r>
            <a:endParaRPr lang="en-US" sz="1600" dirty="0"/>
          </a:p>
        </p:txBody>
      </p:sp>
      <p:sp>
        <p:nvSpPr>
          <p:cNvPr id="7" name="Text 5"/>
          <p:cNvSpPr/>
          <p:nvPr/>
        </p:nvSpPr>
        <p:spPr>
          <a:xfrm>
            <a:off x="1143000" y="1078992"/>
            <a:ext cx="7406640" cy="502920"/>
          </a:xfrm>
          <a:prstGeom prst="rect">
            <a:avLst/>
          </a:prstGeom>
          <a:noFill/>
          <a:ln/>
        </p:spPr>
        <p:txBody>
          <a:bodyPr wrap="square" rtlCol="0" anchor="ctr"/>
          <a:lstStyle/>
          <a:p>
            <a:pPr marL="0" indent="0">
              <a:buNone/>
            </a:pPr>
            <a:r>
              <a:rPr lang="en-US" sz="1250" dirty="0">
                <a:solidFill>
                  <a:srgbClr val="B0C8B0"/>
                </a:solidFill>
                <a:latin typeface="Calibri" pitchFamily="34" charset="0"/>
                <a:ea typeface="Calibri" pitchFamily="34" charset="-122"/>
                <a:cs typeface="Calibri" pitchFamily="34" charset="-120"/>
              </a:rPr>
              <a:t>HLTV.org — the official resource of the CS2 professional scene: player statistics, rankings, tournament history (hltv.org)</a:t>
            </a:r>
            <a:endParaRPr lang="en-US" sz="1250" dirty="0"/>
          </a:p>
        </p:txBody>
      </p:sp>
      <p:sp>
        <p:nvSpPr>
          <p:cNvPr id="8" name="Shape 6"/>
          <p:cNvSpPr/>
          <p:nvPr/>
        </p:nvSpPr>
        <p:spPr>
          <a:xfrm>
            <a:off x="457200" y="1755648"/>
            <a:ext cx="8229600" cy="640080"/>
          </a:xfrm>
          <a:prstGeom prst="rect">
            <a:avLst/>
          </a:prstGeom>
          <a:solidFill>
            <a:srgbClr val="152015"/>
          </a:solidFill>
          <a:ln/>
        </p:spPr>
      </p:sp>
      <p:sp>
        <p:nvSpPr>
          <p:cNvPr id="9" name="Shape 7"/>
          <p:cNvSpPr/>
          <p:nvPr/>
        </p:nvSpPr>
        <p:spPr>
          <a:xfrm>
            <a:off x="502920" y="1810512"/>
            <a:ext cx="502920" cy="502920"/>
          </a:xfrm>
          <a:prstGeom prst="ellipse">
            <a:avLst/>
          </a:prstGeom>
          <a:solidFill>
            <a:srgbClr val="1A7A1A"/>
          </a:solidFill>
          <a:ln/>
        </p:spPr>
      </p:sp>
      <p:sp>
        <p:nvSpPr>
          <p:cNvPr id="10" name="Text 8"/>
          <p:cNvSpPr/>
          <p:nvPr/>
        </p:nvSpPr>
        <p:spPr>
          <a:xfrm>
            <a:off x="502920" y="1810512"/>
            <a:ext cx="502920" cy="502920"/>
          </a:xfrm>
          <a:prstGeom prst="rect">
            <a:avLst/>
          </a:prstGeom>
          <a:noFill/>
          <a:ln/>
        </p:spPr>
        <p:txBody>
          <a:bodyPr wrap="square" lIns="0" tIns="0" rIns="0" bIns="0" rtlCol="0" anchor="ctr"/>
          <a:lstStyle/>
          <a:p>
            <a:pPr marL="0" indent="0" algn="ctr">
              <a:buNone/>
            </a:pPr>
            <a:r>
              <a:rPr lang="en-US" sz="1600" b="1" dirty="0">
                <a:solidFill>
                  <a:srgbClr val="00FF41"/>
                </a:solidFill>
                <a:latin typeface="Arial Black" pitchFamily="34" charset="0"/>
                <a:ea typeface="Arial Black" pitchFamily="34" charset="-122"/>
                <a:cs typeface="Arial Black" pitchFamily="34" charset="-120"/>
              </a:rPr>
              <a:t>2</a:t>
            </a:r>
            <a:endParaRPr lang="en-US" sz="1600" dirty="0"/>
          </a:p>
        </p:txBody>
      </p:sp>
      <p:sp>
        <p:nvSpPr>
          <p:cNvPr id="11" name="Text 9"/>
          <p:cNvSpPr/>
          <p:nvPr/>
        </p:nvSpPr>
        <p:spPr>
          <a:xfrm>
            <a:off x="1143000" y="1828800"/>
            <a:ext cx="7406640" cy="502920"/>
          </a:xfrm>
          <a:prstGeom prst="rect">
            <a:avLst/>
          </a:prstGeom>
          <a:noFill/>
          <a:ln/>
        </p:spPr>
        <p:txBody>
          <a:bodyPr wrap="square" rtlCol="0" anchor="ctr"/>
          <a:lstStyle/>
          <a:p>
            <a:pPr marL="0" indent="0">
              <a:buNone/>
            </a:pPr>
            <a:r>
              <a:rPr lang="en-US" sz="1250" dirty="0">
                <a:solidFill>
                  <a:srgbClr val="B0C8B0"/>
                </a:solidFill>
                <a:latin typeface="Calibri" pitchFamily="34" charset="0"/>
                <a:ea typeface="Calibri" pitchFamily="34" charset="-122"/>
                <a:cs typeface="Calibri" pitchFamily="34" charset="-120"/>
              </a:rPr>
              <a:t>Team Spirit — official organization website: rosters, history, and talent academy (teamspirit.gg)</a:t>
            </a:r>
            <a:endParaRPr lang="en-US" sz="1250" dirty="0"/>
          </a:p>
        </p:txBody>
      </p:sp>
      <p:sp>
        <p:nvSpPr>
          <p:cNvPr id="12" name="Shape 10"/>
          <p:cNvSpPr/>
          <p:nvPr/>
        </p:nvSpPr>
        <p:spPr>
          <a:xfrm>
            <a:off x="457200" y="2505456"/>
            <a:ext cx="8229600" cy="640080"/>
          </a:xfrm>
          <a:prstGeom prst="rect">
            <a:avLst/>
          </a:prstGeom>
          <a:solidFill>
            <a:srgbClr val="152015"/>
          </a:solidFill>
          <a:ln/>
        </p:spPr>
      </p:sp>
      <p:sp>
        <p:nvSpPr>
          <p:cNvPr id="13" name="Shape 11"/>
          <p:cNvSpPr/>
          <p:nvPr/>
        </p:nvSpPr>
        <p:spPr>
          <a:xfrm>
            <a:off x="502920" y="2560320"/>
            <a:ext cx="502920" cy="502920"/>
          </a:xfrm>
          <a:prstGeom prst="ellipse">
            <a:avLst/>
          </a:prstGeom>
          <a:solidFill>
            <a:srgbClr val="1A7A1A"/>
          </a:solidFill>
          <a:ln/>
        </p:spPr>
      </p:sp>
      <p:sp>
        <p:nvSpPr>
          <p:cNvPr id="14" name="Text 12"/>
          <p:cNvSpPr/>
          <p:nvPr/>
        </p:nvSpPr>
        <p:spPr>
          <a:xfrm>
            <a:off x="502920" y="2560320"/>
            <a:ext cx="502920" cy="502920"/>
          </a:xfrm>
          <a:prstGeom prst="rect">
            <a:avLst/>
          </a:prstGeom>
          <a:noFill/>
          <a:ln/>
        </p:spPr>
        <p:txBody>
          <a:bodyPr wrap="square" lIns="0" tIns="0" rIns="0" bIns="0" rtlCol="0" anchor="ctr"/>
          <a:lstStyle/>
          <a:p>
            <a:pPr marL="0" indent="0" algn="ctr">
              <a:buNone/>
            </a:pPr>
            <a:r>
              <a:rPr lang="en-US" sz="1600" b="1" dirty="0">
                <a:solidFill>
                  <a:srgbClr val="00FF41"/>
                </a:solidFill>
                <a:latin typeface="Arial Black" pitchFamily="34" charset="0"/>
                <a:ea typeface="Arial Black" pitchFamily="34" charset="-122"/>
                <a:cs typeface="Arial Black" pitchFamily="34" charset="-120"/>
              </a:rPr>
              <a:t>3</a:t>
            </a:r>
            <a:endParaRPr lang="en-US" sz="1600" dirty="0"/>
          </a:p>
        </p:txBody>
      </p:sp>
      <p:sp>
        <p:nvSpPr>
          <p:cNvPr id="15" name="Text 13"/>
          <p:cNvSpPr/>
          <p:nvPr/>
        </p:nvSpPr>
        <p:spPr>
          <a:xfrm>
            <a:off x="1143000" y="2578608"/>
            <a:ext cx="7406640" cy="502920"/>
          </a:xfrm>
          <a:prstGeom prst="rect">
            <a:avLst/>
          </a:prstGeom>
          <a:noFill/>
          <a:ln/>
        </p:spPr>
        <p:txBody>
          <a:bodyPr wrap="square" rtlCol="0" anchor="ctr"/>
          <a:lstStyle/>
          <a:p>
            <a:pPr marL="0" indent="0">
              <a:buNone/>
            </a:pPr>
            <a:r>
              <a:rPr lang="en-US" sz="1250" dirty="0">
                <a:solidFill>
                  <a:srgbClr val="B0C8B0"/>
                </a:solidFill>
                <a:latin typeface="Calibri" pitchFamily="34" charset="0"/>
                <a:ea typeface="Calibri" pitchFamily="34" charset="-122"/>
                <a:cs typeface="Calibri" pitchFamily="34" charset="-120"/>
              </a:rPr>
              <a:t>Team Falcons — official information about the organization and its disciplines (falcons.gg)</a:t>
            </a:r>
            <a:endParaRPr lang="en-US" sz="1250" dirty="0"/>
          </a:p>
        </p:txBody>
      </p:sp>
      <p:sp>
        <p:nvSpPr>
          <p:cNvPr id="16" name="Shape 14"/>
          <p:cNvSpPr/>
          <p:nvPr/>
        </p:nvSpPr>
        <p:spPr>
          <a:xfrm>
            <a:off x="457200" y="3255264"/>
            <a:ext cx="8229600" cy="640080"/>
          </a:xfrm>
          <a:prstGeom prst="rect">
            <a:avLst/>
          </a:prstGeom>
          <a:solidFill>
            <a:srgbClr val="152015"/>
          </a:solidFill>
          <a:ln/>
        </p:spPr>
      </p:sp>
      <p:sp>
        <p:nvSpPr>
          <p:cNvPr id="17" name="Shape 15"/>
          <p:cNvSpPr/>
          <p:nvPr/>
        </p:nvSpPr>
        <p:spPr>
          <a:xfrm>
            <a:off x="502920" y="3310128"/>
            <a:ext cx="502920" cy="502920"/>
          </a:xfrm>
          <a:prstGeom prst="ellipse">
            <a:avLst/>
          </a:prstGeom>
          <a:solidFill>
            <a:srgbClr val="1A7A1A"/>
          </a:solidFill>
          <a:ln/>
        </p:spPr>
      </p:sp>
      <p:sp>
        <p:nvSpPr>
          <p:cNvPr id="18" name="Text 16"/>
          <p:cNvSpPr/>
          <p:nvPr/>
        </p:nvSpPr>
        <p:spPr>
          <a:xfrm>
            <a:off x="502920" y="3310128"/>
            <a:ext cx="502920" cy="502920"/>
          </a:xfrm>
          <a:prstGeom prst="rect">
            <a:avLst/>
          </a:prstGeom>
          <a:noFill/>
          <a:ln/>
        </p:spPr>
        <p:txBody>
          <a:bodyPr wrap="square" lIns="0" tIns="0" rIns="0" bIns="0" rtlCol="0" anchor="ctr"/>
          <a:lstStyle/>
          <a:p>
            <a:pPr marL="0" indent="0" algn="ctr">
              <a:buNone/>
            </a:pPr>
            <a:r>
              <a:rPr lang="en-US" sz="1600" b="1" dirty="0">
                <a:solidFill>
                  <a:srgbClr val="00FF41"/>
                </a:solidFill>
                <a:latin typeface="Arial Black" pitchFamily="34" charset="0"/>
                <a:ea typeface="Arial Black" pitchFamily="34" charset="-122"/>
                <a:cs typeface="Arial Black" pitchFamily="34" charset="-120"/>
              </a:rPr>
              <a:t>4</a:t>
            </a:r>
            <a:endParaRPr lang="en-US" sz="1600" dirty="0"/>
          </a:p>
        </p:txBody>
      </p:sp>
      <p:sp>
        <p:nvSpPr>
          <p:cNvPr id="19" name="Text 17"/>
          <p:cNvSpPr/>
          <p:nvPr/>
        </p:nvSpPr>
        <p:spPr>
          <a:xfrm>
            <a:off x="1143000" y="3328416"/>
            <a:ext cx="7406640" cy="502920"/>
          </a:xfrm>
          <a:prstGeom prst="rect">
            <a:avLst/>
          </a:prstGeom>
          <a:noFill/>
          <a:ln/>
        </p:spPr>
        <p:txBody>
          <a:bodyPr wrap="square" rtlCol="0" anchor="ctr"/>
          <a:lstStyle/>
          <a:p>
            <a:pPr marL="0" indent="0">
              <a:buNone/>
            </a:pPr>
            <a:r>
              <a:rPr lang="en-US" sz="1250" dirty="0">
                <a:solidFill>
                  <a:srgbClr val="B0C8B0"/>
                </a:solidFill>
                <a:latin typeface="Calibri" pitchFamily="34" charset="0"/>
                <a:ea typeface="Calibri" pitchFamily="34" charset="-122"/>
                <a:cs typeface="Calibri" pitchFamily="34" charset="-120"/>
              </a:rPr>
              <a:t>Author's personal observations: years of following the professional esports scene</a:t>
            </a:r>
            <a:endParaRPr lang="en-US" sz="1250" dirty="0"/>
          </a:p>
        </p:txBody>
      </p:sp>
      <p:sp>
        <p:nvSpPr>
          <p:cNvPr id="20" name="Shape 18"/>
          <p:cNvSpPr/>
          <p:nvPr/>
        </p:nvSpPr>
        <p:spPr>
          <a:xfrm>
            <a:off x="457200" y="4005072"/>
            <a:ext cx="8229600" cy="640080"/>
          </a:xfrm>
          <a:prstGeom prst="rect">
            <a:avLst/>
          </a:prstGeom>
          <a:solidFill>
            <a:srgbClr val="152015"/>
          </a:solidFill>
          <a:ln/>
        </p:spPr>
      </p:sp>
      <p:sp>
        <p:nvSpPr>
          <p:cNvPr id="21" name="Shape 19"/>
          <p:cNvSpPr/>
          <p:nvPr/>
        </p:nvSpPr>
        <p:spPr>
          <a:xfrm>
            <a:off x="502920" y="4059936"/>
            <a:ext cx="502920" cy="502920"/>
          </a:xfrm>
          <a:prstGeom prst="ellipse">
            <a:avLst/>
          </a:prstGeom>
          <a:solidFill>
            <a:srgbClr val="1A7A1A"/>
          </a:solidFill>
          <a:ln/>
        </p:spPr>
      </p:sp>
      <p:sp>
        <p:nvSpPr>
          <p:cNvPr id="22" name="Text 20"/>
          <p:cNvSpPr/>
          <p:nvPr/>
        </p:nvSpPr>
        <p:spPr>
          <a:xfrm>
            <a:off x="502920" y="4059936"/>
            <a:ext cx="502920" cy="502920"/>
          </a:xfrm>
          <a:prstGeom prst="rect">
            <a:avLst/>
          </a:prstGeom>
          <a:noFill/>
          <a:ln/>
        </p:spPr>
        <p:txBody>
          <a:bodyPr wrap="square" lIns="0" tIns="0" rIns="0" bIns="0" rtlCol="0" anchor="ctr"/>
          <a:lstStyle/>
          <a:p>
            <a:pPr marL="0" indent="0" algn="ctr">
              <a:buNone/>
            </a:pPr>
            <a:r>
              <a:rPr lang="en-US" sz="1600" b="1" dirty="0">
                <a:solidFill>
                  <a:srgbClr val="00FF41"/>
                </a:solidFill>
                <a:latin typeface="Arial Black" pitchFamily="34" charset="0"/>
                <a:ea typeface="Arial Black" pitchFamily="34" charset="-122"/>
                <a:cs typeface="Arial Black" pitchFamily="34" charset="-120"/>
              </a:rPr>
              <a:t>5</a:t>
            </a:r>
            <a:endParaRPr lang="en-US" sz="1600" dirty="0"/>
          </a:p>
        </p:txBody>
      </p:sp>
      <p:sp>
        <p:nvSpPr>
          <p:cNvPr id="23" name="Text 21"/>
          <p:cNvSpPr/>
          <p:nvPr/>
        </p:nvSpPr>
        <p:spPr>
          <a:xfrm>
            <a:off x="1143000" y="4078224"/>
            <a:ext cx="7406640" cy="502920"/>
          </a:xfrm>
          <a:prstGeom prst="rect">
            <a:avLst/>
          </a:prstGeom>
          <a:noFill/>
          <a:ln/>
        </p:spPr>
        <p:txBody>
          <a:bodyPr wrap="square" rtlCol="0" anchor="ctr"/>
          <a:lstStyle/>
          <a:p>
            <a:pPr marL="0" indent="0">
              <a:buNone/>
            </a:pPr>
            <a:r>
              <a:rPr lang="en-US" sz="1250" dirty="0">
                <a:solidFill>
                  <a:srgbClr val="B0C8B0"/>
                </a:solidFill>
                <a:latin typeface="Calibri" pitchFamily="34" charset="0"/>
                <a:ea typeface="Calibri" pitchFamily="34" charset="-122"/>
                <a:cs typeface="Calibri" pitchFamily="34" charset="-120"/>
              </a:rPr>
              <a:t>Photo materials: HLTV.org — official press photos from CS2 events</a:t>
            </a:r>
            <a:endParaRPr lang="en-US" sz="1250" dirty="0"/>
          </a:p>
        </p:txBody>
      </p:sp>
      <p:sp>
        <p:nvSpPr>
          <p:cNvPr id="24" name="Shape 22"/>
          <p:cNvSpPr/>
          <p:nvPr/>
        </p:nvSpPr>
        <p:spPr>
          <a:xfrm>
            <a:off x="457200" y="4754880"/>
            <a:ext cx="8229600" cy="256032"/>
          </a:xfrm>
          <a:prstGeom prst="rect">
            <a:avLst/>
          </a:prstGeom>
          <a:solidFill>
            <a:srgbClr val="0F1F0F"/>
          </a:solidFill>
          <a:ln/>
        </p:spPr>
      </p:sp>
      <p:sp>
        <p:nvSpPr>
          <p:cNvPr id="25" name="Text 23"/>
          <p:cNvSpPr/>
          <p:nvPr/>
        </p:nvSpPr>
        <p:spPr>
          <a:xfrm>
            <a:off x="457200" y="4754880"/>
            <a:ext cx="8229600" cy="256032"/>
          </a:xfrm>
          <a:prstGeom prst="rect">
            <a:avLst/>
          </a:prstGeom>
          <a:noFill/>
          <a:ln/>
        </p:spPr>
        <p:txBody>
          <a:bodyPr wrap="square" lIns="0" tIns="0" rIns="0" bIns="0" rtlCol="0" anchor="ctr"/>
          <a:lstStyle/>
          <a:p>
            <a:pPr marL="0" indent="0" algn="ctr">
              <a:buNone/>
            </a:pPr>
            <a:r>
              <a:rPr lang="en-US" sz="1300" b="1" dirty="0">
                <a:solidFill>
                  <a:srgbClr val="00FF41"/>
                </a:solidFill>
                <a:latin typeface="Calibri" pitchFamily="34" charset="0"/>
                <a:ea typeface="Calibri" pitchFamily="34" charset="-122"/>
                <a:cs typeface="Calibri" pitchFamily="34" charset="-120"/>
              </a:rPr>
              <a:t>Thank you for your attention! Any questions?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1026</Words>
  <Application>Microsoft Office PowerPoint</Application>
  <PresentationFormat>Экран (16:9)</PresentationFormat>
  <Paragraphs>153</Paragraphs>
  <Slides>13</Slides>
  <Notes>13</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13</vt:i4>
      </vt:variant>
    </vt:vector>
  </HeadingPairs>
  <TitlesOfParts>
    <vt:vector size="17" baseType="lpstr">
      <vt:lpstr>Arial</vt:lpstr>
      <vt:lpstr>Arial Black</vt:lpstr>
      <vt:lpstr>Calibri</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Cybersport</dc:title>
  <dc:subject>PptxGenJS Presentation</dc:subject>
  <dc:creator>PptxGenJS</dc:creator>
  <cp:lastModifiedBy>i g</cp:lastModifiedBy>
  <cp:revision>2</cp:revision>
  <dcterms:created xsi:type="dcterms:W3CDTF">2026-05-05T12:13:44Z</dcterms:created>
  <dcterms:modified xsi:type="dcterms:W3CDTF">2026-05-05T12:25:08Z</dcterms:modified>
</cp:coreProperties>
</file>