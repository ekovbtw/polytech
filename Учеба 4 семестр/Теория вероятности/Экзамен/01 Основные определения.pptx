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60" r:id="rId3"/>
    <p:sldId id="263" r:id="rId4"/>
    <p:sldId id="257" r:id="rId5"/>
    <p:sldId id="258" r:id="rId6"/>
    <p:sldId id="259" r:id="rId7"/>
    <p:sldId id="264" r:id="rId8"/>
    <p:sldId id="268" r:id="rId9"/>
    <p:sldId id="261" r:id="rId10"/>
    <p:sldId id="265" r:id="rId11"/>
    <p:sldId id="269" r:id="rId12"/>
    <p:sldId id="262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7B1E5-47B3-4203-9ADD-0B6484C66D0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90BEC-E982-4E0E-B1BF-540A59BC8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7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8542F-8E01-422D-A950-D00FB0D0EA87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75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E7CA-8E75-41DE-A138-6A7096698E2C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45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0AA72-2506-4A6F-9AD6-491D265D5F25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43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E7723-DA9D-4B86-9626-7D13DE5058BC}" type="datetime1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72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EFB4-8A84-4113-A32C-35391336EAD9}" type="datetime1">
              <a:rPr lang="ru-RU" smtClean="0"/>
              <a:t>04.02.2026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92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DFDE6-90D0-4DBA-9036-158B5BE5E00E}" type="datetime1">
              <a:rPr lang="ru-RU" smtClean="0"/>
              <a:t>04.02.2026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95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FB73-2D82-4B85-8A3E-5A56A41A2BAA}" type="datetime1">
              <a:rPr lang="ru-RU" smtClean="0"/>
              <a:t>04.02.2026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51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8F81-C3B5-4013-B12B-60E076B116DF}" type="datetime1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13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F362-C6C5-4184-A61D-9D2C7237113B}" type="datetime1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95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AB009-D43E-4053-AF39-0889848501F5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59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2BC1-551B-4E10-9EB6-53885CFA076D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979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5E3F-57DA-4320-8ABA-61C3F220A576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309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8CAFA-B1C0-4BC5-9090-28D1A844295C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24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5CDD-ABBD-4323-9FC2-5291AB746387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626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9701-342C-4F70-A8B7-F54AAF62FDCA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116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067C-3DB5-49E4-8217-FBE46AA46111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4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8FEA2-D2A4-4CC4-B1CA-3E5002563F6C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28E45A3-A019-45D9-80E2-B798B945B2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65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C2E0E-3589-473F-A483-7635706D5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Математическая статистика</a:t>
            </a:r>
          </a:p>
        </p:txBody>
      </p:sp>
    </p:spTree>
    <p:extLst>
      <p:ext uri="{BB962C8B-B14F-4D97-AF65-F5344CB8AC3E}">
        <p14:creationId xmlns:p14="http://schemas.microsoft.com/office/powerpoint/2010/main" val="239028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D0020-73DA-4C78-BBC2-61A72422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924665" cy="1320800"/>
          </a:xfrm>
        </p:spPr>
        <p:txBody>
          <a:bodyPr/>
          <a:lstStyle/>
          <a:p>
            <a:r>
              <a:rPr lang="ru-RU" dirty="0"/>
              <a:t>Теория вероятностей </a:t>
            </a:r>
            <a:r>
              <a:rPr lang="ru-RU" dirty="0">
                <a:sym typeface="Symbol" panose="05050102010706020507" pitchFamily="18" charset="2"/>
              </a:rPr>
              <a:t> </a:t>
            </a:r>
            <a:br>
              <a:rPr lang="ru-RU" dirty="0">
                <a:sym typeface="Symbol" panose="05050102010706020507" pitchFamily="18" charset="2"/>
              </a:rPr>
            </a:br>
            <a:r>
              <a:rPr lang="ru-RU" dirty="0">
                <a:sym typeface="Symbol" panose="05050102010706020507" pitchFamily="18" charset="2"/>
              </a:rPr>
              <a:t> математическая статистика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27A504B-3210-46E6-A6CF-716175186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819712"/>
              </p:ext>
            </p:extLst>
          </p:nvPr>
        </p:nvGraphicFramePr>
        <p:xfrm>
          <a:off x="241540" y="1930400"/>
          <a:ext cx="9782354" cy="4751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9225">
                  <a:extLst>
                    <a:ext uri="{9D8B030D-6E8A-4147-A177-3AD203B41FA5}">
                      <a16:colId xmlns:a16="http://schemas.microsoft.com/office/drawing/2014/main" val="1171165793"/>
                    </a:ext>
                  </a:extLst>
                </a:gridCol>
                <a:gridCol w="4873129">
                  <a:extLst>
                    <a:ext uri="{9D8B030D-6E8A-4147-A177-3AD203B41FA5}">
                      <a16:colId xmlns:a16="http://schemas.microsoft.com/office/drawing/2014/main" val="2996377006"/>
                    </a:ext>
                  </a:extLst>
                </a:gridCol>
              </a:tblGrid>
              <a:tr h="911038">
                <a:tc>
                  <a:txBody>
                    <a:bodyPr/>
                    <a:lstStyle/>
                    <a:p>
                      <a:r>
                        <a:rPr lang="ru-RU" sz="2800" dirty="0"/>
                        <a:t>Теория вероятностей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Математическая статистика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8759967"/>
                  </a:ext>
                </a:extLst>
              </a:tr>
              <a:tr h="1733912">
                <a:tc>
                  <a:txBody>
                    <a:bodyPr/>
                    <a:lstStyle/>
                    <a:p>
                      <a:r>
                        <a:rPr lang="ru-RU" sz="2800" dirty="0"/>
                        <a:t>Явления </a:t>
                      </a:r>
                      <a:r>
                        <a:rPr lang="ru-RU" sz="2800" i="1" dirty="0"/>
                        <a:t>полностью</a:t>
                      </a:r>
                      <a:r>
                        <a:rPr lang="ru-RU" sz="2800" dirty="0"/>
                        <a:t> заданы моделью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Модель определена </a:t>
                      </a:r>
                      <a:br>
                        <a:rPr lang="ru-RU" sz="2800" dirty="0"/>
                      </a:br>
                      <a:r>
                        <a:rPr lang="ru-RU" sz="2800" i="1" dirty="0"/>
                        <a:t>с точностью до неизвестных параметров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02495621"/>
                  </a:ext>
                </a:extLst>
              </a:tr>
              <a:tr h="2072942">
                <a:tc>
                  <a:txBody>
                    <a:bodyPr/>
                    <a:lstStyle/>
                    <a:p>
                      <a:r>
                        <a:rPr lang="ru-RU" sz="2800" dirty="0"/>
                        <a:t>Закономерности известны до проведения эксперимента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Параметры вычисляются </a:t>
                      </a:r>
                      <a:br>
                        <a:rPr lang="ru-RU" sz="2800" dirty="0"/>
                      </a:br>
                      <a:r>
                        <a:rPr lang="ru-RU" sz="2800" dirty="0"/>
                        <a:t>(хотя бы приближённо) </a:t>
                      </a:r>
                      <a:br>
                        <a:rPr lang="ru-RU" sz="2800" dirty="0"/>
                      </a:br>
                      <a:r>
                        <a:rPr lang="ru-RU" sz="2800" dirty="0"/>
                        <a:t>по результатам эксперимента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5408082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5A17CF-AA4C-47DA-822C-11AF22CC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z="2600" smtClean="0"/>
              <a:t>2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277403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D0020-73DA-4C78-BBC2-61A72422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924665" cy="1320800"/>
          </a:xfrm>
        </p:spPr>
        <p:txBody>
          <a:bodyPr/>
          <a:lstStyle/>
          <a:p>
            <a:r>
              <a:rPr lang="ru-RU" dirty="0"/>
              <a:t>Теория вероятностей </a:t>
            </a:r>
            <a:r>
              <a:rPr lang="ru-RU" dirty="0">
                <a:sym typeface="Symbol" panose="05050102010706020507" pitchFamily="18" charset="2"/>
              </a:rPr>
              <a:t> </a:t>
            </a:r>
            <a:br>
              <a:rPr lang="ru-RU" dirty="0">
                <a:sym typeface="Symbol" panose="05050102010706020507" pitchFamily="18" charset="2"/>
              </a:rPr>
            </a:br>
            <a:r>
              <a:rPr lang="ru-RU" dirty="0">
                <a:sym typeface="Symbol" panose="05050102010706020507" pitchFamily="18" charset="2"/>
              </a:rPr>
              <a:t> математическая статистика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27A504B-3210-46E6-A6CF-716175186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017241"/>
              </p:ext>
            </p:extLst>
          </p:nvPr>
        </p:nvGraphicFramePr>
        <p:xfrm>
          <a:off x="241540" y="1930400"/>
          <a:ext cx="9782354" cy="412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0035">
                  <a:extLst>
                    <a:ext uri="{9D8B030D-6E8A-4147-A177-3AD203B41FA5}">
                      <a16:colId xmlns:a16="http://schemas.microsoft.com/office/drawing/2014/main" val="1171165793"/>
                    </a:ext>
                  </a:extLst>
                </a:gridCol>
                <a:gridCol w="4902319">
                  <a:extLst>
                    <a:ext uri="{9D8B030D-6E8A-4147-A177-3AD203B41FA5}">
                      <a16:colId xmlns:a16="http://schemas.microsoft.com/office/drawing/2014/main" val="2996377006"/>
                    </a:ext>
                  </a:extLst>
                </a:gridCol>
              </a:tblGrid>
              <a:tr h="919375">
                <a:tc>
                  <a:txBody>
                    <a:bodyPr/>
                    <a:lstStyle/>
                    <a:p>
                      <a:r>
                        <a:rPr lang="ru-RU" sz="2800" dirty="0"/>
                        <a:t>Теория вероятностей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Математическая статистика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8759967"/>
                  </a:ext>
                </a:extLst>
              </a:tr>
              <a:tr h="532442">
                <a:tc gridSpan="2"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Пример для биномиального распределения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951052"/>
                  </a:ext>
                </a:extLst>
              </a:tr>
              <a:tr h="2580182">
                <a:tc>
                  <a:txBody>
                    <a:bodyPr/>
                    <a:lstStyle/>
                    <a:p>
                      <a:r>
                        <a:rPr lang="ru-RU" sz="2800" dirty="0"/>
                        <a:t>по известной вероятности </a:t>
                      </a:r>
                      <a:r>
                        <a:rPr lang="en-US" sz="2800" i="1" dirty="0"/>
                        <a:t>p</a:t>
                      </a:r>
                      <a:r>
                        <a:rPr lang="ru-RU" sz="2800" i="1" dirty="0"/>
                        <a:t> </a:t>
                      </a:r>
                      <a:r>
                        <a:rPr lang="ru-RU" sz="2800" i="0" dirty="0"/>
                        <a:t>считаем вероятность появления заданного числа успехов, асимптотику вероятности успехов и т.д.</a:t>
                      </a:r>
                      <a:endParaRPr lang="ru-RU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оцениваем неизвестную вероятность </a:t>
                      </a:r>
                      <a:r>
                        <a:rPr lang="en-US" sz="2800" i="1" dirty="0"/>
                        <a:t>p</a:t>
                      </a:r>
                      <a:r>
                        <a:rPr lang="ru-RU" sz="2800" i="1" dirty="0"/>
                        <a:t> </a:t>
                      </a:r>
                      <a:r>
                        <a:rPr lang="ru-RU" sz="2800" dirty="0"/>
                        <a:t>(или проверяем некоторые априорные предположения о ней), проводя эксперимент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76820987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5A17CF-AA4C-47DA-822C-11AF22CC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45A3-A019-45D9-80E2-B798B945B280}" type="slidenum">
              <a:rPr lang="ru-RU" sz="2600" smtClean="0"/>
              <a:t>3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101265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FAA77-8480-4BB0-B029-9C8046DA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11B2F-0CFA-4371-8575-267B1520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18720"/>
            <a:ext cx="5559565" cy="5337679"/>
          </a:xfrm>
        </p:spPr>
        <p:txBody>
          <a:bodyPr>
            <a:noAutofit/>
          </a:bodyPr>
          <a:lstStyle/>
          <a:p>
            <a:r>
              <a:rPr lang="ru-RU" sz="2800" i="1" dirty="0">
                <a:solidFill>
                  <a:srgbClr val="92D05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Генеральная совокупность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— множество из </a:t>
            </a:r>
            <a:r>
              <a:rPr lang="en-US" sz="2800" i="1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объектов, каждому из которых сопоставлено значение (скалярное или векторное) некоторой числовой характеристики. Важны значения, а не сами объекты.</a:t>
            </a:r>
          </a:p>
          <a:p>
            <a:r>
              <a:rPr lang="ru-RU" sz="2800" i="1" dirty="0">
                <a:solidFill>
                  <a:srgbClr val="92D050"/>
                </a:solidFill>
                <a:latin typeface="Trebuchet MS" panose="020B0603020202020204" pitchFamily="34" charset="0"/>
              </a:rPr>
              <a:t>Выборка</a:t>
            </a:r>
            <a:r>
              <a:rPr lang="ru-RU" sz="2800" dirty="0">
                <a:latin typeface="Trebuchet MS" panose="020B0603020202020204" pitchFamily="34" charset="0"/>
              </a:rPr>
              <a:t> 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— набор чисел </a:t>
            </a:r>
            <a:b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</a:b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1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2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…, </a:t>
            </a:r>
            <a:r>
              <a:rPr lang="en-US" sz="2800" i="1" dirty="0" err="1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), где </a:t>
            </a:r>
            <a:r>
              <a:rPr lang="en-US" sz="2800" i="1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en-US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&lt;&lt; </a:t>
            </a:r>
            <a:r>
              <a:rPr lang="en-US" sz="2800" i="1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. Должна быть </a:t>
            </a:r>
            <a:r>
              <a:rPr lang="ru-RU" sz="2800" i="1" dirty="0">
                <a:solidFill>
                  <a:srgbClr val="92D05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репрезентативной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.</a:t>
            </a:r>
            <a:endParaRPr lang="ru-RU" sz="2800" dirty="0">
              <a:latin typeface="Trebuchet MS" panose="020B06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0325C-D5EE-438F-A98B-0A615BD9E345}"/>
              </a:ext>
            </a:extLst>
          </p:cNvPr>
          <p:cNvSpPr txBox="1"/>
          <p:nvPr/>
        </p:nvSpPr>
        <p:spPr>
          <a:xfrm>
            <a:off x="6697075" y="932373"/>
            <a:ext cx="3064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Природа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45687-4E68-455D-9811-0EFCEB2E5B1B}"/>
              </a:ext>
            </a:extLst>
          </p:cNvPr>
          <p:cNvSpPr txBox="1"/>
          <p:nvPr/>
        </p:nvSpPr>
        <p:spPr>
          <a:xfrm>
            <a:off x="6596812" y="1922029"/>
            <a:ext cx="3264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Математическая модель (генеральная совокупность)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1BEF1E-BD19-4CE1-BA23-AD39631320A4}"/>
              </a:ext>
            </a:extLst>
          </p:cNvPr>
          <p:cNvSpPr txBox="1"/>
          <p:nvPr/>
        </p:nvSpPr>
        <p:spPr>
          <a:xfrm>
            <a:off x="6596812" y="4078393"/>
            <a:ext cx="3264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Упрощенная математическая модель</a:t>
            </a:r>
            <a:br>
              <a:rPr lang="ru-RU" sz="2800" dirty="0"/>
            </a:br>
            <a:r>
              <a:rPr lang="ru-RU" sz="2800" dirty="0"/>
              <a:t>(выборка)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92C8331-2B24-46DD-95FB-577FD4B864EA}"/>
              </a:ext>
            </a:extLst>
          </p:cNvPr>
          <p:cNvCxnSpPr>
            <a:cxnSpLocks/>
          </p:cNvCxnSpPr>
          <p:nvPr/>
        </p:nvCxnSpPr>
        <p:spPr>
          <a:xfrm>
            <a:off x="8229096" y="1552697"/>
            <a:ext cx="0" cy="36933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BA026CC-DA11-4DF4-A16D-BDB8FFD6B45C}"/>
              </a:ext>
            </a:extLst>
          </p:cNvPr>
          <p:cNvCxnSpPr>
            <a:cxnSpLocks/>
          </p:cNvCxnSpPr>
          <p:nvPr/>
        </p:nvCxnSpPr>
        <p:spPr>
          <a:xfrm>
            <a:off x="8229096" y="3709061"/>
            <a:ext cx="0" cy="36933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A1EB6596-DCF4-D0D5-BB3F-446C33F0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4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259576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C2464-70A6-4346-A553-0D877F74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11AC8-78D1-46D6-9E24-85B646E12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8111"/>
            <a:ext cx="8832426" cy="4433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1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2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…, </a:t>
            </a:r>
            <a:r>
              <a:rPr lang="en-US" sz="2800" i="1" dirty="0" err="1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— независимые, одинаково распределенные случайные величины </a:t>
            </a:r>
            <a:b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</a:b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с </a:t>
            </a:r>
            <a:r>
              <a:rPr lang="ru-RU" sz="2800" i="1" dirty="0">
                <a:solidFill>
                  <a:srgbClr val="92D05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теоретической</a:t>
            </a:r>
            <a:r>
              <a:rPr lang="ru-RU" sz="28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функцией распределения</a:t>
            </a:r>
          </a:p>
          <a:p>
            <a:pPr marL="0" indent="0" algn="ctr">
              <a:buNone/>
            </a:pPr>
            <a:r>
              <a:rPr lang="en-US" sz="2800" i="1" dirty="0">
                <a:latin typeface="Trebuchet MS" panose="020B0603020202020204" pitchFamily="34" charset="0"/>
              </a:rPr>
              <a:t>F</a:t>
            </a:r>
            <a:r>
              <a:rPr lang="en-US" sz="2800" dirty="0">
                <a:latin typeface="Trebuchet MS" panose="020B0603020202020204" pitchFamily="34" charset="0"/>
              </a:rPr>
              <a:t>(</a:t>
            </a:r>
            <a:r>
              <a:rPr lang="en-US" sz="2800" i="1" dirty="0">
                <a:latin typeface="Trebuchet MS" panose="020B0603020202020204" pitchFamily="34" charset="0"/>
              </a:rPr>
              <a:t>x</a:t>
            </a:r>
            <a:r>
              <a:rPr lang="en-US" sz="2800" dirty="0">
                <a:latin typeface="Trebuchet MS" panose="020B0603020202020204" pitchFamily="34" charset="0"/>
              </a:rPr>
              <a:t>) = P{</a:t>
            </a:r>
            <a:r>
              <a:rPr lang="en-US" sz="2800" i="1" dirty="0">
                <a:latin typeface="Trebuchet MS" panose="020B0603020202020204" pitchFamily="34" charset="0"/>
              </a:rPr>
              <a:t>x</a:t>
            </a:r>
            <a:r>
              <a:rPr lang="en-US" sz="2800" i="1" baseline="-25000" dirty="0">
                <a:latin typeface="Trebuchet MS" panose="020B0603020202020204" pitchFamily="34" charset="0"/>
              </a:rPr>
              <a:t>i</a:t>
            </a:r>
            <a:r>
              <a:rPr lang="en-US" sz="2800" dirty="0">
                <a:latin typeface="Trebuchet MS" panose="020B0603020202020204" pitchFamily="34" charset="0"/>
              </a:rPr>
              <a:t> &lt; </a:t>
            </a:r>
            <a:r>
              <a:rPr lang="en-US" sz="2800" i="1" dirty="0">
                <a:latin typeface="Trebuchet MS" panose="020B0603020202020204" pitchFamily="34" charset="0"/>
              </a:rPr>
              <a:t>x</a:t>
            </a:r>
            <a:r>
              <a:rPr lang="en-US" sz="2800" dirty="0">
                <a:latin typeface="Trebuchet MS" panose="020B0603020202020204" pitchFamily="34" charset="0"/>
              </a:rPr>
              <a:t>}.</a:t>
            </a:r>
          </a:p>
          <a:p>
            <a:pPr marL="0" indent="0" algn="just">
              <a:buNone/>
            </a:pPr>
            <a:r>
              <a:rPr lang="en-US" sz="2800" i="1" dirty="0">
                <a:latin typeface="Trebuchet MS" panose="020B0603020202020204" pitchFamily="34" charset="0"/>
              </a:rPr>
              <a:t>F</a:t>
            </a:r>
            <a:r>
              <a:rPr lang="en-US" sz="2800" dirty="0">
                <a:latin typeface="Trebuchet MS" panose="020B0603020202020204" pitchFamily="34" charset="0"/>
              </a:rPr>
              <a:t>(</a:t>
            </a:r>
            <a:r>
              <a:rPr lang="en-US" sz="2800" i="1" dirty="0">
                <a:latin typeface="Trebuchet MS" panose="020B0603020202020204" pitchFamily="34" charset="0"/>
              </a:rPr>
              <a:t>x</a:t>
            </a:r>
            <a:r>
              <a:rPr lang="en-US" sz="2800" dirty="0">
                <a:latin typeface="Trebuchet MS" panose="020B0603020202020204" pitchFamily="34" charset="0"/>
              </a:rPr>
              <a:t>) </a:t>
            </a:r>
            <a:r>
              <a:rPr lang="ru-RU" sz="2800" dirty="0">
                <a:latin typeface="Trebuchet MS" panose="020B0603020202020204" pitchFamily="34" charset="0"/>
              </a:rPr>
              <a:t>известна частично или неизвестна вообще.</a:t>
            </a:r>
          </a:p>
          <a:p>
            <a:pPr marL="0" indent="0" algn="just">
              <a:buNone/>
            </a:pPr>
            <a:endParaRPr lang="ru-RU" sz="2800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ru-RU" sz="2800" b="1" dirty="0">
                <a:latin typeface="Trebuchet MS" panose="020B0603020202020204" pitchFamily="34" charset="0"/>
              </a:rPr>
              <a:t>Задача</a:t>
            </a:r>
            <a:r>
              <a:rPr lang="ru-RU" sz="2800" dirty="0">
                <a:latin typeface="Trebuchet MS" panose="020B0603020202020204" pitchFamily="34" charset="0"/>
              </a:rPr>
              <a:t>: основываясь только на значениях выборки, сделать выводы о функции распределения.</a:t>
            </a:r>
            <a:endParaRPr lang="en-US" sz="2800" dirty="0">
              <a:latin typeface="Trebuchet MS" panose="020B0603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5D577-87E7-85DC-396A-BA5C3A49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5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12874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948FF-AADB-4E48-953F-0E7E7019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преобразования (1)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B81D4-AE9B-48D6-AD99-5835AEEFA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668379"/>
            <a:ext cx="9062720" cy="4244741"/>
          </a:xfrm>
        </p:spPr>
        <p:txBody>
          <a:bodyPr>
            <a:normAutofit/>
          </a:bodyPr>
          <a:lstStyle/>
          <a:p>
            <a:r>
              <a:rPr lang="ru-RU" sz="2800" i="1" dirty="0">
                <a:solidFill>
                  <a:srgbClr val="92D050"/>
                </a:solidFill>
              </a:rPr>
              <a:t>Вариационный ряд</a:t>
            </a:r>
            <a:r>
              <a:rPr lang="ru-RU" sz="2800" dirty="0">
                <a:solidFill>
                  <a:srgbClr val="92D050"/>
                </a:solidFill>
              </a:rPr>
              <a:t>:</a:t>
            </a:r>
            <a:r>
              <a:rPr lang="ru-RU" sz="2800" dirty="0"/>
              <a:t>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1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2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…,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i="1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, </a:t>
            </a:r>
            <a:b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</a:rPr>
            </a:b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где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1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2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 …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i="1" dirty="0">
                <a:latin typeface="Trebuchet MS" panose="020B0603020202020204" pitchFamily="34" charset="0"/>
                <a:ea typeface="Times New Roman" panose="02020603050405020304" pitchFamily="18" charset="0"/>
              </a:rPr>
              <a:t>x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2800" i="1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n</a:t>
            </a:r>
            <a:r>
              <a:rPr lang="ru-RU" sz="2800" baseline="-25000" dirty="0">
                <a:latin typeface="Trebuchet MS" panose="020B0603020202020204" pitchFamily="34" charset="0"/>
                <a:ea typeface="Times New Roman" panose="02020603050405020304" pitchFamily="18" charset="0"/>
              </a:rPr>
              <a:t>)</a:t>
            </a:r>
            <a:r>
              <a:rPr lang="ru-RU" sz="2800" dirty="0">
                <a:latin typeface="Trebuchet MS" panose="020B0603020202020204" pitchFamily="34" charset="0"/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ts val="3000"/>
              </a:spcBef>
            </a:pPr>
            <a:r>
              <a:rPr lang="ru-RU" sz="2800" i="1" dirty="0">
                <a:solidFill>
                  <a:srgbClr val="92D050"/>
                </a:solidFill>
              </a:rPr>
              <a:t>Статистический ряд</a:t>
            </a:r>
            <a:r>
              <a:rPr lang="ru-RU" sz="2800" dirty="0">
                <a:solidFill>
                  <a:srgbClr val="92D050"/>
                </a:solidFill>
              </a:rPr>
              <a:t>:</a:t>
            </a:r>
            <a:endParaRPr lang="en-US" sz="2800" i="1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US" sz="2800" i="1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US" sz="2800" i="1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ru-R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i="1" dirty="0">
                <a:solidFill>
                  <a:schemeClr val="tx1"/>
                </a:solidFill>
              </a:rPr>
              <a:t>n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 + </a:t>
            </a:r>
            <a:r>
              <a:rPr lang="en-US" sz="2800" i="1" dirty="0">
                <a:solidFill>
                  <a:schemeClr val="tx1"/>
                </a:solidFill>
              </a:rPr>
              <a:t>n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+…+</a:t>
            </a:r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en-US" sz="2800" i="1" dirty="0" err="1">
                <a:solidFill>
                  <a:schemeClr val="tx1"/>
                </a:solidFill>
              </a:rPr>
              <a:t>n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= </a:t>
            </a:r>
            <a:r>
              <a:rPr lang="en-US" sz="2800" i="1" dirty="0">
                <a:solidFill>
                  <a:schemeClr val="tx1"/>
                </a:solidFill>
              </a:rPr>
              <a:t>n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824487BD-CF9A-CA9C-B55F-19817B83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6</a:t>
            </a:fld>
            <a:endParaRPr lang="ru-RU" sz="2600"/>
          </a:p>
        </p:txBody>
      </p:sp>
      <p:graphicFrame>
        <p:nvGraphicFramePr>
          <p:cNvPr id="7" name="Таблица 5">
            <a:extLst>
              <a:ext uri="{FF2B5EF4-FFF2-40B4-BE49-F238E27FC236}">
                <a16:creationId xmlns:a16="http://schemas.microsoft.com/office/drawing/2014/main" id="{E262D4BF-20D6-13E6-075F-9FF854063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863877"/>
              </p:ext>
            </p:extLst>
          </p:nvPr>
        </p:nvGraphicFramePr>
        <p:xfrm>
          <a:off x="3712144" y="3721721"/>
          <a:ext cx="287153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84">
                  <a:extLst>
                    <a:ext uri="{9D8B030D-6E8A-4147-A177-3AD203B41FA5}">
                      <a16:colId xmlns:a16="http://schemas.microsoft.com/office/drawing/2014/main" val="3498779782"/>
                    </a:ext>
                  </a:extLst>
                </a:gridCol>
                <a:gridCol w="717884">
                  <a:extLst>
                    <a:ext uri="{9D8B030D-6E8A-4147-A177-3AD203B41FA5}">
                      <a16:colId xmlns:a16="http://schemas.microsoft.com/office/drawing/2014/main" val="3518781132"/>
                    </a:ext>
                  </a:extLst>
                </a:gridCol>
                <a:gridCol w="717884">
                  <a:extLst>
                    <a:ext uri="{9D8B030D-6E8A-4147-A177-3AD203B41FA5}">
                      <a16:colId xmlns:a16="http://schemas.microsoft.com/office/drawing/2014/main" val="120303214"/>
                    </a:ext>
                  </a:extLst>
                </a:gridCol>
                <a:gridCol w="717884">
                  <a:extLst>
                    <a:ext uri="{9D8B030D-6E8A-4147-A177-3AD203B41FA5}">
                      <a16:colId xmlns:a16="http://schemas.microsoft.com/office/drawing/2014/main" val="467724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2800" b="0" i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2800" b="0" i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 err="1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2800" b="0" i="1" baseline="-25000" dirty="0" err="1">
                          <a:solidFill>
                            <a:schemeClr val="tx1"/>
                          </a:solidFill>
                        </a:rPr>
                        <a:t>k</a:t>
                      </a:r>
                      <a:endParaRPr lang="ru-RU" sz="2800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14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</a:rPr>
                        <a:t>z</a:t>
                      </a:r>
                      <a:r>
                        <a:rPr lang="en-US" sz="2800" b="0" i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</a:rPr>
                        <a:t>z</a:t>
                      </a:r>
                      <a:r>
                        <a:rPr lang="en-US" sz="2800" b="0" i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 err="1">
                          <a:solidFill>
                            <a:schemeClr val="tx1"/>
                          </a:solidFill>
                        </a:rPr>
                        <a:t>z</a:t>
                      </a:r>
                      <a:r>
                        <a:rPr lang="en-US" sz="2800" b="0" i="1" baseline="-25000" dirty="0" err="1">
                          <a:solidFill>
                            <a:schemeClr val="tx1"/>
                          </a:solidFill>
                        </a:rPr>
                        <a:t>k</a:t>
                      </a:r>
                      <a:endParaRPr lang="ru-RU" sz="2800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65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13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948FF-AADB-4E48-953F-0E7E7019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преобразования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1B81D4-AE9B-48D6-AD99-5835AEEFA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560" y="1668379"/>
                <a:ext cx="10292080" cy="443912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800" i="1" dirty="0">
                    <a:solidFill>
                      <a:srgbClr val="92D050"/>
                    </a:solidFill>
                  </a:rPr>
                  <a:t>Гистограмма</a:t>
                </a:r>
                <a:r>
                  <a:rPr lang="ru-RU" sz="2800" dirty="0">
                    <a:solidFill>
                      <a:srgbClr val="92D050"/>
                    </a:solidFill>
                  </a:rPr>
                  <a:t>: </a:t>
                </a:r>
                <a:r>
                  <a:rPr lang="ru-RU" sz="2800" dirty="0">
                    <a:effectLst/>
                    <a:ea typeface="Calibri" panose="020F0502020204030204" pitchFamily="34" charset="0"/>
                  </a:rPr>
                  <a:t>кусочно-постоянная функция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2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8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</m:t>
                            </m:r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28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>
                    <a:effectLst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 — число элементов выборки, попавших в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, </a:t>
                </a:r>
                <a:br>
                  <a:rPr lang="ru-RU" sz="2800" dirty="0">
                    <a:effectLst/>
                    <a:ea typeface="Calibri" panose="020F050202020403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Δ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,</a:t>
                </a:r>
                <a:endParaRPr lang="en-US" sz="28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2, 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…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∞&lt;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&lt;…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u-RU" sz="2800" dirty="0">
                    <a:effectLst/>
                    <a:ea typeface="Calibri" panose="020F0502020204030204" pitchFamily="34" charset="0"/>
                  </a:rPr>
                  <a:t>.</a:t>
                </a:r>
                <a:endParaRPr lang="ru-RU" sz="28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1B81D4-AE9B-48D6-AD99-5835AEEFA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560" y="1668379"/>
                <a:ext cx="10292080" cy="4439123"/>
              </a:xfrm>
              <a:blipFill>
                <a:blip r:embed="rId2"/>
                <a:stretch>
                  <a:fillRect l="-1184" t="-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824487BD-CF9A-CA9C-B55F-19817B83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7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24575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7CC3-6387-82C3-C375-FF27D885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CA029-4203-9106-6D19-8234A157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преобразования (3)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B463F5-5CDD-9C87-7C14-353208659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668379"/>
            <a:ext cx="10292080" cy="375706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3000"/>
              </a:spcBef>
            </a:pPr>
            <a:r>
              <a:rPr lang="ru-RU" sz="2800" i="1" dirty="0">
                <a:solidFill>
                  <a:srgbClr val="92D050"/>
                </a:solidFill>
              </a:rPr>
              <a:t>Полигон частот: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lang="ru-RU" sz="2800" dirty="0">
                <a:solidFill>
                  <a:schemeClr val="tx1"/>
                </a:solidFill>
              </a:rPr>
              <a:t>по оси абсцисс отметить </a:t>
            </a:r>
            <a:r>
              <a:rPr lang="en-US" sz="2800" b="0" i="1" dirty="0">
                <a:solidFill>
                  <a:schemeClr val="tx1"/>
                </a:solidFill>
              </a:rPr>
              <a:t>z</a:t>
            </a:r>
            <a:r>
              <a:rPr lang="en-US" sz="2800" b="0" i="0" baseline="-25000" dirty="0">
                <a:solidFill>
                  <a:schemeClr val="tx1"/>
                </a:solidFill>
              </a:rPr>
              <a:t>1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en-US" sz="2800" b="0" i="1" dirty="0">
                <a:solidFill>
                  <a:schemeClr val="tx1"/>
                </a:solidFill>
              </a:rPr>
              <a:t>z</a:t>
            </a:r>
            <a:r>
              <a:rPr lang="ru-RU" sz="2800" b="0" i="0" baseline="-25000" dirty="0">
                <a:solidFill>
                  <a:schemeClr val="tx1"/>
                </a:solidFill>
              </a:rPr>
              <a:t>2</a:t>
            </a:r>
            <a:r>
              <a:rPr lang="ru-RU" sz="2800" b="0" i="0" dirty="0">
                <a:solidFill>
                  <a:schemeClr val="tx1"/>
                </a:solidFill>
              </a:rPr>
              <a:t>, …, </a:t>
            </a:r>
            <a:r>
              <a:rPr lang="en-US" sz="2800" b="0" i="1" dirty="0" err="1">
                <a:solidFill>
                  <a:schemeClr val="tx1"/>
                </a:solidFill>
              </a:rPr>
              <a:t>z</a:t>
            </a:r>
            <a:r>
              <a:rPr lang="en-US" sz="2800" b="0" i="1" baseline="-25000" dirty="0" err="1">
                <a:solidFill>
                  <a:schemeClr val="tx1"/>
                </a:solidFill>
              </a:rPr>
              <a:t>k</a:t>
            </a:r>
            <a:r>
              <a:rPr lang="ru-RU" sz="2800" b="0" dirty="0">
                <a:solidFill>
                  <a:schemeClr val="tx1"/>
                </a:solidFill>
              </a:rPr>
              <a:t>,</a:t>
            </a:r>
            <a:endParaRPr lang="en-US" sz="2800" b="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lang="ru-RU" sz="2800" b="0" dirty="0">
                <a:solidFill>
                  <a:schemeClr val="tx1"/>
                </a:solidFill>
              </a:rPr>
              <a:t>по оси ординат </a:t>
            </a:r>
            <a:r>
              <a:rPr lang="ru-RU" sz="2800" dirty="0">
                <a:effectLst/>
                <a:ea typeface="Calibri" panose="020F0502020204030204" pitchFamily="34" charset="0"/>
              </a:rPr>
              <a:t>— </a:t>
            </a:r>
            <a:r>
              <a:rPr lang="en-US" sz="2800" b="0" i="1" dirty="0">
                <a:solidFill>
                  <a:schemeClr val="tx1"/>
                </a:solidFill>
              </a:rPr>
              <a:t>n</a:t>
            </a:r>
            <a:r>
              <a:rPr lang="en-US" sz="2800" b="0" i="0" baseline="-25000" dirty="0">
                <a:solidFill>
                  <a:schemeClr val="tx1"/>
                </a:solidFill>
              </a:rPr>
              <a:t>1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en-US" sz="2800" b="0" i="1" dirty="0">
                <a:solidFill>
                  <a:schemeClr val="tx1"/>
                </a:solidFill>
              </a:rPr>
              <a:t>n</a:t>
            </a:r>
            <a:r>
              <a:rPr lang="ru-RU" sz="2800" b="0" i="0" baseline="-25000" dirty="0">
                <a:solidFill>
                  <a:schemeClr val="tx1"/>
                </a:solidFill>
              </a:rPr>
              <a:t>2</a:t>
            </a:r>
            <a:r>
              <a:rPr lang="ru-RU" sz="2800" b="0" i="0" dirty="0">
                <a:solidFill>
                  <a:schemeClr val="tx1"/>
                </a:solidFill>
              </a:rPr>
              <a:t>, …, </a:t>
            </a:r>
            <a:r>
              <a:rPr lang="en-US" sz="2800" b="0" i="1" dirty="0" err="1">
                <a:solidFill>
                  <a:schemeClr val="tx1"/>
                </a:solidFill>
              </a:rPr>
              <a:t>n</a:t>
            </a:r>
            <a:r>
              <a:rPr lang="en-US" sz="2800" b="0" i="1" baseline="-25000" dirty="0" err="1">
                <a:solidFill>
                  <a:schemeClr val="tx1"/>
                </a:solidFill>
              </a:rPr>
              <a:t>k</a:t>
            </a:r>
            <a:r>
              <a:rPr lang="ru-RU" sz="2800" b="0" dirty="0">
                <a:solidFill>
                  <a:schemeClr val="tx1"/>
                </a:solidFill>
              </a:rPr>
              <a:t>,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lang="ru-RU" sz="2800" b="0" dirty="0">
                <a:solidFill>
                  <a:schemeClr val="tx1"/>
                </a:solidFill>
              </a:rPr>
              <a:t>соединить точки.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3641BD17-5E95-C8D0-C2D8-FDBA9164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8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428029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4B1BB-5ED3-441C-A235-7767AB13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609600"/>
            <a:ext cx="9309946" cy="1320800"/>
          </a:xfrm>
        </p:spPr>
        <p:txBody>
          <a:bodyPr/>
          <a:lstStyle/>
          <a:p>
            <a:r>
              <a:rPr lang="ru-RU" dirty="0"/>
              <a:t>Эмпирическая функция распределения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50072A7-C8A1-45CA-9B3A-C5A725FAD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60358"/>
                <a:ext cx="9309946" cy="4963962"/>
              </a:xfrm>
            </p:spPr>
            <p:txBody>
              <a:bodyPr>
                <a:normAutofit/>
              </a:bodyPr>
              <a:lstStyle/>
              <a:p>
                <a:pPr marL="0" indent="0" hangingPunct="0">
                  <a:lnSpc>
                    <a:spcPct val="130000"/>
                  </a:lnSpc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	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Для выборки </a:t>
                </a: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, 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, …, 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 из генеральной совокупности с теоретической функцией распределения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r>
                      <a:rPr lang="ru-RU" sz="2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2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ru-RU" sz="2800" i="1" dirty="0">
                    <a:solidFill>
                      <a:srgbClr val="92D050"/>
                    </a:solidFill>
                    <a:effectLst/>
                    <a:ea typeface="Times New Roman" panose="02020603050405020304" pitchFamily="18" charset="0"/>
                  </a:rPr>
                  <a:t>эмпирическая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 (</a:t>
                </a:r>
                <a:r>
                  <a:rPr lang="ru-RU" sz="2800" i="1" dirty="0">
                    <a:solidFill>
                      <a:srgbClr val="92D050"/>
                    </a:solidFill>
                    <a:effectLst/>
                    <a:ea typeface="Times New Roman" panose="02020603050405020304" pitchFamily="18" charset="0"/>
                  </a:rPr>
                  <a:t>выборочная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) функция распределения </a:t>
                </a:r>
                <a:r>
                  <a:rPr lang="ru-RU" sz="2800" dirty="0">
                    <a:ea typeface="Times New Roman" panose="02020603050405020304" pitchFamily="18" charset="0"/>
                  </a:rPr>
                  <a:t>—</a:t>
                </a:r>
              </a:p>
              <a:p>
                <a:pPr marL="0" indent="0" algn="ctr" hangingPunc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</m:e>
                    </m:acc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sz="3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3600" i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,</a:t>
                </a:r>
              </a:p>
              <a:p>
                <a:pPr marL="0" indent="0" hangingPunct="0">
                  <a:lnSpc>
                    <a:spcPct val="130000"/>
                  </a:lnSpc>
                  <a:buNone/>
                </a:pP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8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ru-RU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#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US" sz="2800" dirty="0">
                  <a:effectLst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50072A7-C8A1-45CA-9B3A-C5A725FAD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60358"/>
                <a:ext cx="9309946" cy="4963962"/>
              </a:xfrm>
              <a:blipFill>
                <a:blip r:embed="rId2"/>
                <a:stretch>
                  <a:fillRect l="-1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1A929C-6768-973D-644F-D7A7524B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9</a:t>
            </a:fld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61515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50072A7-C8A1-45CA-9B3A-C5A725FAD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60358"/>
                <a:ext cx="10082106" cy="5532921"/>
              </a:xfrm>
            </p:spPr>
            <p:txBody>
              <a:bodyPr>
                <a:normAutofit/>
              </a:bodyPr>
              <a:lstStyle/>
              <a:p>
                <a:pPr marL="0" indent="0" algn="just" hangingPunct="0">
                  <a:lnSpc>
                    <a:spcPct val="120000"/>
                  </a:lnSpc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	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Случайная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8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800" dirty="0">
                    <a:effectLst/>
                    <a:ea typeface="Times New Roman" panose="02020603050405020304" pitchFamily="18" charset="0"/>
                  </a:rPr>
                  <a:t>:</a:t>
                </a:r>
              </a:p>
              <a:p>
                <a:pPr algn="just" hangingPunct="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ru-RU" sz="2800" dirty="0">
                    <a:ea typeface="Times New Roman" panose="02020603050405020304" pitchFamily="18" charset="0"/>
                  </a:rPr>
                  <a:t>з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начения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1, …,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;</m:t>
                    </m:r>
                  </m:oMath>
                </a14:m>
                <a:endParaRPr lang="ru-RU" sz="2800" dirty="0">
                  <a:ea typeface="Times New Roman" panose="02020603050405020304" pitchFamily="18" charset="0"/>
                </a:endParaRPr>
              </a:p>
              <a:p>
                <a:pPr algn="just" hangingPunct="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ru-RU" sz="2800" dirty="0">
                    <a:ea typeface="Times New Roman" panose="02020603050405020304" pitchFamily="18" charset="0"/>
                  </a:rPr>
                  <a:t>вероятности</a:t>
                </a:r>
              </a:p>
              <a:p>
                <a:pPr marL="0" indent="0" algn="ctr" hangingPunc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{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800" i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𝑘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{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&lt;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  <m:sSup>
                        <m:sSup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(1−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{</m:t>
                      </m:r>
                      <m:sSub>
                        <m:sSub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&lt;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  <m:sSup>
                        <m:sSupPr>
                          <m:ctrlP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ru-RU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br>
                  <a:rPr lang="ru-RU" sz="2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</a:br>
                <a:r>
                  <a:rPr lang="ru-RU" sz="28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sSup>
                      <m:s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(1−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50072A7-C8A1-45CA-9B3A-C5A725FAD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60358"/>
                <a:ext cx="10082106" cy="5532921"/>
              </a:xfrm>
              <a:blipFill>
                <a:blip r:embed="rId2"/>
                <a:stretch>
                  <a:fillRect l="-665" t="-3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1A929C-6768-973D-644F-D7A7524B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10</a:t>
            </a:fld>
            <a:endParaRPr lang="ru-RU" sz="260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E4AB8D3-CD5E-9CCB-085F-072731B7B8CF}"/>
              </a:ext>
            </a:extLst>
          </p:cNvPr>
          <p:cNvSpPr txBox="1">
            <a:spLocks/>
          </p:cNvSpPr>
          <p:nvPr/>
        </p:nvSpPr>
        <p:spPr>
          <a:xfrm>
            <a:off x="321734" y="609600"/>
            <a:ext cx="930994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Эмпирическая функция распределения (2)</a:t>
            </a:r>
          </a:p>
        </p:txBody>
      </p:sp>
    </p:spTree>
    <p:extLst>
      <p:ext uri="{BB962C8B-B14F-4D97-AF65-F5344CB8AC3E}">
        <p14:creationId xmlns:p14="http://schemas.microsoft.com/office/powerpoint/2010/main" val="221544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30333-5464-96B9-C87B-53F5A8B0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C97A83-8A81-01C2-5548-7E6828BFA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60358"/>
                <a:ext cx="10082106" cy="4171099"/>
              </a:xfrm>
            </p:spPr>
            <p:txBody>
              <a:bodyPr>
                <a:normAutofit/>
              </a:bodyPr>
              <a:lstStyle/>
              <a:p>
                <a:pPr marL="0" indent="0" algn="just" hangingPunct="0">
                  <a:lnSpc>
                    <a:spcPct val="120000"/>
                  </a:lnSpc>
                  <a:buNone/>
                </a:pPr>
                <a:r>
                  <a:rPr lang="ru-RU" sz="2800" dirty="0"/>
                  <a:t>Теорема Гливенко</a:t>
                </a:r>
                <a:r>
                  <a:rPr lang="ru-RU" sz="2800" dirty="0">
                    <a:effectLst/>
                    <a:ea typeface="Times New Roman" panose="02020603050405020304" pitchFamily="18" charset="0"/>
                  </a:rPr>
                  <a:t>—</a:t>
                </a:r>
                <a:r>
                  <a:rPr lang="ru-RU" sz="2800" dirty="0"/>
                  <a:t>Кантелли: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2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2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)−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𝐹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e>
                            </m:d>
                          </m:e>
                        </m:func>
                        <m:box>
                          <m:box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groupChr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→∞</m:t>
                                </m:r>
                              </m:e>
                            </m:groupChr>
                          </m:e>
                        </m:box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e>
                    </m:d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C97A83-8A81-01C2-5548-7E6828BFA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60358"/>
                <a:ext cx="10082106" cy="4171099"/>
              </a:xfrm>
              <a:blipFill>
                <a:blip r:embed="rId2"/>
                <a:stretch>
                  <a:fillRect l="-1209" t="-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086F18-2DA8-519B-17E0-C332AF8E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11</a:t>
            </a:fld>
            <a:endParaRPr lang="ru-RU" sz="260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27C079D-F32C-9767-35A9-CB1715B1606D}"/>
              </a:ext>
            </a:extLst>
          </p:cNvPr>
          <p:cNvSpPr txBox="1">
            <a:spLocks/>
          </p:cNvSpPr>
          <p:nvPr/>
        </p:nvSpPr>
        <p:spPr>
          <a:xfrm>
            <a:off x="321734" y="609600"/>
            <a:ext cx="930994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Эмпирическая функция распределения (</a:t>
            </a:r>
            <a:r>
              <a:rPr lang="en-US" dirty="0"/>
              <a:t>3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964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CFF1D-0132-4AA3-A2ED-595A8631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распределения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</p:spPr>
            <p:txBody>
              <a:bodyPr>
                <a:normAutofit/>
              </a:bodyPr>
              <a:lstStyle/>
              <a:p>
                <a:pPr hangingPunc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800" b="0" i="1" dirty="0">
                    <a:solidFill>
                      <a:srgbClr val="92D050"/>
                    </a:solidFill>
                    <a:ea typeface="Times New Roman" panose="02020603050405020304" pitchFamily="18" charset="0"/>
                  </a:rPr>
                  <a:t>Нормальное распределение</a:t>
                </a:r>
                <a:r>
                  <a:rPr lang="en-US" sz="2800" b="0" i="1" dirty="0">
                    <a:solidFill>
                      <a:srgbClr val="92D050"/>
                    </a:solidFill>
                    <a:ea typeface="Times New Roman" panose="02020603050405020304" pitchFamily="18" charset="0"/>
                  </a:rPr>
                  <a:t> </a:t>
                </a:r>
                <a:br>
                  <a:rPr lang="ru-RU" sz="2800" b="0" i="1" dirty="0">
                    <a:solidFill>
                      <a:srgbClr val="92D050"/>
                    </a:solidFill>
                    <a:ea typeface="Times New Roman" panose="02020603050405020304" pitchFamily="18" charset="0"/>
                  </a:rPr>
                </a:br>
                <a:r>
                  <a:rPr lang="ru-RU" sz="2800" b="0" dirty="0">
                    <a:solidFill>
                      <a:schemeClr val="tx1"/>
                    </a:solidFill>
                    <a:ea typeface="Times New Roman" panose="02020603050405020304" pitchFamily="18" charset="0"/>
                  </a:rPr>
                  <a:t>(распределение Гаусса)</a:t>
                </a:r>
                <a:r>
                  <a:rPr lang="en-US" sz="2800" b="0" dirty="0">
                    <a:solidFill>
                      <a:schemeClr val="tx1"/>
                    </a:solidFill>
                    <a:ea typeface="Times New Roman" panose="02020603050405020304" pitchFamily="18" charset="0"/>
                  </a:rPr>
                  <a:t>, </a:t>
                </a:r>
                <a:r>
                  <a:rPr lang="ru-RU" sz="2800" b="0" dirty="0">
                    <a:solidFill>
                      <a:schemeClr val="tx1"/>
                    </a:solidFill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𝜉</m:t>
                        </m:r>
                        <m:r>
                          <a:rPr lang="ru-R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</m:oMath>
                </a14:m>
                <a:endParaRPr lang="ru-RU" sz="2800" dirty="0"/>
              </a:p>
              <a:p>
                <a:pPr indent="0" algn="ctr" hangingPunc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𝜉</m:t>
                        </m:r>
                      </m:sub>
                    </m:sSub>
                    <m:d>
                      <m:d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 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  <a:blipFill>
                <a:blip r:embed="rId2"/>
                <a:stretch>
                  <a:fillRect l="-851" t="-11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>
            <a:extLst>
              <a:ext uri="{FF2B5EF4-FFF2-40B4-BE49-F238E27FC236}">
                <a16:creationId xmlns:a16="http://schemas.microsoft.com/office/drawing/2014/main" id="{1C8EFFA9-BDD2-47AC-AB92-E3261FC67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141" y="3569457"/>
            <a:ext cx="4008495" cy="247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FD996A-ECB6-7FF9-C54B-2688AB73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12</a:t>
            </a:fld>
            <a:endParaRPr lang="ru-RU" sz="2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CF6A69-7175-C202-711A-667C26827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340" y="719858"/>
            <a:ext cx="2304330" cy="296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BB200DA-E05E-9BFC-5F2B-4A5F7ECF7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92062"/>
              </p:ext>
            </p:extLst>
          </p:nvPr>
        </p:nvGraphicFramePr>
        <p:xfrm>
          <a:off x="8350370" y="3935044"/>
          <a:ext cx="3364302" cy="992558"/>
        </p:xfrm>
        <a:graphic>
          <a:graphicData uri="http://schemas.openxmlformats.org/drawingml/2006/table">
            <a:tbl>
              <a:tblPr/>
              <a:tblGrid>
                <a:gridCol w="3364302">
                  <a:extLst>
                    <a:ext uri="{9D8B030D-6E8A-4147-A177-3AD203B41FA5}">
                      <a16:colId xmlns:a16="http://schemas.microsoft.com/office/drawing/2014/main" val="2253498018"/>
                    </a:ext>
                  </a:extLst>
                </a:gridCol>
              </a:tblGrid>
              <a:tr h="49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/>
                        <a:t>Карл Фридрих Гаусс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370918"/>
                  </a:ext>
                </a:extLst>
              </a:tr>
              <a:tr h="496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1" dirty="0">
                          <a:effectLst/>
                        </a:rPr>
                        <a:t>Carl Friedrich </a:t>
                      </a:r>
                      <a:r>
                        <a:rPr lang="en-US" sz="2400" b="1" i="1" dirty="0" err="1">
                          <a:effectLst/>
                        </a:rPr>
                        <a:t>Gauß</a:t>
                      </a:r>
                      <a:endParaRPr lang="en-US" sz="240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6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90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358E6DC-6E86-473D-A422-6E41F1D65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96" y="3351879"/>
            <a:ext cx="4953418" cy="3054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CFF1D-0132-4AA3-A2ED-595A8631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распределения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</p:spPr>
            <p:txBody>
              <a:bodyPr/>
              <a:lstStyle/>
              <a:p>
                <a:pPr hangingPunct="0"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ru-RU" sz="2800" i="1" dirty="0">
                    <a:solidFill>
                      <a:srgbClr val="92D050"/>
                    </a:solidFill>
                  </a:rPr>
                  <a:t>Хи-квадрат распределение </a:t>
                </a:r>
                <a:br>
                  <a:rPr lang="ru-RU" sz="2800" i="1" dirty="0">
                    <a:solidFill>
                      <a:srgbClr val="92D050"/>
                    </a:solidFill>
                  </a:rPr>
                </a:br>
                <a:r>
                  <a:rPr lang="ru-RU" sz="2800" dirty="0">
                    <a:solidFill>
                      <a:schemeClr val="tx1"/>
                    </a:solidFill>
                  </a:rPr>
                  <a:t>(распределение Пирсона)</a:t>
                </a:r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  <a:r>
                  <a:rPr lang="ru-RU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:</a:t>
                </a:r>
                <a:endParaRPr lang="ru-RU" sz="2800" dirty="0">
                  <a:solidFill>
                    <a:schemeClr val="tx1"/>
                  </a:solidFill>
                </a:endParaRPr>
              </a:p>
              <a:p>
                <a:pPr indent="0" algn="ctr" hangingPunc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ru-RU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800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8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ru-RU" sz="2800"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ox>
                                      <m:box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box>
                                      <m:box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box>
                                      <m:boxPr>
                                        <m:ctrlPr>
                                          <a:rPr lang="ru-R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box>
                                          <m:boxPr>
                                            <m:ctrlPr>
                                              <a:rPr lang="ru-RU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argPr>
                                              <m:argSz m:val="-1"/>
                                            </m:argPr>
                                            <m:f>
                                              <m:fPr>
                                                <m:ctrlPr>
                                                  <a:rPr lang="ru-RU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ru-RU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ru-RU" sz="28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box>
                                      </m:e>
                                    </m:box>
                                  </m:sup>
                                </m:sSup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&gt;0,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sz="2800" i="1">
                                    <a:latin typeface="Cambria Math" panose="02040503050406030204" pitchFamily="18" charset="0"/>
                                  </a:rPr>
                                  <m:t>≤0,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  <a:blipFill>
                <a:blip r:embed="rId3"/>
                <a:stretch>
                  <a:fillRect l="-851" t="-11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FD996A-ECB6-7FF9-C54B-2688AB73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F28E45A3-A019-45D9-80E2-B798B945B280}" type="slidenum">
              <a:rPr lang="ru-RU" sz="2600" smtClean="0"/>
              <a:t>13</a:t>
            </a:fld>
            <a:endParaRPr lang="ru-RU" sz="26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4A6D23-CB10-36FA-3937-093CE5FAC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662" y="661655"/>
            <a:ext cx="2948107" cy="375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89B8A14-55FE-A54D-DB06-508EA8D38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09987"/>
              </p:ext>
            </p:extLst>
          </p:nvPr>
        </p:nvGraphicFramePr>
        <p:xfrm>
          <a:off x="8305991" y="4487079"/>
          <a:ext cx="3115384" cy="1061772"/>
        </p:xfrm>
        <a:graphic>
          <a:graphicData uri="http://schemas.openxmlformats.org/drawingml/2006/table">
            <a:tbl>
              <a:tblPr/>
              <a:tblGrid>
                <a:gridCol w="3115384">
                  <a:extLst>
                    <a:ext uri="{9D8B030D-6E8A-4147-A177-3AD203B41FA5}">
                      <a16:colId xmlns:a16="http://schemas.microsoft.com/office/drawing/2014/main" val="556766298"/>
                    </a:ext>
                  </a:extLst>
                </a:gridCol>
              </a:tblGrid>
              <a:tr h="53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Карл Пирсон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295697"/>
                  </a:ext>
                </a:extLst>
              </a:tr>
              <a:tr h="530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i="1" dirty="0">
                          <a:effectLst/>
                        </a:rPr>
                        <a:t>Karl Pearson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231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207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84ADD0-2963-4D56-B1CC-E82981D64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915" y="4237497"/>
            <a:ext cx="3440360" cy="24434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CFF1D-0132-4AA3-A2ED-595A8631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распределения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</p:spPr>
            <p:txBody>
              <a:bodyPr>
                <a:normAutofit/>
              </a:bodyPr>
              <a:lstStyle/>
              <a:p>
                <a:pPr marL="0" indent="-285750" hangingPunct="0"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en-US" sz="2800" i="1" dirty="0">
                    <a:solidFill>
                      <a:srgbClr val="92D050"/>
                    </a:solidFill>
                  </a:rPr>
                  <a:t>t-</a:t>
                </a:r>
                <a:r>
                  <a:rPr lang="ru-RU" sz="2800" i="1" dirty="0">
                    <a:solidFill>
                      <a:srgbClr val="92D050"/>
                    </a:solidFill>
                  </a:rPr>
                  <a:t>распределение </a:t>
                </a:r>
                <a:r>
                  <a:rPr lang="ru-RU" sz="2800" dirty="0">
                    <a:solidFill>
                      <a:schemeClr val="tx1"/>
                    </a:solidFill>
                  </a:rPr>
                  <a:t>(распределение Стьюдента), </a:t>
                </a:r>
                <a14:m>
                  <m:oMath xmlns:m="http://schemas.openxmlformats.org/officeDocument/2006/math"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:</a:t>
                </a:r>
                <a:endParaRPr lang="ru-RU" sz="2800" dirty="0">
                  <a:solidFill>
                    <a:schemeClr val="tx1"/>
                  </a:solidFill>
                </a:endParaRPr>
              </a:p>
              <a:p>
                <a:pPr indent="0" algn="ctr" hangingPunc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ru-RU" sz="280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ru-RU" sz="280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ru-RU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den>
                    </m:f>
                    <m:sSup>
                      <m:sSup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 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indent="0" hangingPunct="0">
                  <a:spcBef>
                    <a:spcPts val="240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𝜉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ru-RU" sz="2800" dirty="0">
                    <a:solidFill>
                      <a:schemeClr val="tx1"/>
                    </a:solidFill>
                  </a:rPr>
                  <a:t>,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pPr indent="0" hangingPunct="0">
                  <a:spcBef>
                    <a:spcPts val="2400"/>
                  </a:spcBef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𝜉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0, 1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ru-RU" sz="2800" dirty="0">
                    <a:ea typeface="Times New Roman" panose="02020603050405020304" pitchFamily="18" charset="0"/>
                  </a:rPr>
                  <a:t>— </a:t>
                </a:r>
                <a:endParaRPr lang="en-US" sz="2800" dirty="0">
                  <a:ea typeface="Times New Roman" panose="02020603050405020304" pitchFamily="18" charset="0"/>
                </a:endParaRPr>
              </a:p>
              <a:p>
                <a:pPr indent="0" hangingPunct="0">
                  <a:spcBef>
                    <a:spcPts val="2400"/>
                  </a:spcBef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независимые </a:t>
                </a:r>
                <a:r>
                  <a:rPr lang="ru-RU" sz="2800" dirty="0" err="1">
                    <a:solidFill>
                      <a:schemeClr val="tx1"/>
                    </a:solidFill>
                  </a:rPr>
                  <a:t>с.в</a:t>
                </a:r>
                <a:r>
                  <a:rPr lang="ru-RU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0DD87BA-36C6-43EE-99FC-A1E4A4496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40043"/>
                <a:ext cx="8596668" cy="5140934"/>
              </a:xfrm>
              <a:blipFill>
                <a:blip r:embed="rId3"/>
                <a:stretch>
                  <a:fillRect l="-851" t="-11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Стьюдент в 1908 г.">
            <a:extLst>
              <a:ext uri="{FF2B5EF4-FFF2-40B4-BE49-F238E27FC236}">
                <a16:creationId xmlns:a16="http://schemas.microsoft.com/office/drawing/2014/main" id="{37B696D4-C460-4B02-DA18-386ECE833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869" y="726441"/>
            <a:ext cx="2517315" cy="324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E064F0C-9EFE-045F-F371-FBF75857B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83245"/>
              </p:ext>
            </p:extLst>
          </p:nvPr>
        </p:nvGraphicFramePr>
        <p:xfrm>
          <a:off x="8678172" y="4125158"/>
          <a:ext cx="3096884" cy="914400"/>
        </p:xfrm>
        <a:graphic>
          <a:graphicData uri="http://schemas.openxmlformats.org/drawingml/2006/table">
            <a:tbl>
              <a:tblPr/>
              <a:tblGrid>
                <a:gridCol w="3096884">
                  <a:extLst>
                    <a:ext uri="{9D8B030D-6E8A-4147-A177-3AD203B41FA5}">
                      <a16:colId xmlns:a16="http://schemas.microsoft.com/office/drawing/2014/main" val="65233122"/>
                    </a:ext>
                  </a:extLst>
                </a:gridCol>
              </a:tblGrid>
              <a:tr h="308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Уильям Сили </a:t>
                      </a:r>
                      <a:r>
                        <a:rPr lang="ru-RU" sz="2400" dirty="0" err="1"/>
                        <a:t>Госсет</a:t>
                      </a:r>
                      <a:endParaRPr lang="ru-RU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881969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i="1" dirty="0">
                          <a:effectLst/>
                        </a:rPr>
                        <a:t>William Sealy Gosset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439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69269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187</TotalTime>
  <Words>613</Words>
  <Application>Microsoft Office PowerPoint</Application>
  <PresentationFormat>Широкоэкранный</PresentationFormat>
  <Paragraphs>94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Cambria Math</vt:lpstr>
      <vt:lpstr>Symbol</vt:lpstr>
      <vt:lpstr>Times New Roman</vt:lpstr>
      <vt:lpstr>Trebuchet MS</vt:lpstr>
      <vt:lpstr>Wingdings</vt:lpstr>
      <vt:lpstr>Wingdings 3</vt:lpstr>
      <vt:lpstr>Аспект</vt:lpstr>
      <vt:lpstr>Математическая статистика</vt:lpstr>
      <vt:lpstr>Теория вероятностей    математическая статистика</vt:lpstr>
      <vt:lpstr>Теория вероятностей    математическая статистика</vt:lpstr>
      <vt:lpstr>Основные понятия</vt:lpstr>
      <vt:lpstr>Основная задача</vt:lpstr>
      <vt:lpstr>Основные преобразования (1)</vt:lpstr>
      <vt:lpstr>Основные преобразования (2)</vt:lpstr>
      <vt:lpstr>Основные преобразования (3)</vt:lpstr>
      <vt:lpstr>Эмпирическая функция распределения (1)</vt:lpstr>
      <vt:lpstr>Презентация PowerPoint</vt:lpstr>
      <vt:lpstr>Презентация PowerPoint</vt:lpstr>
      <vt:lpstr>Основные распределения (1)</vt:lpstr>
      <vt:lpstr>Основные распределения (2)</vt:lpstr>
      <vt:lpstr>Основные распределения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Математическая статистика</dc:title>
  <dc:creator>Елена Александрова</dc:creator>
  <cp:lastModifiedBy>Елена Александрова</cp:lastModifiedBy>
  <cp:revision>16</cp:revision>
  <dcterms:created xsi:type="dcterms:W3CDTF">2021-01-28T19:46:48Z</dcterms:created>
  <dcterms:modified xsi:type="dcterms:W3CDTF">2026-02-04T19:20:14Z</dcterms:modified>
</cp:coreProperties>
</file>